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ink/ink1.xml" ContentType="application/inkml+xml"/>
  <Override PartName="/ppt/notesSlides/notesSlide3.xml" ContentType="application/vnd.openxmlformats-officedocument.presentationml.notesSlide+xml"/>
  <Override PartName="/ppt/ink/ink2.xml" ContentType="application/inkml+xml"/>
  <Override PartName="/ppt/notesSlides/notesSlide4.xml" ContentType="application/vnd.openxmlformats-officedocument.presentationml.notesSlide+xml"/>
  <Override PartName="/ppt/ink/ink3.xml" ContentType="application/inkml+xml"/>
  <Override PartName="/ppt/notesSlides/notesSlide5.xml" ContentType="application/vnd.openxmlformats-officedocument.presentationml.notesSlide+xml"/>
  <Override PartName="/ppt/ink/ink4.xml" ContentType="application/inkml+xml"/>
  <Override PartName="/ppt/notesSlides/notesSlide6.xml" ContentType="application/vnd.openxmlformats-officedocument.presentationml.notesSlide+xml"/>
  <Override PartName="/ppt/ink/ink5.xml" ContentType="application/inkml+xml"/>
  <Override PartName="/ppt/notesSlides/notesSlide7.xml" ContentType="application/vnd.openxmlformats-officedocument.presentationml.notesSlide+xml"/>
  <Override PartName="/ppt/ink/ink6.xml" ContentType="application/inkml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8" r:id="rId1"/>
  </p:sldMasterIdLst>
  <p:notesMasterIdLst>
    <p:notesMasterId r:id="rId15"/>
  </p:notesMasterIdLst>
  <p:sldIdLst>
    <p:sldId id="256" r:id="rId2"/>
    <p:sldId id="257" r:id="rId3"/>
    <p:sldId id="265" r:id="rId4"/>
    <p:sldId id="267" r:id="rId5"/>
    <p:sldId id="258" r:id="rId6"/>
    <p:sldId id="259" r:id="rId7"/>
    <p:sldId id="266" r:id="rId8"/>
    <p:sldId id="260" r:id="rId9"/>
    <p:sldId id="261" r:id="rId10"/>
    <p:sldId id="268" r:id="rId11"/>
    <p:sldId id="262" r:id="rId12"/>
    <p:sldId id="263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955"/>
    <p:restoredTop sz="81818"/>
  </p:normalViewPr>
  <p:slideViewPr>
    <p:cSldViewPr snapToGrid="0">
      <p:cViewPr varScale="1">
        <p:scale>
          <a:sx n="94" d="100"/>
          <a:sy n="94" d="100"/>
        </p:scale>
        <p:origin x="117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B401A64-E7E3-4460-BFC6-08DD05D6FCF9}" type="doc">
      <dgm:prSet loTypeId="urn:microsoft.com/office/officeart/2005/8/layout/vList2" loCatId="list" qsTypeId="urn:microsoft.com/office/officeart/2005/8/quickstyle/simple1" qsCatId="simple" csTypeId="urn:microsoft.com/office/officeart/2005/8/colors/accent2_2" csCatId="accent2"/>
      <dgm:spPr/>
      <dgm:t>
        <a:bodyPr/>
        <a:lstStyle/>
        <a:p>
          <a:endParaRPr lang="en-US"/>
        </a:p>
      </dgm:t>
    </dgm:pt>
    <dgm:pt modelId="{B5C8B5AF-2934-46EC-81E6-4D9B35C26867}">
      <dgm:prSet/>
      <dgm:spPr/>
      <dgm:t>
        <a:bodyPr/>
        <a:lstStyle/>
        <a:p>
          <a:r>
            <a:rPr lang="en-US"/>
            <a:t>An </a:t>
          </a:r>
          <a:r>
            <a:rPr lang="en-US" b="1"/>
            <a:t>autoencoder</a:t>
          </a:r>
          <a:r>
            <a:rPr lang="en-US"/>
            <a:t> is a neural network that learns how to </a:t>
          </a:r>
          <a:r>
            <a:rPr lang="en-US" b="1"/>
            <a:t>compress data</a:t>
          </a:r>
          <a:r>
            <a:rPr lang="en-US"/>
            <a:t> and then </a:t>
          </a:r>
          <a:r>
            <a:rPr lang="en-US" b="1"/>
            <a:t>reconstruct it</a:t>
          </a:r>
          <a:r>
            <a:rPr lang="en-US"/>
            <a:t>.</a:t>
          </a:r>
        </a:p>
      </dgm:t>
    </dgm:pt>
    <dgm:pt modelId="{61568D99-AC54-4E8D-A639-109932140F31}" type="parTrans" cxnId="{698F4F42-B434-4977-9750-89DE72A9A12A}">
      <dgm:prSet/>
      <dgm:spPr/>
      <dgm:t>
        <a:bodyPr/>
        <a:lstStyle/>
        <a:p>
          <a:endParaRPr lang="en-US"/>
        </a:p>
      </dgm:t>
    </dgm:pt>
    <dgm:pt modelId="{16694EA2-4648-4CC9-B326-E70282364074}" type="sibTrans" cxnId="{698F4F42-B434-4977-9750-89DE72A9A12A}">
      <dgm:prSet/>
      <dgm:spPr/>
      <dgm:t>
        <a:bodyPr/>
        <a:lstStyle/>
        <a:p>
          <a:endParaRPr lang="en-US"/>
        </a:p>
      </dgm:t>
    </dgm:pt>
    <dgm:pt modelId="{409A0987-2583-4866-B877-5E77D94A9D13}">
      <dgm:prSet/>
      <dgm:spPr/>
      <dgm:t>
        <a:bodyPr/>
        <a:lstStyle/>
        <a:p>
          <a:r>
            <a:rPr lang="en-US" b="1"/>
            <a:t>How it works</a:t>
          </a:r>
          <a:endParaRPr lang="en-US"/>
        </a:p>
      </dgm:t>
    </dgm:pt>
    <dgm:pt modelId="{CBAC5361-B99F-430A-BEAC-3B7C3638E449}" type="parTrans" cxnId="{4DA777E2-14A7-4207-9C5C-847961D21829}">
      <dgm:prSet/>
      <dgm:spPr/>
      <dgm:t>
        <a:bodyPr/>
        <a:lstStyle/>
        <a:p>
          <a:endParaRPr lang="en-US"/>
        </a:p>
      </dgm:t>
    </dgm:pt>
    <dgm:pt modelId="{22C7A727-5A13-4097-B151-B3A9A286BDEE}" type="sibTrans" cxnId="{4DA777E2-14A7-4207-9C5C-847961D21829}">
      <dgm:prSet/>
      <dgm:spPr/>
      <dgm:t>
        <a:bodyPr/>
        <a:lstStyle/>
        <a:p>
          <a:endParaRPr lang="en-US"/>
        </a:p>
      </dgm:t>
    </dgm:pt>
    <dgm:pt modelId="{AB2DF6F4-595F-4ED4-9CE3-BB85C69BFD0E}">
      <dgm:prSet/>
      <dgm:spPr/>
      <dgm:t>
        <a:bodyPr/>
        <a:lstStyle/>
        <a:p>
          <a:r>
            <a:rPr lang="en-US" b="1"/>
            <a:t>Encoder</a:t>
          </a:r>
          <a:r>
            <a:rPr lang="en-US"/>
            <a:t> → takes the input and compresses it into a smaller representation </a:t>
          </a:r>
        </a:p>
      </dgm:t>
    </dgm:pt>
    <dgm:pt modelId="{87A7D12C-702E-4BE3-8725-992FB93C142A}" type="parTrans" cxnId="{FB868C55-2B67-4C22-842A-AA44BFC9B968}">
      <dgm:prSet/>
      <dgm:spPr/>
      <dgm:t>
        <a:bodyPr/>
        <a:lstStyle/>
        <a:p>
          <a:endParaRPr lang="en-US"/>
        </a:p>
      </dgm:t>
    </dgm:pt>
    <dgm:pt modelId="{DA81CB49-E7B5-4631-AEBF-240077E45D95}" type="sibTrans" cxnId="{FB868C55-2B67-4C22-842A-AA44BFC9B968}">
      <dgm:prSet/>
      <dgm:spPr/>
      <dgm:t>
        <a:bodyPr/>
        <a:lstStyle/>
        <a:p>
          <a:endParaRPr lang="en-US"/>
        </a:p>
      </dgm:t>
    </dgm:pt>
    <dgm:pt modelId="{8CBDFDBA-183C-40B8-9F0E-7A32FB69F66D}">
      <dgm:prSet/>
      <dgm:spPr/>
      <dgm:t>
        <a:bodyPr/>
        <a:lstStyle/>
        <a:p>
          <a:r>
            <a:rPr lang="en-US" b="1"/>
            <a:t>Decoder</a:t>
          </a:r>
          <a:r>
            <a:rPr lang="en-US"/>
            <a:t> → uses that compressed representation to rebuild the original input </a:t>
          </a:r>
        </a:p>
      </dgm:t>
    </dgm:pt>
    <dgm:pt modelId="{5C11869E-4C62-4FB9-8D37-517CB157805A}" type="parTrans" cxnId="{E7388C1A-0E2C-4A34-80AA-5CE281B1061A}">
      <dgm:prSet/>
      <dgm:spPr/>
      <dgm:t>
        <a:bodyPr/>
        <a:lstStyle/>
        <a:p>
          <a:endParaRPr lang="en-US"/>
        </a:p>
      </dgm:t>
    </dgm:pt>
    <dgm:pt modelId="{80B2C2E1-C07B-4CD4-9F30-65ADEE0CAC84}" type="sibTrans" cxnId="{E7388C1A-0E2C-4A34-80AA-5CE281B1061A}">
      <dgm:prSet/>
      <dgm:spPr/>
      <dgm:t>
        <a:bodyPr/>
        <a:lstStyle/>
        <a:p>
          <a:endParaRPr lang="en-US"/>
        </a:p>
      </dgm:t>
    </dgm:pt>
    <dgm:pt modelId="{BE402096-4442-43CA-A1BE-29E0246109E1}">
      <dgm:prSet/>
      <dgm:spPr/>
      <dgm:t>
        <a:bodyPr/>
        <a:lstStyle/>
        <a:p>
          <a:r>
            <a:rPr lang="en-US" b="1"/>
            <a:t>Why it matters</a:t>
          </a:r>
          <a:endParaRPr lang="en-US"/>
        </a:p>
      </dgm:t>
    </dgm:pt>
    <dgm:pt modelId="{F60A64A0-F14F-409C-BD6D-CE840AB30FB9}" type="parTrans" cxnId="{FD14F965-0DBD-4987-AED6-D46D7314CD82}">
      <dgm:prSet/>
      <dgm:spPr/>
      <dgm:t>
        <a:bodyPr/>
        <a:lstStyle/>
        <a:p>
          <a:endParaRPr lang="en-US"/>
        </a:p>
      </dgm:t>
    </dgm:pt>
    <dgm:pt modelId="{E049866D-15EC-46BF-A405-D41698388718}" type="sibTrans" cxnId="{FD14F965-0DBD-4987-AED6-D46D7314CD82}">
      <dgm:prSet/>
      <dgm:spPr/>
      <dgm:t>
        <a:bodyPr/>
        <a:lstStyle/>
        <a:p>
          <a:endParaRPr lang="en-US"/>
        </a:p>
      </dgm:t>
    </dgm:pt>
    <dgm:pt modelId="{102EAF41-AFF4-4F08-AD94-9AB02AB4ACF0}">
      <dgm:prSet/>
      <dgm:spPr/>
      <dgm:t>
        <a:bodyPr/>
        <a:lstStyle/>
        <a:p>
          <a:r>
            <a:rPr lang="en-US"/>
            <a:t>Learns important features of the data automatically </a:t>
          </a:r>
        </a:p>
      </dgm:t>
    </dgm:pt>
    <dgm:pt modelId="{F4B5DB14-2975-4CD5-B8ED-B07961141021}" type="parTrans" cxnId="{D6FF2B87-32A5-4A41-9410-6C9039C8761B}">
      <dgm:prSet/>
      <dgm:spPr/>
      <dgm:t>
        <a:bodyPr/>
        <a:lstStyle/>
        <a:p>
          <a:endParaRPr lang="en-US"/>
        </a:p>
      </dgm:t>
    </dgm:pt>
    <dgm:pt modelId="{3E94BC9C-0CB1-4FC6-89AB-06C77470BD51}" type="sibTrans" cxnId="{D6FF2B87-32A5-4A41-9410-6C9039C8761B}">
      <dgm:prSet/>
      <dgm:spPr/>
      <dgm:t>
        <a:bodyPr/>
        <a:lstStyle/>
        <a:p>
          <a:endParaRPr lang="en-US"/>
        </a:p>
      </dgm:t>
    </dgm:pt>
    <dgm:pt modelId="{425DD780-612B-2E4C-825D-AC0F484E664A}" type="pres">
      <dgm:prSet presAssocID="{5B401A64-E7E3-4460-BFC6-08DD05D6FCF9}" presName="linear" presStyleCnt="0">
        <dgm:presLayoutVars>
          <dgm:animLvl val="lvl"/>
          <dgm:resizeHandles val="exact"/>
        </dgm:presLayoutVars>
      </dgm:prSet>
      <dgm:spPr/>
    </dgm:pt>
    <dgm:pt modelId="{2A3D5026-6A6B-184C-86DF-76650CD6086A}" type="pres">
      <dgm:prSet presAssocID="{B5C8B5AF-2934-46EC-81E6-4D9B35C26867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33C39961-27F5-5E4D-98EE-30F880AE1479}" type="pres">
      <dgm:prSet presAssocID="{16694EA2-4648-4CC9-B326-E70282364074}" presName="spacer" presStyleCnt="0"/>
      <dgm:spPr/>
    </dgm:pt>
    <dgm:pt modelId="{36F8F2B7-0F7B-304C-BA32-5F649485550B}" type="pres">
      <dgm:prSet presAssocID="{409A0987-2583-4866-B877-5E77D94A9D13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F21D084A-1982-784A-896E-0A30259BE965}" type="pres">
      <dgm:prSet presAssocID="{409A0987-2583-4866-B877-5E77D94A9D13}" presName="childText" presStyleLbl="revTx" presStyleIdx="0" presStyleCnt="2">
        <dgm:presLayoutVars>
          <dgm:bulletEnabled val="1"/>
        </dgm:presLayoutVars>
      </dgm:prSet>
      <dgm:spPr/>
    </dgm:pt>
    <dgm:pt modelId="{45508434-F864-A94D-AF9F-290F2C8B69C0}" type="pres">
      <dgm:prSet presAssocID="{BE402096-4442-43CA-A1BE-29E0246109E1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A924E496-06B2-EB46-A44C-4AD85EC9EE0F}" type="pres">
      <dgm:prSet presAssocID="{BE402096-4442-43CA-A1BE-29E0246109E1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E7388C1A-0E2C-4A34-80AA-5CE281B1061A}" srcId="{409A0987-2583-4866-B877-5E77D94A9D13}" destId="{8CBDFDBA-183C-40B8-9F0E-7A32FB69F66D}" srcOrd="1" destOrd="0" parTransId="{5C11869E-4C62-4FB9-8D37-517CB157805A}" sibTransId="{80B2C2E1-C07B-4CD4-9F30-65ADEE0CAC84}"/>
    <dgm:cxn modelId="{06BDAC2D-B48C-A547-8508-8CF0D4FD38E3}" type="presOf" srcId="{AB2DF6F4-595F-4ED4-9CE3-BB85C69BFD0E}" destId="{F21D084A-1982-784A-896E-0A30259BE965}" srcOrd="0" destOrd="0" presId="urn:microsoft.com/office/officeart/2005/8/layout/vList2"/>
    <dgm:cxn modelId="{698F4F42-B434-4977-9750-89DE72A9A12A}" srcId="{5B401A64-E7E3-4460-BFC6-08DD05D6FCF9}" destId="{B5C8B5AF-2934-46EC-81E6-4D9B35C26867}" srcOrd="0" destOrd="0" parTransId="{61568D99-AC54-4E8D-A639-109932140F31}" sibTransId="{16694EA2-4648-4CC9-B326-E70282364074}"/>
    <dgm:cxn modelId="{84CC7947-A01A-DC48-9C2C-3E8FB3480E92}" type="presOf" srcId="{BE402096-4442-43CA-A1BE-29E0246109E1}" destId="{45508434-F864-A94D-AF9F-290F2C8B69C0}" srcOrd="0" destOrd="0" presId="urn:microsoft.com/office/officeart/2005/8/layout/vList2"/>
    <dgm:cxn modelId="{F20A6251-D80E-3346-B517-7A303DF16595}" type="presOf" srcId="{102EAF41-AFF4-4F08-AD94-9AB02AB4ACF0}" destId="{A924E496-06B2-EB46-A44C-4AD85EC9EE0F}" srcOrd="0" destOrd="0" presId="urn:microsoft.com/office/officeart/2005/8/layout/vList2"/>
    <dgm:cxn modelId="{FB868C55-2B67-4C22-842A-AA44BFC9B968}" srcId="{409A0987-2583-4866-B877-5E77D94A9D13}" destId="{AB2DF6F4-595F-4ED4-9CE3-BB85C69BFD0E}" srcOrd="0" destOrd="0" parTransId="{87A7D12C-702E-4BE3-8725-992FB93C142A}" sibTransId="{DA81CB49-E7B5-4631-AEBF-240077E45D95}"/>
    <dgm:cxn modelId="{FD14F965-0DBD-4987-AED6-D46D7314CD82}" srcId="{5B401A64-E7E3-4460-BFC6-08DD05D6FCF9}" destId="{BE402096-4442-43CA-A1BE-29E0246109E1}" srcOrd="2" destOrd="0" parTransId="{F60A64A0-F14F-409C-BD6D-CE840AB30FB9}" sibTransId="{E049866D-15EC-46BF-A405-D41698388718}"/>
    <dgm:cxn modelId="{0D2A826F-4BCB-FE49-8792-F1C03A85DFD6}" type="presOf" srcId="{5B401A64-E7E3-4460-BFC6-08DD05D6FCF9}" destId="{425DD780-612B-2E4C-825D-AC0F484E664A}" srcOrd="0" destOrd="0" presId="urn:microsoft.com/office/officeart/2005/8/layout/vList2"/>
    <dgm:cxn modelId="{D73F5178-D93D-E443-8A25-7D9C9327CB9F}" type="presOf" srcId="{8CBDFDBA-183C-40B8-9F0E-7A32FB69F66D}" destId="{F21D084A-1982-784A-896E-0A30259BE965}" srcOrd="0" destOrd="1" presId="urn:microsoft.com/office/officeart/2005/8/layout/vList2"/>
    <dgm:cxn modelId="{C701EB7C-5890-2441-B432-3FE6A7AAD077}" type="presOf" srcId="{409A0987-2583-4866-B877-5E77D94A9D13}" destId="{36F8F2B7-0F7B-304C-BA32-5F649485550B}" srcOrd="0" destOrd="0" presId="urn:microsoft.com/office/officeart/2005/8/layout/vList2"/>
    <dgm:cxn modelId="{D6FF2B87-32A5-4A41-9410-6C9039C8761B}" srcId="{BE402096-4442-43CA-A1BE-29E0246109E1}" destId="{102EAF41-AFF4-4F08-AD94-9AB02AB4ACF0}" srcOrd="0" destOrd="0" parTransId="{F4B5DB14-2975-4CD5-B8ED-B07961141021}" sibTransId="{3E94BC9C-0CB1-4FC6-89AB-06C77470BD51}"/>
    <dgm:cxn modelId="{4DA777E2-14A7-4207-9C5C-847961D21829}" srcId="{5B401A64-E7E3-4460-BFC6-08DD05D6FCF9}" destId="{409A0987-2583-4866-B877-5E77D94A9D13}" srcOrd="1" destOrd="0" parTransId="{CBAC5361-B99F-430A-BEAC-3B7C3638E449}" sibTransId="{22C7A727-5A13-4097-B151-B3A9A286BDEE}"/>
    <dgm:cxn modelId="{94FB59E7-0B7B-8F47-A685-C9B2B0488F7B}" type="presOf" srcId="{B5C8B5AF-2934-46EC-81E6-4D9B35C26867}" destId="{2A3D5026-6A6B-184C-86DF-76650CD6086A}" srcOrd="0" destOrd="0" presId="urn:microsoft.com/office/officeart/2005/8/layout/vList2"/>
    <dgm:cxn modelId="{6A3B7610-6DAE-7541-A950-B3D63DF149AD}" type="presParOf" srcId="{425DD780-612B-2E4C-825D-AC0F484E664A}" destId="{2A3D5026-6A6B-184C-86DF-76650CD6086A}" srcOrd="0" destOrd="0" presId="urn:microsoft.com/office/officeart/2005/8/layout/vList2"/>
    <dgm:cxn modelId="{62C89CAF-9F4A-4141-9FFE-B1B3EB485696}" type="presParOf" srcId="{425DD780-612B-2E4C-825D-AC0F484E664A}" destId="{33C39961-27F5-5E4D-98EE-30F880AE1479}" srcOrd="1" destOrd="0" presId="urn:microsoft.com/office/officeart/2005/8/layout/vList2"/>
    <dgm:cxn modelId="{E29FBEB7-F1DC-CB41-A515-C4071F6539DA}" type="presParOf" srcId="{425DD780-612B-2E4C-825D-AC0F484E664A}" destId="{36F8F2B7-0F7B-304C-BA32-5F649485550B}" srcOrd="2" destOrd="0" presId="urn:microsoft.com/office/officeart/2005/8/layout/vList2"/>
    <dgm:cxn modelId="{6502895C-F92B-6744-A11B-B02875A46D39}" type="presParOf" srcId="{425DD780-612B-2E4C-825D-AC0F484E664A}" destId="{F21D084A-1982-784A-896E-0A30259BE965}" srcOrd="3" destOrd="0" presId="urn:microsoft.com/office/officeart/2005/8/layout/vList2"/>
    <dgm:cxn modelId="{FA396517-52B4-AE43-B0B8-E20A29181DED}" type="presParOf" srcId="{425DD780-612B-2E4C-825D-AC0F484E664A}" destId="{45508434-F864-A94D-AF9F-290F2C8B69C0}" srcOrd="4" destOrd="0" presId="urn:microsoft.com/office/officeart/2005/8/layout/vList2"/>
    <dgm:cxn modelId="{F9D23549-5D44-BC4D-8BF6-7E1C3CC7F0F3}" type="presParOf" srcId="{425DD780-612B-2E4C-825D-AC0F484E664A}" destId="{A924E496-06B2-EB46-A44C-4AD85EC9EE0F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A3D5026-6A6B-184C-86DF-76650CD6086A}">
      <dsp:nvSpPr>
        <dsp:cNvPr id="0" name=""/>
        <dsp:cNvSpPr/>
      </dsp:nvSpPr>
      <dsp:spPr>
        <a:xfrm>
          <a:off x="0" y="24047"/>
          <a:ext cx="10915869" cy="695565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An </a:t>
          </a:r>
          <a:r>
            <a:rPr lang="en-US" sz="2900" b="1" kern="1200"/>
            <a:t>autoencoder</a:t>
          </a:r>
          <a:r>
            <a:rPr lang="en-US" sz="2900" kern="1200"/>
            <a:t> is a neural network that learns how to </a:t>
          </a:r>
          <a:r>
            <a:rPr lang="en-US" sz="2900" b="1" kern="1200"/>
            <a:t>compress data</a:t>
          </a:r>
          <a:r>
            <a:rPr lang="en-US" sz="2900" kern="1200"/>
            <a:t> and then </a:t>
          </a:r>
          <a:r>
            <a:rPr lang="en-US" sz="2900" b="1" kern="1200"/>
            <a:t>reconstruct it</a:t>
          </a:r>
          <a:r>
            <a:rPr lang="en-US" sz="2900" kern="1200"/>
            <a:t>.</a:t>
          </a:r>
        </a:p>
      </dsp:txBody>
      <dsp:txXfrm>
        <a:off x="33955" y="58002"/>
        <a:ext cx="10847959" cy="627655"/>
      </dsp:txXfrm>
    </dsp:sp>
    <dsp:sp modelId="{36F8F2B7-0F7B-304C-BA32-5F649485550B}">
      <dsp:nvSpPr>
        <dsp:cNvPr id="0" name=""/>
        <dsp:cNvSpPr/>
      </dsp:nvSpPr>
      <dsp:spPr>
        <a:xfrm>
          <a:off x="0" y="803132"/>
          <a:ext cx="10915869" cy="695565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1" kern="1200"/>
            <a:t>How it works</a:t>
          </a:r>
          <a:endParaRPr lang="en-US" sz="2900" kern="1200"/>
        </a:p>
      </dsp:txBody>
      <dsp:txXfrm>
        <a:off x="33955" y="837087"/>
        <a:ext cx="10847959" cy="627655"/>
      </dsp:txXfrm>
    </dsp:sp>
    <dsp:sp modelId="{F21D084A-1982-784A-896E-0A30259BE965}">
      <dsp:nvSpPr>
        <dsp:cNvPr id="0" name=""/>
        <dsp:cNvSpPr/>
      </dsp:nvSpPr>
      <dsp:spPr>
        <a:xfrm>
          <a:off x="0" y="1498697"/>
          <a:ext cx="10915869" cy="7803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6579" tIns="36830" rIns="206248" bIns="3683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300" b="1" kern="1200"/>
            <a:t>Encoder</a:t>
          </a:r>
          <a:r>
            <a:rPr lang="en-US" sz="2300" kern="1200"/>
            <a:t> → takes the input and compresses it into a smaller representation 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300" b="1" kern="1200"/>
            <a:t>Decoder</a:t>
          </a:r>
          <a:r>
            <a:rPr lang="en-US" sz="2300" kern="1200"/>
            <a:t> → uses that compressed representation to rebuild the original input </a:t>
          </a:r>
        </a:p>
      </dsp:txBody>
      <dsp:txXfrm>
        <a:off x="0" y="1498697"/>
        <a:ext cx="10915869" cy="780389"/>
      </dsp:txXfrm>
    </dsp:sp>
    <dsp:sp modelId="{45508434-F864-A94D-AF9F-290F2C8B69C0}">
      <dsp:nvSpPr>
        <dsp:cNvPr id="0" name=""/>
        <dsp:cNvSpPr/>
      </dsp:nvSpPr>
      <dsp:spPr>
        <a:xfrm>
          <a:off x="0" y="2279087"/>
          <a:ext cx="10915869" cy="695565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1" kern="1200"/>
            <a:t>Why it matters</a:t>
          </a:r>
          <a:endParaRPr lang="en-US" sz="2900" kern="1200"/>
        </a:p>
      </dsp:txBody>
      <dsp:txXfrm>
        <a:off x="33955" y="2313042"/>
        <a:ext cx="10847959" cy="627655"/>
      </dsp:txXfrm>
    </dsp:sp>
    <dsp:sp modelId="{A924E496-06B2-EB46-A44C-4AD85EC9EE0F}">
      <dsp:nvSpPr>
        <dsp:cNvPr id="0" name=""/>
        <dsp:cNvSpPr/>
      </dsp:nvSpPr>
      <dsp:spPr>
        <a:xfrm>
          <a:off x="0" y="2974652"/>
          <a:ext cx="10915869" cy="4802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6579" tIns="36830" rIns="206248" bIns="3683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300" kern="1200"/>
            <a:t>Learns important features of the data automatically </a:t>
          </a:r>
        </a:p>
      </dsp:txBody>
      <dsp:txXfrm>
        <a:off x="0" y="2974652"/>
        <a:ext cx="10915869" cy="4802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6T01:10:23.007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1 0 128,'0'6'0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6T01:11:46.040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1 0 128,'0'6'0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6T01:12:49.548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1 0 128,'0'6'0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21:44:08.211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1 0 128,'0'6'0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6T01:17:33.403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1 0 128,'0'6'0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6T01:18:32.373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1 0 128,'0'6'0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5FC84C-18EF-F34B-9A0D-D22B2A85EBCB}" type="datetimeFigureOut">
              <a:rPr lang="en-US" smtClean="0"/>
              <a:t>5/5/26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AFB998-C619-A84D-A5E8-EB6D3B6283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9732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Useful for: </a:t>
            </a:r>
          </a:p>
          <a:p>
            <a:pPr lvl="1"/>
            <a:r>
              <a:rPr lang="en-US" dirty="0"/>
              <a:t>image compression </a:t>
            </a:r>
          </a:p>
          <a:p>
            <a:pPr lvl="1"/>
            <a:r>
              <a:rPr lang="en-US" dirty="0"/>
              <a:t>noise removal </a:t>
            </a:r>
          </a:p>
          <a:p>
            <a:pPr lvl="1"/>
            <a:r>
              <a:rPr lang="en-US" dirty="0"/>
              <a:t>anomaly detection </a:t>
            </a:r>
          </a:p>
          <a:p>
            <a:r>
              <a:rPr lang="en-US" b="1" dirty="0"/>
              <a:t>Example</a:t>
            </a:r>
          </a:p>
          <a:p>
            <a:r>
              <a:rPr lang="en-US" dirty="0"/>
              <a:t>For an image, the model tries to recreate the original image while keeping only the most important information.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AFB998-C619-A84D-A5E8-EB6D3B6283F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4185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transforms.ToTensor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(): This converts the images into tensors and scales the pixel between 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 and 1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transforms.Normalize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((0.5), (0.5)): This specifically shifts the data range from to 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 and +1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mnist_data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: reads the data </a:t>
            </a:r>
          </a:p>
          <a:p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data_loader</a:t>
            </a:r>
            <a:r>
              <a:rPr lang="en-US" dirty="0">
                <a:effectLst/>
              </a:rPr>
              <a:t> :I feeds the data into the training loop: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AFB998-C619-A84D-A5E8-EB6D3B6283F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7647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dataiter</a:t>
            </a:r>
            <a:r>
              <a:rPr lang="en-US" dirty="0"/>
              <a:t> = = creates an </a:t>
            </a:r>
            <a:r>
              <a:rPr lang="en-US" b="1" dirty="0"/>
              <a:t>iterator</a:t>
            </a:r>
            <a:r>
              <a:rPr lang="en-US" dirty="0"/>
              <a:t>  which lets you move through the dataset </a:t>
            </a:r>
            <a:r>
              <a:rPr lang="en-US" b="1" dirty="0"/>
              <a:t>one batch at a time</a:t>
            </a:r>
          </a:p>
          <a:p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images, labels = next(</a:t>
            </a: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dataiter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en-US" dirty="0"/>
              <a:t>: This gets the </a:t>
            </a:r>
            <a:r>
              <a:rPr lang="en-US" b="1" dirty="0"/>
              <a:t>next batch of data</a:t>
            </a:r>
            <a:r>
              <a:rPr lang="en-US" dirty="0"/>
              <a:t> from the iterator.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print(</a:t>
            </a: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torch.min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(images), </a:t>
            </a: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torch.max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(images))</a:t>
            </a:r>
            <a:r>
              <a:rPr lang="en-US" dirty="0"/>
              <a:t>: This prints the </a:t>
            </a:r>
            <a:r>
              <a:rPr lang="en-US" b="1" dirty="0"/>
              <a:t>minimum and maximum pixel values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Output : so this is the min and this is the max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AFB998-C619-A84D-A5E8-EB6D3B6283F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4407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there are two parts, an encoder and a decoder</a:t>
            </a:r>
          </a:p>
          <a:p>
            <a:endParaRPr lang="en-US" dirty="0"/>
          </a:p>
          <a:p>
            <a:r>
              <a:rPr lang="en-US" b="1" dirty="0"/>
              <a:t>This is a linear encoder and </a:t>
            </a:r>
            <a:r>
              <a:rPr lang="en-US" dirty="0"/>
              <a:t>Its job is to </a:t>
            </a:r>
            <a:r>
              <a:rPr lang="en-US" b="1" dirty="0"/>
              <a:t>compress the input by repeatedly reducing the number of features</a:t>
            </a:r>
            <a:r>
              <a:rPr lang="en-US" dirty="0"/>
              <a:t>, then reconstruct the original image.</a:t>
            </a:r>
          </a:p>
          <a:p>
            <a:endParaRPr lang="en-US" dirty="0"/>
          </a:p>
          <a:p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nn.Linear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(28 * 28, 128)</a:t>
            </a:r>
            <a:r>
              <a:rPr lang="en-US" dirty="0"/>
              <a:t>:Takes a </a:t>
            </a:r>
            <a:r>
              <a:rPr lang="en-US" b="1" dirty="0"/>
              <a:t>28×28 image (784 values)</a:t>
            </a:r>
            <a:r>
              <a:rPr lang="en-US" dirty="0"/>
              <a:t> and reduces it to </a:t>
            </a:r>
            <a:r>
              <a:rPr lang="en-US" b="1" dirty="0"/>
              <a:t>128 features</a:t>
            </a:r>
            <a:r>
              <a:rPr lang="en-US" dirty="0"/>
              <a:t>. </a:t>
            </a:r>
          </a:p>
          <a:p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nn.Linear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(128, 64): </a:t>
            </a:r>
            <a:r>
              <a:rPr lang="en-US" dirty="0"/>
              <a:t>Compresses </a:t>
            </a:r>
            <a:r>
              <a:rPr lang="en-US" b="1" dirty="0"/>
              <a:t>128 → 64</a:t>
            </a:r>
            <a:r>
              <a:rPr lang="en-US" dirty="0"/>
              <a:t>. </a:t>
            </a:r>
          </a:p>
          <a:p>
            <a:r>
              <a:rPr lang="en-US" dirty="0"/>
              <a:t>At the end, the image is represented by only </a:t>
            </a:r>
            <a:r>
              <a:rPr lang="en-US" b="1" dirty="0"/>
              <a:t>3 numbers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This is called </a:t>
            </a:r>
            <a:r>
              <a:rPr lang="en-US" b="1" dirty="0"/>
              <a:t>embedding</a:t>
            </a:r>
          </a:p>
          <a:p>
            <a:endParaRPr lang="en-US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nn.ReLU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adds </a:t>
            </a:r>
            <a:r>
              <a:rPr lang="en-US" b="1" dirty="0"/>
              <a:t>non-linearity</a:t>
            </a:r>
            <a:r>
              <a:rPr lang="en-US" dirty="0"/>
              <a:t>, which helps the network learn more complex patterns. </a:t>
            </a:r>
          </a:p>
          <a:p>
            <a:endParaRPr lang="en-US" b="1" dirty="0"/>
          </a:p>
          <a:p>
            <a:endParaRPr lang="en-US" dirty="0"/>
          </a:p>
          <a:p>
            <a:r>
              <a:rPr lang="en-US" b="1" dirty="0"/>
              <a:t>Decoder (reconstruction)</a:t>
            </a:r>
          </a:p>
          <a:p>
            <a:r>
              <a:rPr lang="en-US" dirty="0"/>
              <a:t>The </a:t>
            </a:r>
            <a:r>
              <a:rPr lang="en-US" b="1" dirty="0"/>
              <a:t>decoder reverses the process</a:t>
            </a:r>
            <a:r>
              <a:rPr lang="en-US" dirty="0"/>
              <a:t> and rebuilds the image.</a:t>
            </a:r>
          </a:p>
          <a:p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3 → 12 → 64 → 128 → 784</a:t>
            </a:r>
            <a:r>
              <a:rPr lang="en-US" dirty="0"/>
              <a:t> </a:t>
            </a:r>
          </a:p>
          <a:p>
            <a:r>
              <a:rPr lang="en-US" dirty="0"/>
              <a:t>It expands the compressed embedding back into </a:t>
            </a:r>
            <a:r>
              <a:rPr lang="en-US" b="1" dirty="0"/>
              <a:t>784 output values</a:t>
            </a:r>
            <a:r>
              <a:rPr lang="en-US" dirty="0"/>
              <a:t>, which can be reshaped into a </a:t>
            </a:r>
            <a:r>
              <a:rPr lang="en-US" b="1" dirty="0"/>
              <a:t>28×28 image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b="1" dirty="0"/>
              <a:t>Activation functions</a:t>
            </a:r>
          </a:p>
          <a:p>
            <a:endParaRPr lang="en-US" b="1" dirty="0"/>
          </a:p>
          <a:p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nn.Sigmoid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is used at the end because the image pixel values are between </a:t>
            </a:r>
            <a:r>
              <a:rPr lang="en-US" b="1" dirty="0"/>
              <a:t>0 and 1</a:t>
            </a:r>
            <a:r>
              <a:rPr lang="en-US" dirty="0"/>
              <a:t>. 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encoded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self.encoder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(x): </a:t>
            </a:r>
            <a:r>
              <a:rPr lang="en-US" dirty="0"/>
              <a:t>The input first goes through the </a:t>
            </a:r>
            <a:r>
              <a:rPr lang="en-US" b="1" dirty="0"/>
              <a:t>encoder</a:t>
            </a:r>
            <a:r>
              <a:rPr lang="en-US" dirty="0"/>
              <a:t>  to create the compressed representation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decoded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self.decoder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(encoded): </a:t>
            </a:r>
            <a:r>
              <a:rPr lang="en-US" dirty="0"/>
              <a:t>Then the compressed representation goes through the </a:t>
            </a:r>
            <a:r>
              <a:rPr lang="en-US" b="1" dirty="0"/>
              <a:t>decoder</a:t>
            </a:r>
            <a:r>
              <a:rPr lang="en-US" dirty="0"/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endParaRPr lang="en-US" b="1" dirty="0"/>
          </a:p>
          <a:p>
            <a:r>
              <a:rPr lang="en-US" b="1" dirty="0"/>
              <a:t>The encoder repeatedly reduces the input size until only 3 features remain, and the decoder expands those 3 features back into the original image.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AFB998-C619-A84D-A5E8-EB6D3B6283F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14350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convolutional </a:t>
            </a:r>
            <a:r>
              <a:rPr lang="en-US" b="1" dirty="0"/>
              <a:t>Encoder: </a:t>
            </a:r>
            <a:r>
              <a:rPr lang="en-US" dirty="0"/>
              <a:t>The encoder </a:t>
            </a:r>
            <a:r>
              <a:rPr lang="en-US" b="1" dirty="0"/>
              <a:t>reduces the image size step by step</a:t>
            </a:r>
            <a:r>
              <a:rPr lang="en-US" dirty="0"/>
              <a:t> while learning important visual features.</a:t>
            </a:r>
          </a:p>
          <a:p>
            <a:endParaRPr lang="en-US" dirty="0"/>
          </a:p>
          <a:p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nn.Conv2d</a:t>
            </a:r>
            <a:r>
              <a:rPr lang="en-US" dirty="0"/>
              <a:t>Reduces the image from </a:t>
            </a:r>
            <a:r>
              <a:rPr lang="en-US" b="1" dirty="0"/>
              <a:t>28×28 → 14×14</a:t>
            </a:r>
            <a:r>
              <a:rPr lang="en-US" dirty="0"/>
              <a:t> and increases channels from </a:t>
            </a:r>
            <a:r>
              <a:rPr lang="en-US" b="1" dirty="0"/>
              <a:t>1 → 16</a:t>
            </a:r>
            <a:r>
              <a:rPr lang="en-US" dirty="0"/>
              <a:t> </a:t>
            </a:r>
          </a:p>
          <a:p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nn.Conv2d</a:t>
            </a:r>
            <a:r>
              <a:rPr lang="en-US" dirty="0"/>
              <a:t>Reduces </a:t>
            </a:r>
            <a:r>
              <a:rPr lang="en-US" b="1" dirty="0"/>
              <a:t>14×14 → 7×7</a:t>
            </a:r>
            <a:r>
              <a:rPr lang="en-US" dirty="0"/>
              <a:t> and increases channels from </a:t>
            </a:r>
            <a:r>
              <a:rPr lang="en-US" b="1" dirty="0"/>
              <a:t>16 → 32</a:t>
            </a:r>
            <a:r>
              <a:rPr lang="en-US" dirty="0"/>
              <a:t> </a:t>
            </a:r>
          </a:p>
          <a:p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nn.Conv2d(</a:t>
            </a:r>
            <a:r>
              <a:rPr lang="en-US" dirty="0"/>
              <a:t>Reduces </a:t>
            </a:r>
            <a:r>
              <a:rPr lang="en-US" b="1" dirty="0"/>
              <a:t>7×7 → 1×1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At the end, the image is compressed into a </a:t>
            </a:r>
            <a:r>
              <a:rPr lang="en-US" b="1" dirty="0"/>
              <a:t>64-feature latent representation</a:t>
            </a:r>
            <a:r>
              <a:rPr lang="en-US" dirty="0"/>
              <a:t> of shape: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Decoder</a:t>
            </a:r>
          </a:p>
          <a:p>
            <a:r>
              <a:rPr lang="en-US" dirty="0"/>
              <a:t>The decoder </a:t>
            </a:r>
            <a:r>
              <a:rPr lang="en-US" b="1" dirty="0"/>
              <a:t>reverses the compression</a:t>
            </a:r>
            <a:r>
              <a:rPr lang="en-US" dirty="0"/>
              <a:t> and rebuilds the image.</a:t>
            </a:r>
          </a:p>
          <a:p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nn.ConvTranspose2d</a:t>
            </a:r>
            <a:r>
              <a:rPr lang="en-US" dirty="0"/>
              <a:t>Expands </a:t>
            </a:r>
            <a:r>
              <a:rPr lang="en-US" b="1" dirty="0"/>
              <a:t>1×1 → 7×7</a:t>
            </a:r>
            <a:r>
              <a:rPr lang="en-US" dirty="0"/>
              <a:t> </a:t>
            </a:r>
          </a:p>
          <a:p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nn.ConvTranspose2d</a:t>
            </a:r>
            <a:r>
              <a:rPr lang="en-US" dirty="0"/>
              <a:t>Expands </a:t>
            </a:r>
            <a:r>
              <a:rPr lang="en-US" b="1" dirty="0"/>
              <a:t>7×7 → 14×14</a:t>
            </a:r>
            <a:r>
              <a:rPr lang="en-US" dirty="0"/>
              <a:t> </a:t>
            </a:r>
          </a:p>
          <a:p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nn.ConvTranspose2d</a:t>
            </a:r>
            <a:r>
              <a:rPr lang="en-US" dirty="0"/>
              <a:t>Expands </a:t>
            </a:r>
            <a:r>
              <a:rPr lang="en-US" b="1" dirty="0"/>
              <a:t>14×14 → 28×28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nn.Sigmoid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br>
              <a:rPr lang="en-US" dirty="0"/>
            </a:br>
            <a:r>
              <a:rPr lang="en-US" dirty="0"/>
              <a:t>Keeps output pixel values between </a:t>
            </a:r>
            <a:r>
              <a:rPr lang="en-US" b="1" dirty="0"/>
              <a:t>0 and 1</a:t>
            </a:r>
            <a:r>
              <a:rPr lang="en-US" dirty="0"/>
              <a:t> </a:t>
            </a:r>
          </a:p>
          <a:p>
            <a:br>
              <a:rPr lang="en-US" dirty="0"/>
            </a:br>
            <a:endParaRPr lang="en-US" dirty="0"/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Forward pass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encoded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self.encoder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(x)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decoded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self.decoder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(encoded)</a:t>
            </a:r>
          </a:p>
          <a:p>
            <a:r>
              <a:rPr lang="en-US" dirty="0"/>
              <a:t>First the image is </a:t>
            </a:r>
            <a:r>
              <a:rPr lang="en-US" b="1" dirty="0"/>
              <a:t>compressed</a:t>
            </a:r>
            <a:r>
              <a:rPr lang="en-US" dirty="0"/>
              <a:t> </a:t>
            </a:r>
          </a:p>
          <a:p>
            <a:r>
              <a:rPr lang="en-US" dirty="0"/>
              <a:t>Then it is </a:t>
            </a:r>
            <a:r>
              <a:rPr lang="en-US" b="1" dirty="0"/>
              <a:t>reconstructed</a:t>
            </a:r>
            <a:r>
              <a:rPr lang="en-US" dirty="0"/>
              <a:t> </a:t>
            </a:r>
          </a:p>
          <a:p>
            <a:br>
              <a:rPr lang="en-US" dirty="0"/>
            </a:b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AFB998-C619-A84D-A5E8-EB6D3B6283F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8657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Creates an instance of the </a:t>
            </a:r>
            <a:r>
              <a:rPr lang="en-US" b="1" dirty="0"/>
              <a:t>Autoencoder class</a:t>
            </a:r>
            <a:r>
              <a:rPr lang="en-US" dirty="0"/>
              <a:t> </a:t>
            </a:r>
          </a:p>
          <a:p>
            <a:r>
              <a:rPr lang="en-US" dirty="0"/>
              <a:t>This includes both: </a:t>
            </a:r>
          </a:p>
          <a:p>
            <a:pPr lvl="1"/>
            <a:r>
              <a:rPr lang="en-US" dirty="0"/>
              <a:t>the </a:t>
            </a:r>
            <a:r>
              <a:rPr lang="en-US" b="1" dirty="0"/>
              <a:t>encoder (compression)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the </a:t>
            </a:r>
            <a:r>
              <a:rPr lang="en-US" b="1" dirty="0"/>
              <a:t>decoder (reconstruction)</a:t>
            </a:r>
            <a:r>
              <a:rPr lang="en-US" dirty="0"/>
              <a:t> </a:t>
            </a:r>
          </a:p>
          <a:p>
            <a:r>
              <a:rPr lang="en-US" dirty="0"/>
              <a:t>The model is now ready to be trained on data  </a:t>
            </a:r>
          </a:p>
          <a:p>
            <a:endParaRPr lang="en-US" dirty="0"/>
          </a:p>
          <a:p>
            <a:endParaRPr lang="en-US" dirty="0"/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criterion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nn.MSELoss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()- </a:t>
            </a:r>
            <a:r>
              <a:rPr lang="en-US" dirty="0"/>
              <a:t>measures how different the reconstructed image is from the original image </a:t>
            </a:r>
          </a:p>
          <a:p>
            <a:r>
              <a:rPr lang="en-US" dirty="0"/>
              <a:t>Then it averages the error into a single value </a:t>
            </a:r>
          </a:p>
          <a:p>
            <a:br>
              <a:rPr lang="en-US" dirty="0"/>
            </a:br>
            <a:endParaRPr lang="en-US" dirty="0"/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optimizer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torch.optim.Adam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(: </a:t>
            </a:r>
            <a:r>
              <a:rPr lang="en-US" dirty="0"/>
              <a:t>The optimizer updates the model’s weights to reduce the loss.</a:t>
            </a:r>
          </a:p>
          <a:p>
            <a:pPr rtl="0"/>
            <a:endParaRPr lang="en-US" dirty="0"/>
          </a:p>
          <a:p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model.parameters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Tells the optimizer which weights to update </a:t>
            </a:r>
          </a:p>
          <a:p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lr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=1e-3</a:t>
            </a:r>
            <a:r>
              <a:rPr lang="en-US" b="1" dirty="0"/>
              <a:t> (learning rate)</a:t>
            </a:r>
            <a:r>
              <a:rPr lang="en-US" dirty="0"/>
              <a:t>Controls how big each update step is </a:t>
            </a:r>
          </a:p>
          <a:p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weight_decay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=1e-5</a:t>
            </a:r>
            <a:r>
              <a:rPr lang="en-US" dirty="0"/>
              <a:t>Adds </a:t>
            </a:r>
            <a:r>
              <a:rPr lang="en-US" b="1" dirty="0"/>
              <a:t>regularization</a:t>
            </a:r>
            <a:r>
              <a:rPr lang="en-US" dirty="0"/>
              <a:t> to help prevent overfitting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AFB998-C619-A84D-A5E8-EB6D3B6283F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56783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num_epochs</a:t>
            </a:r>
            <a:r>
              <a:rPr lang="en-US" dirty="0"/>
              <a:t> : controls how many times the model goes through the full dataset </a:t>
            </a:r>
          </a:p>
          <a:p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outputs</a:t>
            </a:r>
            <a:r>
              <a:rPr lang="en-US" dirty="0"/>
              <a:t> stores results so you can visualize them later </a:t>
            </a:r>
          </a:p>
          <a:p>
            <a:br>
              <a:rPr lang="en-US" dirty="0"/>
            </a:b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 epoch in range(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num_epochs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): </a:t>
            </a:r>
            <a:r>
              <a:rPr lang="en-US" dirty="0"/>
              <a:t>The model trains over multiple </a:t>
            </a:r>
            <a:r>
              <a:rPr lang="en-US" b="1" dirty="0"/>
              <a:t>epochs</a:t>
            </a:r>
            <a:r>
              <a:rPr lang="en-US" dirty="0"/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for 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img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_) 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data_loader:</a:t>
            </a:r>
            <a:r>
              <a:rPr lang="en-US" dirty="0" err="1"/>
              <a:t>Each</a:t>
            </a:r>
            <a:r>
              <a:rPr lang="en-US" dirty="0"/>
              <a:t> epoch loops through the dataset in </a:t>
            </a:r>
            <a:r>
              <a:rPr lang="en-US" b="1" dirty="0"/>
              <a:t>batches</a:t>
            </a:r>
            <a:r>
              <a:rPr lang="en-US" dirty="0"/>
              <a:t> </a:t>
            </a:r>
          </a:p>
          <a:p>
            <a:pPr rtl="0"/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br>
              <a:rPr lang="en-US" dirty="0"/>
            </a:br>
            <a:endParaRPr lang="en-US" dirty="0"/>
          </a:p>
          <a:p>
            <a:br>
              <a:rPr lang="en-US" dirty="0"/>
            </a:br>
            <a:endParaRPr lang="en-US" dirty="0"/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recon = model(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img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</a:p>
          <a:p>
            <a:r>
              <a:rPr lang="en-US" dirty="0"/>
              <a:t>The image is passed through: </a:t>
            </a:r>
            <a:r>
              <a:rPr lang="en-US" b="1" dirty="0"/>
              <a:t>encoder </a:t>
            </a:r>
            <a:r>
              <a:rPr lang="en-US" b="0" dirty="0"/>
              <a:t>, </a:t>
            </a:r>
            <a:r>
              <a:rPr lang="en-US" b="1" dirty="0"/>
              <a:t>decoder </a:t>
            </a:r>
            <a:endParaRPr lang="en-US" dirty="0"/>
          </a:p>
          <a:p>
            <a:r>
              <a:rPr lang="en-US" dirty="0"/>
              <a:t>Output is the reconstructed image </a:t>
            </a:r>
          </a:p>
          <a:p>
            <a:br>
              <a:rPr lang="en-US" dirty="0"/>
            </a:br>
            <a:endParaRPr lang="en-US" b="1" dirty="0"/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loss = criterion(recon,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img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</a:p>
          <a:p>
            <a:r>
              <a:rPr lang="en-US" dirty="0"/>
              <a:t>Compares: </a:t>
            </a:r>
            <a:r>
              <a:rPr lang="en-US" b="1" dirty="0"/>
              <a:t>original image, reconstructed image, </a:t>
            </a:r>
            <a:r>
              <a:rPr lang="en-US" dirty="0"/>
              <a:t>Uses </a:t>
            </a:r>
            <a:r>
              <a:rPr lang="en-US" b="1" dirty="0"/>
              <a:t>Mean Squared Error (MSE)</a:t>
            </a:r>
            <a:r>
              <a:rPr lang="en-US" dirty="0"/>
              <a:t> </a:t>
            </a:r>
          </a:p>
          <a:p>
            <a:endParaRPr lang="en-US" dirty="0"/>
          </a:p>
          <a:p>
            <a:br>
              <a:rPr lang="en-US" dirty="0"/>
            </a:br>
            <a:endParaRPr lang="en-US" dirty="0"/>
          </a:p>
          <a:p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zero_grad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→ clears old gradients </a:t>
            </a:r>
          </a:p>
          <a:p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backward()</a:t>
            </a:r>
            <a:r>
              <a:rPr lang="en-US" dirty="0"/>
              <a:t> → calculates gradients (how to improve the model) </a:t>
            </a:r>
          </a:p>
          <a:p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step()</a:t>
            </a:r>
            <a:r>
              <a:rPr lang="en-US" dirty="0"/>
              <a:t> → updates model weights </a:t>
            </a:r>
          </a:p>
          <a:p>
            <a:br>
              <a:rPr lang="en-US" dirty="0"/>
            </a:br>
            <a:endParaRPr lang="en-US" dirty="0"/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f'Epoch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:{epoch+1}, Loss:{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loss.item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():.4f}')</a:t>
            </a:r>
          </a:p>
          <a:p>
            <a:r>
              <a:rPr lang="en-US" dirty="0"/>
              <a:t>Prints training progress </a:t>
            </a:r>
          </a:p>
          <a:p>
            <a:r>
              <a:rPr lang="en-US" dirty="0"/>
              <a:t>Shows how well the model is learning each epoch </a:t>
            </a:r>
          </a:p>
          <a:p>
            <a:br>
              <a:rPr lang="en-US" dirty="0"/>
            </a:br>
            <a:endParaRPr lang="en-US" dirty="0"/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outputs.append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((epoch,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img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recon))</a:t>
            </a:r>
          </a:p>
          <a:p>
            <a:r>
              <a:rPr lang="en-US" dirty="0"/>
              <a:t>Stores: epoch number original images reconstructed images </a:t>
            </a:r>
          </a:p>
          <a:p>
            <a:r>
              <a:rPr lang="en-US" dirty="0"/>
              <a:t>Used later for </a:t>
            </a:r>
            <a:r>
              <a:rPr lang="en-US" b="1" dirty="0"/>
              <a:t>visual comparison of results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AFB998-C619-A84D-A5E8-EB6D3B6283F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4355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for k in range(0, </a:t>
            </a:r>
            <a:r>
              <a:rPr lang="en-US" dirty="0" err="1"/>
              <a:t>num_epochs</a:t>
            </a:r>
            <a:r>
              <a:rPr lang="en-US" dirty="0"/>
              <a:t>, 4):Selects every </a:t>
            </a:r>
            <a:r>
              <a:rPr lang="en-US" b="1" dirty="0"/>
              <a:t>4th epoch</a:t>
            </a:r>
            <a:r>
              <a:rPr lang="en-US" dirty="0"/>
              <a:t> instead of showing all of them</a:t>
            </a:r>
          </a:p>
          <a:p>
            <a:r>
              <a:rPr lang="en-US" dirty="0" err="1"/>
              <a:t>plt.figure</a:t>
            </a:r>
            <a:r>
              <a:rPr lang="en-US" dirty="0"/>
              <a:t>(</a:t>
            </a:r>
            <a:r>
              <a:rPr lang="en-US" dirty="0" err="1"/>
              <a:t>figsize</a:t>
            </a:r>
            <a:r>
              <a:rPr lang="en-US" dirty="0"/>
              <a:t> : Creates a figure for plotting images 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Retrieves stored results from training:</a:t>
            </a:r>
          </a:p>
          <a:p>
            <a:r>
              <a:rPr lang="en-US" dirty="0" err="1"/>
              <a:t>imgs</a:t>
            </a:r>
            <a:r>
              <a:rPr lang="en-US" dirty="0"/>
              <a:t> = original images</a:t>
            </a:r>
          </a:p>
          <a:p>
            <a:r>
              <a:rPr lang="en-US" dirty="0"/>
              <a:t>Recon= reconstructed images </a:t>
            </a:r>
          </a:p>
          <a:p>
            <a:endParaRPr lang="en-US" dirty="0"/>
          </a:p>
          <a:p>
            <a:r>
              <a:rPr lang="en-US" dirty="0"/>
              <a:t>for </a:t>
            </a:r>
            <a:r>
              <a:rPr lang="en-US" dirty="0" err="1"/>
              <a:t>i</a:t>
            </a:r>
            <a:r>
              <a:rPr lang="en-US" dirty="0"/>
              <a:t>, item in enumerate(</a:t>
            </a:r>
            <a:r>
              <a:rPr lang="en-US" dirty="0" err="1"/>
              <a:t>imgs</a:t>
            </a:r>
            <a:r>
              <a:rPr lang="en-US" dirty="0"/>
              <a:t>):</a:t>
            </a:r>
            <a:br>
              <a:rPr lang="en-US" dirty="0"/>
            </a:br>
            <a:r>
              <a:rPr lang="en-US" dirty="0"/>
              <a:t>if </a:t>
            </a:r>
            <a:r>
              <a:rPr lang="en-US" dirty="0" err="1"/>
              <a:t>i</a:t>
            </a:r>
            <a:r>
              <a:rPr lang="en-US" dirty="0"/>
              <a:t> &gt;= 9: break</a:t>
            </a:r>
            <a:br>
              <a:rPr lang="en-US" dirty="0"/>
            </a:br>
            <a:r>
              <a:rPr lang="en-US" dirty="0" err="1"/>
              <a:t>plt.subplot</a:t>
            </a:r>
            <a:r>
              <a:rPr lang="en-US" dirty="0"/>
              <a:t>(2, 9, i+1)</a:t>
            </a:r>
            <a:br>
              <a:rPr lang="en-US" dirty="0"/>
            </a:br>
            <a:r>
              <a:rPr lang="en-US" dirty="0" err="1"/>
              <a:t>plt.imshow</a:t>
            </a:r>
            <a:r>
              <a:rPr lang="en-US" dirty="0"/>
              <a:t>(item[0])</a:t>
            </a:r>
          </a:p>
          <a:p>
            <a:endParaRPr lang="en-US" dirty="0"/>
          </a:p>
          <a:p>
            <a:r>
              <a:rPr lang="en-US" dirty="0"/>
              <a:t>Plots the first </a:t>
            </a:r>
            <a:r>
              <a:rPr lang="en-US" b="1" dirty="0"/>
              <a:t>9 original images</a:t>
            </a:r>
            <a:r>
              <a:rPr lang="en-US" dirty="0"/>
              <a:t> Places them in the </a:t>
            </a:r>
            <a:r>
              <a:rPr lang="en-US" b="1" dirty="0"/>
              <a:t>top row</a:t>
            </a:r>
          </a:p>
          <a:p>
            <a:endParaRPr lang="en-US" b="1" dirty="0"/>
          </a:p>
          <a:p>
            <a:endParaRPr lang="en-US" b="1" dirty="0"/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item in enumerate(recon):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if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&gt;= 9: break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plt.subplot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(2, 9, 9+i+1)</a:t>
            </a:r>
            <a:b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plt.imshow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(item[0])</a:t>
            </a:r>
          </a:p>
          <a:p>
            <a:r>
              <a:rPr lang="en-US" dirty="0"/>
              <a:t>Plots the first </a:t>
            </a:r>
            <a:r>
              <a:rPr lang="en-US" b="1" dirty="0"/>
              <a:t>9 reconstructed images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AFB998-C619-A84D-A5E8-EB6D3B6283F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4791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 descr="Tag=AccentColor&#10;Flavor=Light&#10;Target=FillAndLine">
            <a:extLst>
              <a:ext uri="{FF2B5EF4-FFF2-40B4-BE49-F238E27FC236}">
                <a16:creationId xmlns:a16="http://schemas.microsoft.com/office/drawing/2014/main" id="{DA381740-063A-41A4-836D-85D14980EEF0}"/>
              </a:ext>
            </a:extLst>
          </p:cNvPr>
          <p:cNvSpPr/>
          <p:nvPr/>
        </p:nvSpPr>
        <p:spPr>
          <a:xfrm>
            <a:off x="838200" y="4736883"/>
            <a:ext cx="4243589" cy="27432"/>
          </a:xfrm>
          <a:custGeom>
            <a:avLst/>
            <a:gdLst>
              <a:gd name="connsiteX0" fmla="*/ 0 w 4243589"/>
              <a:gd name="connsiteY0" fmla="*/ 0 h 27432"/>
              <a:gd name="connsiteX1" fmla="*/ 563791 w 4243589"/>
              <a:gd name="connsiteY1" fmla="*/ 0 h 27432"/>
              <a:gd name="connsiteX2" fmla="*/ 1042710 w 4243589"/>
              <a:gd name="connsiteY2" fmla="*/ 0 h 27432"/>
              <a:gd name="connsiteX3" fmla="*/ 1564066 w 4243589"/>
              <a:gd name="connsiteY3" fmla="*/ 0 h 27432"/>
              <a:gd name="connsiteX4" fmla="*/ 2212729 w 4243589"/>
              <a:gd name="connsiteY4" fmla="*/ 0 h 27432"/>
              <a:gd name="connsiteX5" fmla="*/ 2776520 w 4243589"/>
              <a:gd name="connsiteY5" fmla="*/ 0 h 27432"/>
              <a:gd name="connsiteX6" fmla="*/ 3297875 w 4243589"/>
              <a:gd name="connsiteY6" fmla="*/ 0 h 27432"/>
              <a:gd name="connsiteX7" fmla="*/ 4243589 w 4243589"/>
              <a:gd name="connsiteY7" fmla="*/ 0 h 27432"/>
              <a:gd name="connsiteX8" fmla="*/ 4243589 w 4243589"/>
              <a:gd name="connsiteY8" fmla="*/ 27432 h 27432"/>
              <a:gd name="connsiteX9" fmla="*/ 3637362 w 4243589"/>
              <a:gd name="connsiteY9" fmla="*/ 27432 h 27432"/>
              <a:gd name="connsiteX10" fmla="*/ 3116007 w 4243589"/>
              <a:gd name="connsiteY10" fmla="*/ 27432 h 27432"/>
              <a:gd name="connsiteX11" fmla="*/ 2424908 w 4243589"/>
              <a:gd name="connsiteY11" fmla="*/ 27432 h 27432"/>
              <a:gd name="connsiteX12" fmla="*/ 1861117 w 4243589"/>
              <a:gd name="connsiteY12" fmla="*/ 27432 h 27432"/>
              <a:gd name="connsiteX13" fmla="*/ 1382198 w 4243589"/>
              <a:gd name="connsiteY13" fmla="*/ 27432 h 27432"/>
              <a:gd name="connsiteX14" fmla="*/ 733535 w 4243589"/>
              <a:gd name="connsiteY14" fmla="*/ 27432 h 27432"/>
              <a:gd name="connsiteX15" fmla="*/ 0 w 4243589"/>
              <a:gd name="connsiteY15" fmla="*/ 27432 h 27432"/>
              <a:gd name="connsiteX16" fmla="*/ 0 w 4243589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tx1"/>
          </a:solidFill>
          <a:ln w="3810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EF9DF8-704A-44AE-8850-307DDACC93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41248" y="448056"/>
            <a:ext cx="10515600" cy="4069080"/>
          </a:xfrm>
        </p:spPr>
        <p:txBody>
          <a:bodyPr anchor="b">
            <a:noAutofit/>
          </a:bodyPr>
          <a:lstStyle>
            <a:lvl1pPr algn="l">
              <a:defRPr sz="9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C72E09-06F3-48B9-9B95-DE15EC9801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1248" y="4983480"/>
            <a:ext cx="10515600" cy="1124712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CD474-E5E1-4D01-97F6-0C9FC0933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5/5/26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36BBC7-EB9B-4B36-88E9-DBF65D270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8786C7-DD8D-492F-9A9A-A7B3EBE27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1299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9219E-EE74-4093-94D6-F663E059C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A61642-BFBA-48AE-A29C-C2AA7386A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D2029B-6646-4DBF-A302-76A513FC6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4DFD-766F-4E45-A00C-2B5E8CE9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 descr="Tag=AccentColor&#10;Flavor=Light&#10;Target=FillAndLine">
            <a:extLst>
              <a:ext uri="{FF2B5EF4-FFF2-40B4-BE49-F238E27FC236}">
                <a16:creationId xmlns:a16="http://schemas.microsoft.com/office/drawing/2014/main" id="{EBDD1931-9E86-4402-9A68-33A2D9EFB198}"/>
              </a:ext>
            </a:extLst>
          </p:cNvPr>
          <p:cNvSpPr/>
          <p:nvPr/>
        </p:nvSpPr>
        <p:spPr>
          <a:xfrm>
            <a:off x="838199" y="1709928"/>
            <a:ext cx="10515600" cy="27432"/>
          </a:xfrm>
          <a:custGeom>
            <a:avLst/>
            <a:gdLst>
              <a:gd name="connsiteX0" fmla="*/ 0 w 10515600"/>
              <a:gd name="connsiteY0" fmla="*/ 0 h 27432"/>
              <a:gd name="connsiteX1" fmla="*/ 446913 w 10515600"/>
              <a:gd name="connsiteY1" fmla="*/ 0 h 27432"/>
              <a:gd name="connsiteX2" fmla="*/ 1104138 w 10515600"/>
              <a:gd name="connsiteY2" fmla="*/ 0 h 27432"/>
              <a:gd name="connsiteX3" fmla="*/ 1866519 w 10515600"/>
              <a:gd name="connsiteY3" fmla="*/ 0 h 27432"/>
              <a:gd name="connsiteX4" fmla="*/ 2208276 w 10515600"/>
              <a:gd name="connsiteY4" fmla="*/ 0 h 27432"/>
              <a:gd name="connsiteX5" fmla="*/ 2550033 w 10515600"/>
              <a:gd name="connsiteY5" fmla="*/ 0 h 27432"/>
              <a:gd name="connsiteX6" fmla="*/ 3417570 w 10515600"/>
              <a:gd name="connsiteY6" fmla="*/ 0 h 27432"/>
              <a:gd name="connsiteX7" fmla="*/ 4074795 w 10515600"/>
              <a:gd name="connsiteY7" fmla="*/ 0 h 27432"/>
              <a:gd name="connsiteX8" fmla="*/ 4416552 w 10515600"/>
              <a:gd name="connsiteY8" fmla="*/ 0 h 27432"/>
              <a:gd name="connsiteX9" fmla="*/ 5073777 w 10515600"/>
              <a:gd name="connsiteY9" fmla="*/ 0 h 27432"/>
              <a:gd name="connsiteX10" fmla="*/ 5941314 w 10515600"/>
              <a:gd name="connsiteY10" fmla="*/ 0 h 27432"/>
              <a:gd name="connsiteX11" fmla="*/ 6493383 w 10515600"/>
              <a:gd name="connsiteY11" fmla="*/ 0 h 27432"/>
              <a:gd name="connsiteX12" fmla="*/ 7045452 w 10515600"/>
              <a:gd name="connsiteY12" fmla="*/ 0 h 27432"/>
              <a:gd name="connsiteX13" fmla="*/ 7702677 w 10515600"/>
              <a:gd name="connsiteY13" fmla="*/ 0 h 27432"/>
              <a:gd name="connsiteX14" fmla="*/ 8465058 w 10515600"/>
              <a:gd name="connsiteY14" fmla="*/ 0 h 27432"/>
              <a:gd name="connsiteX15" fmla="*/ 9227439 w 10515600"/>
              <a:gd name="connsiteY15" fmla="*/ 0 h 27432"/>
              <a:gd name="connsiteX16" fmla="*/ 10515600 w 10515600"/>
              <a:gd name="connsiteY16" fmla="*/ 0 h 27432"/>
              <a:gd name="connsiteX17" fmla="*/ 10515600 w 10515600"/>
              <a:gd name="connsiteY17" fmla="*/ 27432 h 27432"/>
              <a:gd name="connsiteX18" fmla="*/ 10068687 w 10515600"/>
              <a:gd name="connsiteY18" fmla="*/ 27432 h 27432"/>
              <a:gd name="connsiteX19" fmla="*/ 9201150 w 10515600"/>
              <a:gd name="connsiteY19" fmla="*/ 27432 h 27432"/>
              <a:gd name="connsiteX20" fmla="*/ 8543925 w 10515600"/>
              <a:gd name="connsiteY20" fmla="*/ 27432 h 27432"/>
              <a:gd name="connsiteX21" fmla="*/ 8202168 w 10515600"/>
              <a:gd name="connsiteY21" fmla="*/ 27432 h 27432"/>
              <a:gd name="connsiteX22" fmla="*/ 7544943 w 10515600"/>
              <a:gd name="connsiteY22" fmla="*/ 27432 h 27432"/>
              <a:gd name="connsiteX23" fmla="*/ 6992874 w 10515600"/>
              <a:gd name="connsiteY23" fmla="*/ 27432 h 27432"/>
              <a:gd name="connsiteX24" fmla="*/ 6440805 w 10515600"/>
              <a:gd name="connsiteY24" fmla="*/ 27432 h 27432"/>
              <a:gd name="connsiteX25" fmla="*/ 5888736 w 10515600"/>
              <a:gd name="connsiteY25" fmla="*/ 27432 h 27432"/>
              <a:gd name="connsiteX26" fmla="*/ 5336667 w 10515600"/>
              <a:gd name="connsiteY26" fmla="*/ 27432 h 27432"/>
              <a:gd name="connsiteX27" fmla="*/ 4574286 w 10515600"/>
              <a:gd name="connsiteY27" fmla="*/ 27432 h 27432"/>
              <a:gd name="connsiteX28" fmla="*/ 3917061 w 10515600"/>
              <a:gd name="connsiteY28" fmla="*/ 27432 h 27432"/>
              <a:gd name="connsiteX29" fmla="*/ 3575304 w 10515600"/>
              <a:gd name="connsiteY29" fmla="*/ 27432 h 27432"/>
              <a:gd name="connsiteX30" fmla="*/ 3023235 w 10515600"/>
              <a:gd name="connsiteY30" fmla="*/ 27432 h 27432"/>
              <a:gd name="connsiteX31" fmla="*/ 2260854 w 10515600"/>
              <a:gd name="connsiteY31" fmla="*/ 27432 h 27432"/>
              <a:gd name="connsiteX32" fmla="*/ 1813941 w 10515600"/>
              <a:gd name="connsiteY32" fmla="*/ 27432 h 27432"/>
              <a:gd name="connsiteX33" fmla="*/ 946404 w 10515600"/>
              <a:gd name="connsiteY33" fmla="*/ 27432 h 27432"/>
              <a:gd name="connsiteX34" fmla="*/ 0 w 10515600"/>
              <a:gd name="connsiteY34" fmla="*/ 27432 h 27432"/>
              <a:gd name="connsiteX35" fmla="*/ 0 w 10515600"/>
              <a:gd name="connsiteY35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515600" h="27432" fill="none" extrusionOk="0">
                <a:moveTo>
                  <a:pt x="0" y="0"/>
                </a:moveTo>
                <a:cubicBezTo>
                  <a:pt x="119693" y="-14343"/>
                  <a:pt x="253007" y="-7583"/>
                  <a:pt x="446913" y="0"/>
                </a:cubicBezTo>
                <a:cubicBezTo>
                  <a:pt x="640819" y="7583"/>
                  <a:pt x="841419" y="-7067"/>
                  <a:pt x="1104138" y="0"/>
                </a:cubicBezTo>
                <a:cubicBezTo>
                  <a:pt x="1366858" y="7067"/>
                  <a:pt x="1495525" y="1255"/>
                  <a:pt x="1866519" y="0"/>
                </a:cubicBezTo>
                <a:cubicBezTo>
                  <a:pt x="2237513" y="-1255"/>
                  <a:pt x="2043820" y="12003"/>
                  <a:pt x="2208276" y="0"/>
                </a:cubicBezTo>
                <a:cubicBezTo>
                  <a:pt x="2372732" y="-12003"/>
                  <a:pt x="2419452" y="9887"/>
                  <a:pt x="2550033" y="0"/>
                </a:cubicBezTo>
                <a:cubicBezTo>
                  <a:pt x="2680614" y="-9887"/>
                  <a:pt x="3098156" y="3827"/>
                  <a:pt x="3417570" y="0"/>
                </a:cubicBezTo>
                <a:cubicBezTo>
                  <a:pt x="3736984" y="-3827"/>
                  <a:pt x="3916040" y="-6233"/>
                  <a:pt x="4074795" y="0"/>
                </a:cubicBezTo>
                <a:cubicBezTo>
                  <a:pt x="4233551" y="6233"/>
                  <a:pt x="4279253" y="5661"/>
                  <a:pt x="4416552" y="0"/>
                </a:cubicBezTo>
                <a:cubicBezTo>
                  <a:pt x="4553851" y="-5661"/>
                  <a:pt x="4915758" y="26022"/>
                  <a:pt x="5073777" y="0"/>
                </a:cubicBezTo>
                <a:cubicBezTo>
                  <a:pt x="5231797" y="-26022"/>
                  <a:pt x="5612089" y="32230"/>
                  <a:pt x="5941314" y="0"/>
                </a:cubicBezTo>
                <a:cubicBezTo>
                  <a:pt x="6270539" y="-32230"/>
                  <a:pt x="6313600" y="3064"/>
                  <a:pt x="6493383" y="0"/>
                </a:cubicBezTo>
                <a:cubicBezTo>
                  <a:pt x="6673166" y="-3064"/>
                  <a:pt x="6902474" y="-21096"/>
                  <a:pt x="7045452" y="0"/>
                </a:cubicBezTo>
                <a:cubicBezTo>
                  <a:pt x="7188430" y="21096"/>
                  <a:pt x="7478162" y="17386"/>
                  <a:pt x="7702677" y="0"/>
                </a:cubicBezTo>
                <a:cubicBezTo>
                  <a:pt x="7927192" y="-17386"/>
                  <a:pt x="8295683" y="-35143"/>
                  <a:pt x="8465058" y="0"/>
                </a:cubicBezTo>
                <a:cubicBezTo>
                  <a:pt x="8634433" y="35143"/>
                  <a:pt x="8927835" y="4103"/>
                  <a:pt x="9227439" y="0"/>
                </a:cubicBezTo>
                <a:cubicBezTo>
                  <a:pt x="9527043" y="-4103"/>
                  <a:pt x="10105355" y="-17535"/>
                  <a:pt x="10515600" y="0"/>
                </a:cubicBezTo>
                <a:cubicBezTo>
                  <a:pt x="10515789" y="12323"/>
                  <a:pt x="10515633" y="14639"/>
                  <a:pt x="10515600" y="27432"/>
                </a:cubicBezTo>
                <a:cubicBezTo>
                  <a:pt x="10343646" y="15282"/>
                  <a:pt x="10223667" y="31057"/>
                  <a:pt x="10068687" y="27432"/>
                </a:cubicBezTo>
                <a:cubicBezTo>
                  <a:pt x="9913707" y="23807"/>
                  <a:pt x="9512455" y="4101"/>
                  <a:pt x="9201150" y="27432"/>
                </a:cubicBezTo>
                <a:cubicBezTo>
                  <a:pt x="8889845" y="50763"/>
                  <a:pt x="8866277" y="3158"/>
                  <a:pt x="8543925" y="27432"/>
                </a:cubicBezTo>
                <a:cubicBezTo>
                  <a:pt x="8221573" y="51706"/>
                  <a:pt x="8288348" y="37286"/>
                  <a:pt x="8202168" y="27432"/>
                </a:cubicBezTo>
                <a:cubicBezTo>
                  <a:pt x="8115988" y="17578"/>
                  <a:pt x="7797033" y="6631"/>
                  <a:pt x="7544943" y="27432"/>
                </a:cubicBezTo>
                <a:cubicBezTo>
                  <a:pt x="7292854" y="48233"/>
                  <a:pt x="7108060" y="41767"/>
                  <a:pt x="6992874" y="27432"/>
                </a:cubicBezTo>
                <a:cubicBezTo>
                  <a:pt x="6877688" y="13097"/>
                  <a:pt x="6668930" y="7947"/>
                  <a:pt x="6440805" y="27432"/>
                </a:cubicBezTo>
                <a:cubicBezTo>
                  <a:pt x="6212680" y="46917"/>
                  <a:pt x="6027476" y="35225"/>
                  <a:pt x="5888736" y="27432"/>
                </a:cubicBezTo>
                <a:cubicBezTo>
                  <a:pt x="5749996" y="19639"/>
                  <a:pt x="5574559" y="43627"/>
                  <a:pt x="5336667" y="27432"/>
                </a:cubicBezTo>
                <a:cubicBezTo>
                  <a:pt x="5098775" y="11237"/>
                  <a:pt x="4837534" y="41882"/>
                  <a:pt x="4574286" y="27432"/>
                </a:cubicBezTo>
                <a:cubicBezTo>
                  <a:pt x="4311038" y="12982"/>
                  <a:pt x="4126419" y="26678"/>
                  <a:pt x="3917061" y="27432"/>
                </a:cubicBezTo>
                <a:cubicBezTo>
                  <a:pt x="3707704" y="28186"/>
                  <a:pt x="3657291" y="40087"/>
                  <a:pt x="3575304" y="27432"/>
                </a:cubicBezTo>
                <a:cubicBezTo>
                  <a:pt x="3493317" y="14777"/>
                  <a:pt x="3185226" y="45867"/>
                  <a:pt x="3023235" y="27432"/>
                </a:cubicBezTo>
                <a:cubicBezTo>
                  <a:pt x="2861244" y="8997"/>
                  <a:pt x="2597085" y="35801"/>
                  <a:pt x="2260854" y="27432"/>
                </a:cubicBezTo>
                <a:cubicBezTo>
                  <a:pt x="1924623" y="19063"/>
                  <a:pt x="1996678" y="15705"/>
                  <a:pt x="1813941" y="27432"/>
                </a:cubicBezTo>
                <a:cubicBezTo>
                  <a:pt x="1631204" y="39159"/>
                  <a:pt x="1187542" y="49167"/>
                  <a:pt x="946404" y="27432"/>
                </a:cubicBezTo>
                <a:cubicBezTo>
                  <a:pt x="705266" y="5697"/>
                  <a:pt x="404743" y="28229"/>
                  <a:pt x="0" y="27432"/>
                </a:cubicBezTo>
                <a:cubicBezTo>
                  <a:pt x="244" y="15297"/>
                  <a:pt x="645" y="7129"/>
                  <a:pt x="0" y="0"/>
                </a:cubicBezTo>
                <a:close/>
              </a:path>
              <a:path w="10515600" h="27432" stroke="0" extrusionOk="0">
                <a:moveTo>
                  <a:pt x="0" y="0"/>
                </a:moveTo>
                <a:cubicBezTo>
                  <a:pt x="230793" y="14353"/>
                  <a:pt x="332416" y="21392"/>
                  <a:pt x="552069" y="0"/>
                </a:cubicBezTo>
                <a:cubicBezTo>
                  <a:pt x="771722" y="-21392"/>
                  <a:pt x="761737" y="-14337"/>
                  <a:pt x="893826" y="0"/>
                </a:cubicBezTo>
                <a:cubicBezTo>
                  <a:pt x="1025915" y="14337"/>
                  <a:pt x="1441584" y="-15498"/>
                  <a:pt x="1761363" y="0"/>
                </a:cubicBezTo>
                <a:cubicBezTo>
                  <a:pt x="2081142" y="15498"/>
                  <a:pt x="2111503" y="7278"/>
                  <a:pt x="2313432" y="0"/>
                </a:cubicBezTo>
                <a:cubicBezTo>
                  <a:pt x="2515361" y="-7278"/>
                  <a:pt x="2743584" y="-17845"/>
                  <a:pt x="2865501" y="0"/>
                </a:cubicBezTo>
                <a:cubicBezTo>
                  <a:pt x="2987418" y="17845"/>
                  <a:pt x="3345183" y="8208"/>
                  <a:pt x="3733038" y="0"/>
                </a:cubicBezTo>
                <a:cubicBezTo>
                  <a:pt x="4120893" y="-8208"/>
                  <a:pt x="4009066" y="-3159"/>
                  <a:pt x="4179951" y="0"/>
                </a:cubicBezTo>
                <a:cubicBezTo>
                  <a:pt x="4350836" y="3159"/>
                  <a:pt x="4735020" y="17517"/>
                  <a:pt x="5047488" y="0"/>
                </a:cubicBezTo>
                <a:cubicBezTo>
                  <a:pt x="5359956" y="-17517"/>
                  <a:pt x="5662148" y="-17777"/>
                  <a:pt x="5915025" y="0"/>
                </a:cubicBezTo>
                <a:cubicBezTo>
                  <a:pt x="6167902" y="17777"/>
                  <a:pt x="6308797" y="30350"/>
                  <a:pt x="6572250" y="0"/>
                </a:cubicBezTo>
                <a:cubicBezTo>
                  <a:pt x="6835703" y="-30350"/>
                  <a:pt x="7107419" y="-9627"/>
                  <a:pt x="7439787" y="0"/>
                </a:cubicBezTo>
                <a:cubicBezTo>
                  <a:pt x="7772155" y="9627"/>
                  <a:pt x="7844034" y="-9098"/>
                  <a:pt x="7991856" y="0"/>
                </a:cubicBezTo>
                <a:cubicBezTo>
                  <a:pt x="8139678" y="9098"/>
                  <a:pt x="8289889" y="-20239"/>
                  <a:pt x="8543925" y="0"/>
                </a:cubicBezTo>
                <a:cubicBezTo>
                  <a:pt x="8797961" y="20239"/>
                  <a:pt x="8994198" y="29575"/>
                  <a:pt x="9306306" y="0"/>
                </a:cubicBezTo>
                <a:cubicBezTo>
                  <a:pt x="9618414" y="-29575"/>
                  <a:pt x="9739118" y="-23835"/>
                  <a:pt x="9858375" y="0"/>
                </a:cubicBezTo>
                <a:cubicBezTo>
                  <a:pt x="9977632" y="23835"/>
                  <a:pt x="10370488" y="-4069"/>
                  <a:pt x="10515600" y="0"/>
                </a:cubicBezTo>
                <a:cubicBezTo>
                  <a:pt x="10515650" y="5798"/>
                  <a:pt x="10515903" y="19375"/>
                  <a:pt x="10515600" y="27432"/>
                </a:cubicBezTo>
                <a:cubicBezTo>
                  <a:pt x="10304538" y="42307"/>
                  <a:pt x="10069280" y="3335"/>
                  <a:pt x="9753219" y="27432"/>
                </a:cubicBezTo>
                <a:cubicBezTo>
                  <a:pt x="9437158" y="51529"/>
                  <a:pt x="9488415" y="23852"/>
                  <a:pt x="9411462" y="27432"/>
                </a:cubicBezTo>
                <a:cubicBezTo>
                  <a:pt x="9334509" y="31012"/>
                  <a:pt x="9183755" y="44107"/>
                  <a:pt x="8964549" y="27432"/>
                </a:cubicBezTo>
                <a:cubicBezTo>
                  <a:pt x="8745343" y="10757"/>
                  <a:pt x="8279150" y="61693"/>
                  <a:pt x="8097012" y="27432"/>
                </a:cubicBezTo>
                <a:cubicBezTo>
                  <a:pt x="7914874" y="-6829"/>
                  <a:pt x="7608717" y="59556"/>
                  <a:pt x="7439787" y="27432"/>
                </a:cubicBezTo>
                <a:cubicBezTo>
                  <a:pt x="7270858" y="-4692"/>
                  <a:pt x="7154492" y="27026"/>
                  <a:pt x="6992874" y="27432"/>
                </a:cubicBezTo>
                <a:cubicBezTo>
                  <a:pt x="6831256" y="27838"/>
                  <a:pt x="6536817" y="51174"/>
                  <a:pt x="6335649" y="27432"/>
                </a:cubicBezTo>
                <a:cubicBezTo>
                  <a:pt x="6134481" y="3690"/>
                  <a:pt x="6097824" y="11070"/>
                  <a:pt x="5993892" y="27432"/>
                </a:cubicBezTo>
                <a:cubicBezTo>
                  <a:pt x="5889960" y="43794"/>
                  <a:pt x="5793821" y="34098"/>
                  <a:pt x="5652135" y="27432"/>
                </a:cubicBezTo>
                <a:cubicBezTo>
                  <a:pt x="5510449" y="20766"/>
                  <a:pt x="5168382" y="-3650"/>
                  <a:pt x="4994910" y="27432"/>
                </a:cubicBezTo>
                <a:cubicBezTo>
                  <a:pt x="4821439" y="58514"/>
                  <a:pt x="4653937" y="21362"/>
                  <a:pt x="4547997" y="27432"/>
                </a:cubicBezTo>
                <a:cubicBezTo>
                  <a:pt x="4442057" y="33502"/>
                  <a:pt x="4153363" y="33024"/>
                  <a:pt x="3785616" y="27432"/>
                </a:cubicBezTo>
                <a:cubicBezTo>
                  <a:pt x="3417869" y="21840"/>
                  <a:pt x="3544908" y="29840"/>
                  <a:pt x="3338703" y="27432"/>
                </a:cubicBezTo>
                <a:cubicBezTo>
                  <a:pt x="3132498" y="25024"/>
                  <a:pt x="2782152" y="45947"/>
                  <a:pt x="2576322" y="27432"/>
                </a:cubicBezTo>
                <a:cubicBezTo>
                  <a:pt x="2370492" y="8917"/>
                  <a:pt x="2347214" y="14129"/>
                  <a:pt x="2234565" y="27432"/>
                </a:cubicBezTo>
                <a:cubicBezTo>
                  <a:pt x="2121916" y="40735"/>
                  <a:pt x="1785921" y="49081"/>
                  <a:pt x="1472184" y="27432"/>
                </a:cubicBezTo>
                <a:cubicBezTo>
                  <a:pt x="1158447" y="5783"/>
                  <a:pt x="1203910" y="37937"/>
                  <a:pt x="1025271" y="27432"/>
                </a:cubicBezTo>
                <a:cubicBezTo>
                  <a:pt x="846632" y="16927"/>
                  <a:pt x="846577" y="17996"/>
                  <a:pt x="683514" y="27432"/>
                </a:cubicBezTo>
                <a:cubicBezTo>
                  <a:pt x="520451" y="36868"/>
                  <a:pt x="320799" y="46677"/>
                  <a:pt x="0" y="27432"/>
                </a:cubicBezTo>
                <a:cubicBezTo>
                  <a:pt x="-510" y="19859"/>
                  <a:pt x="-1106" y="11474"/>
                  <a:pt x="0" y="0"/>
                </a:cubicBezTo>
                <a:close/>
              </a:path>
            </a:pathLst>
          </a:custGeom>
          <a:solidFill>
            <a:schemeClr val="tx1"/>
          </a:solidFill>
          <a:ln w="3810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6719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218C0-6540-400C-BB51-353D5FD5CB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448056"/>
            <a:ext cx="10515600" cy="4069080"/>
          </a:xfrm>
        </p:spPr>
        <p:txBody>
          <a:bodyPr anchor="b">
            <a:normAutofit/>
          </a:bodyPr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81CD69-43B3-4FF7-AA41-30C36C957E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4983480"/>
            <a:ext cx="10515600" cy="1124712"/>
          </a:xfrm>
        </p:spPr>
        <p:txBody>
          <a:bodyPr>
            <a:normAutofit/>
          </a:bodyPr>
          <a:lstStyle>
            <a:lvl1pPr marL="0" indent="0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BF300D-5CBE-47E9-A193-E23C8314D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E7DF3F-C51A-4DB1-9FCE-E3E0D8E92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269CF4-FAAB-44EF-A2A5-8352B4AA3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 descr="Tag=AccentColor&#10;Flavor=Light&#10;Target=FillAndLine">
            <a:extLst>
              <a:ext uri="{FF2B5EF4-FFF2-40B4-BE49-F238E27FC236}">
                <a16:creationId xmlns:a16="http://schemas.microsoft.com/office/drawing/2014/main" id="{417A8947-4521-4FE1-8E44-27363435CE1B}"/>
              </a:ext>
            </a:extLst>
          </p:cNvPr>
          <p:cNvSpPr/>
          <p:nvPr/>
        </p:nvSpPr>
        <p:spPr>
          <a:xfrm>
            <a:off x="838200" y="4736883"/>
            <a:ext cx="4243589" cy="27432"/>
          </a:xfrm>
          <a:custGeom>
            <a:avLst/>
            <a:gdLst>
              <a:gd name="connsiteX0" fmla="*/ 0 w 4243589"/>
              <a:gd name="connsiteY0" fmla="*/ 0 h 27432"/>
              <a:gd name="connsiteX1" fmla="*/ 563791 w 4243589"/>
              <a:gd name="connsiteY1" fmla="*/ 0 h 27432"/>
              <a:gd name="connsiteX2" fmla="*/ 1042710 w 4243589"/>
              <a:gd name="connsiteY2" fmla="*/ 0 h 27432"/>
              <a:gd name="connsiteX3" fmla="*/ 1564066 w 4243589"/>
              <a:gd name="connsiteY3" fmla="*/ 0 h 27432"/>
              <a:gd name="connsiteX4" fmla="*/ 2212729 w 4243589"/>
              <a:gd name="connsiteY4" fmla="*/ 0 h 27432"/>
              <a:gd name="connsiteX5" fmla="*/ 2776520 w 4243589"/>
              <a:gd name="connsiteY5" fmla="*/ 0 h 27432"/>
              <a:gd name="connsiteX6" fmla="*/ 3297875 w 4243589"/>
              <a:gd name="connsiteY6" fmla="*/ 0 h 27432"/>
              <a:gd name="connsiteX7" fmla="*/ 4243589 w 4243589"/>
              <a:gd name="connsiteY7" fmla="*/ 0 h 27432"/>
              <a:gd name="connsiteX8" fmla="*/ 4243589 w 4243589"/>
              <a:gd name="connsiteY8" fmla="*/ 27432 h 27432"/>
              <a:gd name="connsiteX9" fmla="*/ 3637362 w 4243589"/>
              <a:gd name="connsiteY9" fmla="*/ 27432 h 27432"/>
              <a:gd name="connsiteX10" fmla="*/ 3116007 w 4243589"/>
              <a:gd name="connsiteY10" fmla="*/ 27432 h 27432"/>
              <a:gd name="connsiteX11" fmla="*/ 2424908 w 4243589"/>
              <a:gd name="connsiteY11" fmla="*/ 27432 h 27432"/>
              <a:gd name="connsiteX12" fmla="*/ 1861117 w 4243589"/>
              <a:gd name="connsiteY12" fmla="*/ 27432 h 27432"/>
              <a:gd name="connsiteX13" fmla="*/ 1382198 w 4243589"/>
              <a:gd name="connsiteY13" fmla="*/ 27432 h 27432"/>
              <a:gd name="connsiteX14" fmla="*/ 733535 w 4243589"/>
              <a:gd name="connsiteY14" fmla="*/ 27432 h 27432"/>
              <a:gd name="connsiteX15" fmla="*/ 0 w 4243589"/>
              <a:gd name="connsiteY15" fmla="*/ 27432 h 27432"/>
              <a:gd name="connsiteX16" fmla="*/ 0 w 4243589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tx1"/>
          </a:solidFill>
          <a:ln w="3810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07115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DE264-531D-49C1-A8AF-2B4C1D218F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B9A1B8-2F1B-46AA-858A-CFFF5AF7CE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929384"/>
            <a:ext cx="5181600" cy="42519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6B9631-18C0-43BD-8AF3-9137D6D4C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929384"/>
            <a:ext cx="5181600" cy="42519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032FCA-14C6-4497-9C27-3F5806244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1E5057-693B-4E10-958E-0ABE79FEC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0CECB1-0A35-4C10-9D3D-FE4404283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 descr="Tag=AccentColor&#10;Flavor=Light&#10;Target=FillAndLine">
            <a:extLst>
              <a:ext uri="{FF2B5EF4-FFF2-40B4-BE49-F238E27FC236}">
                <a16:creationId xmlns:a16="http://schemas.microsoft.com/office/drawing/2014/main" id="{2FAAC677-2D37-4F63-9C4B-711A2988EE02}"/>
              </a:ext>
            </a:extLst>
          </p:cNvPr>
          <p:cNvSpPr/>
          <p:nvPr/>
        </p:nvSpPr>
        <p:spPr>
          <a:xfrm>
            <a:off x="838199" y="1709928"/>
            <a:ext cx="10515600" cy="27432"/>
          </a:xfrm>
          <a:custGeom>
            <a:avLst/>
            <a:gdLst>
              <a:gd name="connsiteX0" fmla="*/ 0 w 10515600"/>
              <a:gd name="connsiteY0" fmla="*/ 0 h 27432"/>
              <a:gd name="connsiteX1" fmla="*/ 446913 w 10515600"/>
              <a:gd name="connsiteY1" fmla="*/ 0 h 27432"/>
              <a:gd name="connsiteX2" fmla="*/ 1104138 w 10515600"/>
              <a:gd name="connsiteY2" fmla="*/ 0 h 27432"/>
              <a:gd name="connsiteX3" fmla="*/ 1866519 w 10515600"/>
              <a:gd name="connsiteY3" fmla="*/ 0 h 27432"/>
              <a:gd name="connsiteX4" fmla="*/ 2208276 w 10515600"/>
              <a:gd name="connsiteY4" fmla="*/ 0 h 27432"/>
              <a:gd name="connsiteX5" fmla="*/ 2550033 w 10515600"/>
              <a:gd name="connsiteY5" fmla="*/ 0 h 27432"/>
              <a:gd name="connsiteX6" fmla="*/ 3417570 w 10515600"/>
              <a:gd name="connsiteY6" fmla="*/ 0 h 27432"/>
              <a:gd name="connsiteX7" fmla="*/ 4074795 w 10515600"/>
              <a:gd name="connsiteY7" fmla="*/ 0 h 27432"/>
              <a:gd name="connsiteX8" fmla="*/ 4416552 w 10515600"/>
              <a:gd name="connsiteY8" fmla="*/ 0 h 27432"/>
              <a:gd name="connsiteX9" fmla="*/ 5073777 w 10515600"/>
              <a:gd name="connsiteY9" fmla="*/ 0 h 27432"/>
              <a:gd name="connsiteX10" fmla="*/ 5941314 w 10515600"/>
              <a:gd name="connsiteY10" fmla="*/ 0 h 27432"/>
              <a:gd name="connsiteX11" fmla="*/ 6493383 w 10515600"/>
              <a:gd name="connsiteY11" fmla="*/ 0 h 27432"/>
              <a:gd name="connsiteX12" fmla="*/ 7045452 w 10515600"/>
              <a:gd name="connsiteY12" fmla="*/ 0 h 27432"/>
              <a:gd name="connsiteX13" fmla="*/ 7702677 w 10515600"/>
              <a:gd name="connsiteY13" fmla="*/ 0 h 27432"/>
              <a:gd name="connsiteX14" fmla="*/ 8465058 w 10515600"/>
              <a:gd name="connsiteY14" fmla="*/ 0 h 27432"/>
              <a:gd name="connsiteX15" fmla="*/ 9227439 w 10515600"/>
              <a:gd name="connsiteY15" fmla="*/ 0 h 27432"/>
              <a:gd name="connsiteX16" fmla="*/ 10515600 w 10515600"/>
              <a:gd name="connsiteY16" fmla="*/ 0 h 27432"/>
              <a:gd name="connsiteX17" fmla="*/ 10515600 w 10515600"/>
              <a:gd name="connsiteY17" fmla="*/ 27432 h 27432"/>
              <a:gd name="connsiteX18" fmla="*/ 10068687 w 10515600"/>
              <a:gd name="connsiteY18" fmla="*/ 27432 h 27432"/>
              <a:gd name="connsiteX19" fmla="*/ 9201150 w 10515600"/>
              <a:gd name="connsiteY19" fmla="*/ 27432 h 27432"/>
              <a:gd name="connsiteX20" fmla="*/ 8543925 w 10515600"/>
              <a:gd name="connsiteY20" fmla="*/ 27432 h 27432"/>
              <a:gd name="connsiteX21" fmla="*/ 8202168 w 10515600"/>
              <a:gd name="connsiteY21" fmla="*/ 27432 h 27432"/>
              <a:gd name="connsiteX22" fmla="*/ 7544943 w 10515600"/>
              <a:gd name="connsiteY22" fmla="*/ 27432 h 27432"/>
              <a:gd name="connsiteX23" fmla="*/ 6992874 w 10515600"/>
              <a:gd name="connsiteY23" fmla="*/ 27432 h 27432"/>
              <a:gd name="connsiteX24" fmla="*/ 6440805 w 10515600"/>
              <a:gd name="connsiteY24" fmla="*/ 27432 h 27432"/>
              <a:gd name="connsiteX25" fmla="*/ 5888736 w 10515600"/>
              <a:gd name="connsiteY25" fmla="*/ 27432 h 27432"/>
              <a:gd name="connsiteX26" fmla="*/ 5336667 w 10515600"/>
              <a:gd name="connsiteY26" fmla="*/ 27432 h 27432"/>
              <a:gd name="connsiteX27" fmla="*/ 4574286 w 10515600"/>
              <a:gd name="connsiteY27" fmla="*/ 27432 h 27432"/>
              <a:gd name="connsiteX28" fmla="*/ 3917061 w 10515600"/>
              <a:gd name="connsiteY28" fmla="*/ 27432 h 27432"/>
              <a:gd name="connsiteX29" fmla="*/ 3575304 w 10515600"/>
              <a:gd name="connsiteY29" fmla="*/ 27432 h 27432"/>
              <a:gd name="connsiteX30" fmla="*/ 3023235 w 10515600"/>
              <a:gd name="connsiteY30" fmla="*/ 27432 h 27432"/>
              <a:gd name="connsiteX31" fmla="*/ 2260854 w 10515600"/>
              <a:gd name="connsiteY31" fmla="*/ 27432 h 27432"/>
              <a:gd name="connsiteX32" fmla="*/ 1813941 w 10515600"/>
              <a:gd name="connsiteY32" fmla="*/ 27432 h 27432"/>
              <a:gd name="connsiteX33" fmla="*/ 946404 w 10515600"/>
              <a:gd name="connsiteY33" fmla="*/ 27432 h 27432"/>
              <a:gd name="connsiteX34" fmla="*/ 0 w 10515600"/>
              <a:gd name="connsiteY34" fmla="*/ 27432 h 27432"/>
              <a:gd name="connsiteX35" fmla="*/ 0 w 10515600"/>
              <a:gd name="connsiteY35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515600" h="27432" fill="none" extrusionOk="0">
                <a:moveTo>
                  <a:pt x="0" y="0"/>
                </a:moveTo>
                <a:cubicBezTo>
                  <a:pt x="119693" y="-14343"/>
                  <a:pt x="253007" y="-7583"/>
                  <a:pt x="446913" y="0"/>
                </a:cubicBezTo>
                <a:cubicBezTo>
                  <a:pt x="640819" y="7583"/>
                  <a:pt x="841419" y="-7067"/>
                  <a:pt x="1104138" y="0"/>
                </a:cubicBezTo>
                <a:cubicBezTo>
                  <a:pt x="1366858" y="7067"/>
                  <a:pt x="1495525" y="1255"/>
                  <a:pt x="1866519" y="0"/>
                </a:cubicBezTo>
                <a:cubicBezTo>
                  <a:pt x="2237513" y="-1255"/>
                  <a:pt x="2043820" y="12003"/>
                  <a:pt x="2208276" y="0"/>
                </a:cubicBezTo>
                <a:cubicBezTo>
                  <a:pt x="2372732" y="-12003"/>
                  <a:pt x="2419452" y="9887"/>
                  <a:pt x="2550033" y="0"/>
                </a:cubicBezTo>
                <a:cubicBezTo>
                  <a:pt x="2680614" y="-9887"/>
                  <a:pt x="3098156" y="3827"/>
                  <a:pt x="3417570" y="0"/>
                </a:cubicBezTo>
                <a:cubicBezTo>
                  <a:pt x="3736984" y="-3827"/>
                  <a:pt x="3916040" y="-6233"/>
                  <a:pt x="4074795" y="0"/>
                </a:cubicBezTo>
                <a:cubicBezTo>
                  <a:pt x="4233551" y="6233"/>
                  <a:pt x="4279253" y="5661"/>
                  <a:pt x="4416552" y="0"/>
                </a:cubicBezTo>
                <a:cubicBezTo>
                  <a:pt x="4553851" y="-5661"/>
                  <a:pt x="4915758" y="26022"/>
                  <a:pt x="5073777" y="0"/>
                </a:cubicBezTo>
                <a:cubicBezTo>
                  <a:pt x="5231797" y="-26022"/>
                  <a:pt x="5612089" y="32230"/>
                  <a:pt x="5941314" y="0"/>
                </a:cubicBezTo>
                <a:cubicBezTo>
                  <a:pt x="6270539" y="-32230"/>
                  <a:pt x="6313600" y="3064"/>
                  <a:pt x="6493383" y="0"/>
                </a:cubicBezTo>
                <a:cubicBezTo>
                  <a:pt x="6673166" y="-3064"/>
                  <a:pt x="6902474" y="-21096"/>
                  <a:pt x="7045452" y="0"/>
                </a:cubicBezTo>
                <a:cubicBezTo>
                  <a:pt x="7188430" y="21096"/>
                  <a:pt x="7478162" y="17386"/>
                  <a:pt x="7702677" y="0"/>
                </a:cubicBezTo>
                <a:cubicBezTo>
                  <a:pt x="7927192" y="-17386"/>
                  <a:pt x="8295683" y="-35143"/>
                  <a:pt x="8465058" y="0"/>
                </a:cubicBezTo>
                <a:cubicBezTo>
                  <a:pt x="8634433" y="35143"/>
                  <a:pt x="8927835" y="4103"/>
                  <a:pt x="9227439" y="0"/>
                </a:cubicBezTo>
                <a:cubicBezTo>
                  <a:pt x="9527043" y="-4103"/>
                  <a:pt x="10105355" y="-17535"/>
                  <a:pt x="10515600" y="0"/>
                </a:cubicBezTo>
                <a:cubicBezTo>
                  <a:pt x="10515789" y="12323"/>
                  <a:pt x="10515633" y="14639"/>
                  <a:pt x="10515600" y="27432"/>
                </a:cubicBezTo>
                <a:cubicBezTo>
                  <a:pt x="10343646" y="15282"/>
                  <a:pt x="10223667" y="31057"/>
                  <a:pt x="10068687" y="27432"/>
                </a:cubicBezTo>
                <a:cubicBezTo>
                  <a:pt x="9913707" y="23807"/>
                  <a:pt x="9512455" y="4101"/>
                  <a:pt x="9201150" y="27432"/>
                </a:cubicBezTo>
                <a:cubicBezTo>
                  <a:pt x="8889845" y="50763"/>
                  <a:pt x="8866277" y="3158"/>
                  <a:pt x="8543925" y="27432"/>
                </a:cubicBezTo>
                <a:cubicBezTo>
                  <a:pt x="8221573" y="51706"/>
                  <a:pt x="8288348" y="37286"/>
                  <a:pt x="8202168" y="27432"/>
                </a:cubicBezTo>
                <a:cubicBezTo>
                  <a:pt x="8115988" y="17578"/>
                  <a:pt x="7797033" y="6631"/>
                  <a:pt x="7544943" y="27432"/>
                </a:cubicBezTo>
                <a:cubicBezTo>
                  <a:pt x="7292854" y="48233"/>
                  <a:pt x="7108060" y="41767"/>
                  <a:pt x="6992874" y="27432"/>
                </a:cubicBezTo>
                <a:cubicBezTo>
                  <a:pt x="6877688" y="13097"/>
                  <a:pt x="6668930" y="7947"/>
                  <a:pt x="6440805" y="27432"/>
                </a:cubicBezTo>
                <a:cubicBezTo>
                  <a:pt x="6212680" y="46917"/>
                  <a:pt x="6027476" y="35225"/>
                  <a:pt x="5888736" y="27432"/>
                </a:cubicBezTo>
                <a:cubicBezTo>
                  <a:pt x="5749996" y="19639"/>
                  <a:pt x="5574559" y="43627"/>
                  <a:pt x="5336667" y="27432"/>
                </a:cubicBezTo>
                <a:cubicBezTo>
                  <a:pt x="5098775" y="11237"/>
                  <a:pt x="4837534" y="41882"/>
                  <a:pt x="4574286" y="27432"/>
                </a:cubicBezTo>
                <a:cubicBezTo>
                  <a:pt x="4311038" y="12982"/>
                  <a:pt x="4126419" y="26678"/>
                  <a:pt x="3917061" y="27432"/>
                </a:cubicBezTo>
                <a:cubicBezTo>
                  <a:pt x="3707704" y="28186"/>
                  <a:pt x="3657291" y="40087"/>
                  <a:pt x="3575304" y="27432"/>
                </a:cubicBezTo>
                <a:cubicBezTo>
                  <a:pt x="3493317" y="14777"/>
                  <a:pt x="3185226" y="45867"/>
                  <a:pt x="3023235" y="27432"/>
                </a:cubicBezTo>
                <a:cubicBezTo>
                  <a:pt x="2861244" y="8997"/>
                  <a:pt x="2597085" y="35801"/>
                  <a:pt x="2260854" y="27432"/>
                </a:cubicBezTo>
                <a:cubicBezTo>
                  <a:pt x="1924623" y="19063"/>
                  <a:pt x="1996678" y="15705"/>
                  <a:pt x="1813941" y="27432"/>
                </a:cubicBezTo>
                <a:cubicBezTo>
                  <a:pt x="1631204" y="39159"/>
                  <a:pt x="1187542" y="49167"/>
                  <a:pt x="946404" y="27432"/>
                </a:cubicBezTo>
                <a:cubicBezTo>
                  <a:pt x="705266" y="5697"/>
                  <a:pt x="404743" y="28229"/>
                  <a:pt x="0" y="27432"/>
                </a:cubicBezTo>
                <a:cubicBezTo>
                  <a:pt x="244" y="15297"/>
                  <a:pt x="645" y="7129"/>
                  <a:pt x="0" y="0"/>
                </a:cubicBezTo>
                <a:close/>
              </a:path>
              <a:path w="10515600" h="27432" stroke="0" extrusionOk="0">
                <a:moveTo>
                  <a:pt x="0" y="0"/>
                </a:moveTo>
                <a:cubicBezTo>
                  <a:pt x="230793" y="14353"/>
                  <a:pt x="332416" y="21392"/>
                  <a:pt x="552069" y="0"/>
                </a:cubicBezTo>
                <a:cubicBezTo>
                  <a:pt x="771722" y="-21392"/>
                  <a:pt x="761737" y="-14337"/>
                  <a:pt x="893826" y="0"/>
                </a:cubicBezTo>
                <a:cubicBezTo>
                  <a:pt x="1025915" y="14337"/>
                  <a:pt x="1441584" y="-15498"/>
                  <a:pt x="1761363" y="0"/>
                </a:cubicBezTo>
                <a:cubicBezTo>
                  <a:pt x="2081142" y="15498"/>
                  <a:pt x="2111503" y="7278"/>
                  <a:pt x="2313432" y="0"/>
                </a:cubicBezTo>
                <a:cubicBezTo>
                  <a:pt x="2515361" y="-7278"/>
                  <a:pt x="2743584" y="-17845"/>
                  <a:pt x="2865501" y="0"/>
                </a:cubicBezTo>
                <a:cubicBezTo>
                  <a:pt x="2987418" y="17845"/>
                  <a:pt x="3345183" y="8208"/>
                  <a:pt x="3733038" y="0"/>
                </a:cubicBezTo>
                <a:cubicBezTo>
                  <a:pt x="4120893" y="-8208"/>
                  <a:pt x="4009066" y="-3159"/>
                  <a:pt x="4179951" y="0"/>
                </a:cubicBezTo>
                <a:cubicBezTo>
                  <a:pt x="4350836" y="3159"/>
                  <a:pt x="4735020" y="17517"/>
                  <a:pt x="5047488" y="0"/>
                </a:cubicBezTo>
                <a:cubicBezTo>
                  <a:pt x="5359956" y="-17517"/>
                  <a:pt x="5662148" y="-17777"/>
                  <a:pt x="5915025" y="0"/>
                </a:cubicBezTo>
                <a:cubicBezTo>
                  <a:pt x="6167902" y="17777"/>
                  <a:pt x="6308797" y="30350"/>
                  <a:pt x="6572250" y="0"/>
                </a:cubicBezTo>
                <a:cubicBezTo>
                  <a:pt x="6835703" y="-30350"/>
                  <a:pt x="7107419" y="-9627"/>
                  <a:pt x="7439787" y="0"/>
                </a:cubicBezTo>
                <a:cubicBezTo>
                  <a:pt x="7772155" y="9627"/>
                  <a:pt x="7844034" y="-9098"/>
                  <a:pt x="7991856" y="0"/>
                </a:cubicBezTo>
                <a:cubicBezTo>
                  <a:pt x="8139678" y="9098"/>
                  <a:pt x="8289889" y="-20239"/>
                  <a:pt x="8543925" y="0"/>
                </a:cubicBezTo>
                <a:cubicBezTo>
                  <a:pt x="8797961" y="20239"/>
                  <a:pt x="8994198" y="29575"/>
                  <a:pt x="9306306" y="0"/>
                </a:cubicBezTo>
                <a:cubicBezTo>
                  <a:pt x="9618414" y="-29575"/>
                  <a:pt x="9739118" y="-23835"/>
                  <a:pt x="9858375" y="0"/>
                </a:cubicBezTo>
                <a:cubicBezTo>
                  <a:pt x="9977632" y="23835"/>
                  <a:pt x="10370488" y="-4069"/>
                  <a:pt x="10515600" y="0"/>
                </a:cubicBezTo>
                <a:cubicBezTo>
                  <a:pt x="10515650" y="5798"/>
                  <a:pt x="10515903" y="19375"/>
                  <a:pt x="10515600" y="27432"/>
                </a:cubicBezTo>
                <a:cubicBezTo>
                  <a:pt x="10304538" y="42307"/>
                  <a:pt x="10069280" y="3335"/>
                  <a:pt x="9753219" y="27432"/>
                </a:cubicBezTo>
                <a:cubicBezTo>
                  <a:pt x="9437158" y="51529"/>
                  <a:pt x="9488415" y="23852"/>
                  <a:pt x="9411462" y="27432"/>
                </a:cubicBezTo>
                <a:cubicBezTo>
                  <a:pt x="9334509" y="31012"/>
                  <a:pt x="9183755" y="44107"/>
                  <a:pt x="8964549" y="27432"/>
                </a:cubicBezTo>
                <a:cubicBezTo>
                  <a:pt x="8745343" y="10757"/>
                  <a:pt x="8279150" y="61693"/>
                  <a:pt x="8097012" y="27432"/>
                </a:cubicBezTo>
                <a:cubicBezTo>
                  <a:pt x="7914874" y="-6829"/>
                  <a:pt x="7608717" y="59556"/>
                  <a:pt x="7439787" y="27432"/>
                </a:cubicBezTo>
                <a:cubicBezTo>
                  <a:pt x="7270858" y="-4692"/>
                  <a:pt x="7154492" y="27026"/>
                  <a:pt x="6992874" y="27432"/>
                </a:cubicBezTo>
                <a:cubicBezTo>
                  <a:pt x="6831256" y="27838"/>
                  <a:pt x="6536817" y="51174"/>
                  <a:pt x="6335649" y="27432"/>
                </a:cubicBezTo>
                <a:cubicBezTo>
                  <a:pt x="6134481" y="3690"/>
                  <a:pt x="6097824" y="11070"/>
                  <a:pt x="5993892" y="27432"/>
                </a:cubicBezTo>
                <a:cubicBezTo>
                  <a:pt x="5889960" y="43794"/>
                  <a:pt x="5793821" y="34098"/>
                  <a:pt x="5652135" y="27432"/>
                </a:cubicBezTo>
                <a:cubicBezTo>
                  <a:pt x="5510449" y="20766"/>
                  <a:pt x="5168382" y="-3650"/>
                  <a:pt x="4994910" y="27432"/>
                </a:cubicBezTo>
                <a:cubicBezTo>
                  <a:pt x="4821439" y="58514"/>
                  <a:pt x="4653937" y="21362"/>
                  <a:pt x="4547997" y="27432"/>
                </a:cubicBezTo>
                <a:cubicBezTo>
                  <a:pt x="4442057" y="33502"/>
                  <a:pt x="4153363" y="33024"/>
                  <a:pt x="3785616" y="27432"/>
                </a:cubicBezTo>
                <a:cubicBezTo>
                  <a:pt x="3417869" y="21840"/>
                  <a:pt x="3544908" y="29840"/>
                  <a:pt x="3338703" y="27432"/>
                </a:cubicBezTo>
                <a:cubicBezTo>
                  <a:pt x="3132498" y="25024"/>
                  <a:pt x="2782152" y="45947"/>
                  <a:pt x="2576322" y="27432"/>
                </a:cubicBezTo>
                <a:cubicBezTo>
                  <a:pt x="2370492" y="8917"/>
                  <a:pt x="2347214" y="14129"/>
                  <a:pt x="2234565" y="27432"/>
                </a:cubicBezTo>
                <a:cubicBezTo>
                  <a:pt x="2121916" y="40735"/>
                  <a:pt x="1785921" y="49081"/>
                  <a:pt x="1472184" y="27432"/>
                </a:cubicBezTo>
                <a:cubicBezTo>
                  <a:pt x="1158447" y="5783"/>
                  <a:pt x="1203910" y="37937"/>
                  <a:pt x="1025271" y="27432"/>
                </a:cubicBezTo>
                <a:cubicBezTo>
                  <a:pt x="846632" y="16927"/>
                  <a:pt x="846577" y="17996"/>
                  <a:pt x="683514" y="27432"/>
                </a:cubicBezTo>
                <a:cubicBezTo>
                  <a:pt x="520451" y="36868"/>
                  <a:pt x="320799" y="46677"/>
                  <a:pt x="0" y="27432"/>
                </a:cubicBezTo>
                <a:cubicBezTo>
                  <a:pt x="-510" y="19859"/>
                  <a:pt x="-1106" y="11474"/>
                  <a:pt x="0" y="0"/>
                </a:cubicBezTo>
                <a:close/>
              </a:path>
            </a:pathLst>
          </a:custGeom>
          <a:solidFill>
            <a:schemeClr val="tx1"/>
          </a:solidFill>
          <a:ln w="3810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15635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AE282-8875-4F49-AB21-E1C2BCAEA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712EA2-EF8C-4F18-BECF-AD121F7281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938528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36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7B59D4-E93F-40C1-A1A2-F1867830C6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26080"/>
            <a:ext cx="5157787" cy="326440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810616-1C77-42AE-8449-D0B64E2B84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938528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36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74E172-AFE8-48E4-BBB0-CA6D4EC112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26080"/>
            <a:ext cx="5183188" cy="326440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C9407CC-270D-4C98-B95C-7AE67D2E19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5/5/26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4070D5-9B7B-47FC-9F75-F6AD96074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8EAC17-33BE-4265-8C06-644C2D34F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Rectangle 10" descr="Tag=AccentColor&#10;Flavor=Light&#10;Target=FillAndLine">
            <a:extLst>
              <a:ext uri="{FF2B5EF4-FFF2-40B4-BE49-F238E27FC236}">
                <a16:creationId xmlns:a16="http://schemas.microsoft.com/office/drawing/2014/main" id="{F634C457-AEBF-47D7-9200-BAD05D138B12}"/>
              </a:ext>
            </a:extLst>
          </p:cNvPr>
          <p:cNvSpPr/>
          <p:nvPr/>
        </p:nvSpPr>
        <p:spPr>
          <a:xfrm>
            <a:off x="838199" y="1709928"/>
            <a:ext cx="10515600" cy="27432"/>
          </a:xfrm>
          <a:custGeom>
            <a:avLst/>
            <a:gdLst>
              <a:gd name="connsiteX0" fmla="*/ 0 w 10515600"/>
              <a:gd name="connsiteY0" fmla="*/ 0 h 27432"/>
              <a:gd name="connsiteX1" fmla="*/ 446913 w 10515600"/>
              <a:gd name="connsiteY1" fmla="*/ 0 h 27432"/>
              <a:gd name="connsiteX2" fmla="*/ 1104138 w 10515600"/>
              <a:gd name="connsiteY2" fmla="*/ 0 h 27432"/>
              <a:gd name="connsiteX3" fmla="*/ 1866519 w 10515600"/>
              <a:gd name="connsiteY3" fmla="*/ 0 h 27432"/>
              <a:gd name="connsiteX4" fmla="*/ 2208276 w 10515600"/>
              <a:gd name="connsiteY4" fmla="*/ 0 h 27432"/>
              <a:gd name="connsiteX5" fmla="*/ 2550033 w 10515600"/>
              <a:gd name="connsiteY5" fmla="*/ 0 h 27432"/>
              <a:gd name="connsiteX6" fmla="*/ 3417570 w 10515600"/>
              <a:gd name="connsiteY6" fmla="*/ 0 h 27432"/>
              <a:gd name="connsiteX7" fmla="*/ 4074795 w 10515600"/>
              <a:gd name="connsiteY7" fmla="*/ 0 h 27432"/>
              <a:gd name="connsiteX8" fmla="*/ 4416552 w 10515600"/>
              <a:gd name="connsiteY8" fmla="*/ 0 h 27432"/>
              <a:gd name="connsiteX9" fmla="*/ 5073777 w 10515600"/>
              <a:gd name="connsiteY9" fmla="*/ 0 h 27432"/>
              <a:gd name="connsiteX10" fmla="*/ 5941314 w 10515600"/>
              <a:gd name="connsiteY10" fmla="*/ 0 h 27432"/>
              <a:gd name="connsiteX11" fmla="*/ 6493383 w 10515600"/>
              <a:gd name="connsiteY11" fmla="*/ 0 h 27432"/>
              <a:gd name="connsiteX12" fmla="*/ 7045452 w 10515600"/>
              <a:gd name="connsiteY12" fmla="*/ 0 h 27432"/>
              <a:gd name="connsiteX13" fmla="*/ 7702677 w 10515600"/>
              <a:gd name="connsiteY13" fmla="*/ 0 h 27432"/>
              <a:gd name="connsiteX14" fmla="*/ 8465058 w 10515600"/>
              <a:gd name="connsiteY14" fmla="*/ 0 h 27432"/>
              <a:gd name="connsiteX15" fmla="*/ 9227439 w 10515600"/>
              <a:gd name="connsiteY15" fmla="*/ 0 h 27432"/>
              <a:gd name="connsiteX16" fmla="*/ 10515600 w 10515600"/>
              <a:gd name="connsiteY16" fmla="*/ 0 h 27432"/>
              <a:gd name="connsiteX17" fmla="*/ 10515600 w 10515600"/>
              <a:gd name="connsiteY17" fmla="*/ 27432 h 27432"/>
              <a:gd name="connsiteX18" fmla="*/ 10068687 w 10515600"/>
              <a:gd name="connsiteY18" fmla="*/ 27432 h 27432"/>
              <a:gd name="connsiteX19" fmla="*/ 9201150 w 10515600"/>
              <a:gd name="connsiteY19" fmla="*/ 27432 h 27432"/>
              <a:gd name="connsiteX20" fmla="*/ 8543925 w 10515600"/>
              <a:gd name="connsiteY20" fmla="*/ 27432 h 27432"/>
              <a:gd name="connsiteX21" fmla="*/ 8202168 w 10515600"/>
              <a:gd name="connsiteY21" fmla="*/ 27432 h 27432"/>
              <a:gd name="connsiteX22" fmla="*/ 7544943 w 10515600"/>
              <a:gd name="connsiteY22" fmla="*/ 27432 h 27432"/>
              <a:gd name="connsiteX23" fmla="*/ 6992874 w 10515600"/>
              <a:gd name="connsiteY23" fmla="*/ 27432 h 27432"/>
              <a:gd name="connsiteX24" fmla="*/ 6440805 w 10515600"/>
              <a:gd name="connsiteY24" fmla="*/ 27432 h 27432"/>
              <a:gd name="connsiteX25" fmla="*/ 5888736 w 10515600"/>
              <a:gd name="connsiteY25" fmla="*/ 27432 h 27432"/>
              <a:gd name="connsiteX26" fmla="*/ 5336667 w 10515600"/>
              <a:gd name="connsiteY26" fmla="*/ 27432 h 27432"/>
              <a:gd name="connsiteX27" fmla="*/ 4574286 w 10515600"/>
              <a:gd name="connsiteY27" fmla="*/ 27432 h 27432"/>
              <a:gd name="connsiteX28" fmla="*/ 3917061 w 10515600"/>
              <a:gd name="connsiteY28" fmla="*/ 27432 h 27432"/>
              <a:gd name="connsiteX29" fmla="*/ 3575304 w 10515600"/>
              <a:gd name="connsiteY29" fmla="*/ 27432 h 27432"/>
              <a:gd name="connsiteX30" fmla="*/ 3023235 w 10515600"/>
              <a:gd name="connsiteY30" fmla="*/ 27432 h 27432"/>
              <a:gd name="connsiteX31" fmla="*/ 2260854 w 10515600"/>
              <a:gd name="connsiteY31" fmla="*/ 27432 h 27432"/>
              <a:gd name="connsiteX32" fmla="*/ 1813941 w 10515600"/>
              <a:gd name="connsiteY32" fmla="*/ 27432 h 27432"/>
              <a:gd name="connsiteX33" fmla="*/ 946404 w 10515600"/>
              <a:gd name="connsiteY33" fmla="*/ 27432 h 27432"/>
              <a:gd name="connsiteX34" fmla="*/ 0 w 10515600"/>
              <a:gd name="connsiteY34" fmla="*/ 27432 h 27432"/>
              <a:gd name="connsiteX35" fmla="*/ 0 w 10515600"/>
              <a:gd name="connsiteY35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515600" h="27432" fill="none" extrusionOk="0">
                <a:moveTo>
                  <a:pt x="0" y="0"/>
                </a:moveTo>
                <a:cubicBezTo>
                  <a:pt x="119693" y="-14343"/>
                  <a:pt x="253007" y="-7583"/>
                  <a:pt x="446913" y="0"/>
                </a:cubicBezTo>
                <a:cubicBezTo>
                  <a:pt x="640819" y="7583"/>
                  <a:pt x="841419" y="-7067"/>
                  <a:pt x="1104138" y="0"/>
                </a:cubicBezTo>
                <a:cubicBezTo>
                  <a:pt x="1366858" y="7067"/>
                  <a:pt x="1495525" y="1255"/>
                  <a:pt x="1866519" y="0"/>
                </a:cubicBezTo>
                <a:cubicBezTo>
                  <a:pt x="2237513" y="-1255"/>
                  <a:pt x="2043820" y="12003"/>
                  <a:pt x="2208276" y="0"/>
                </a:cubicBezTo>
                <a:cubicBezTo>
                  <a:pt x="2372732" y="-12003"/>
                  <a:pt x="2419452" y="9887"/>
                  <a:pt x="2550033" y="0"/>
                </a:cubicBezTo>
                <a:cubicBezTo>
                  <a:pt x="2680614" y="-9887"/>
                  <a:pt x="3098156" y="3827"/>
                  <a:pt x="3417570" y="0"/>
                </a:cubicBezTo>
                <a:cubicBezTo>
                  <a:pt x="3736984" y="-3827"/>
                  <a:pt x="3916040" y="-6233"/>
                  <a:pt x="4074795" y="0"/>
                </a:cubicBezTo>
                <a:cubicBezTo>
                  <a:pt x="4233551" y="6233"/>
                  <a:pt x="4279253" y="5661"/>
                  <a:pt x="4416552" y="0"/>
                </a:cubicBezTo>
                <a:cubicBezTo>
                  <a:pt x="4553851" y="-5661"/>
                  <a:pt x="4915758" y="26022"/>
                  <a:pt x="5073777" y="0"/>
                </a:cubicBezTo>
                <a:cubicBezTo>
                  <a:pt x="5231797" y="-26022"/>
                  <a:pt x="5612089" y="32230"/>
                  <a:pt x="5941314" y="0"/>
                </a:cubicBezTo>
                <a:cubicBezTo>
                  <a:pt x="6270539" y="-32230"/>
                  <a:pt x="6313600" y="3064"/>
                  <a:pt x="6493383" y="0"/>
                </a:cubicBezTo>
                <a:cubicBezTo>
                  <a:pt x="6673166" y="-3064"/>
                  <a:pt x="6902474" y="-21096"/>
                  <a:pt x="7045452" y="0"/>
                </a:cubicBezTo>
                <a:cubicBezTo>
                  <a:pt x="7188430" y="21096"/>
                  <a:pt x="7478162" y="17386"/>
                  <a:pt x="7702677" y="0"/>
                </a:cubicBezTo>
                <a:cubicBezTo>
                  <a:pt x="7927192" y="-17386"/>
                  <a:pt x="8295683" y="-35143"/>
                  <a:pt x="8465058" y="0"/>
                </a:cubicBezTo>
                <a:cubicBezTo>
                  <a:pt x="8634433" y="35143"/>
                  <a:pt x="8927835" y="4103"/>
                  <a:pt x="9227439" y="0"/>
                </a:cubicBezTo>
                <a:cubicBezTo>
                  <a:pt x="9527043" y="-4103"/>
                  <a:pt x="10105355" y="-17535"/>
                  <a:pt x="10515600" y="0"/>
                </a:cubicBezTo>
                <a:cubicBezTo>
                  <a:pt x="10515789" y="12323"/>
                  <a:pt x="10515633" y="14639"/>
                  <a:pt x="10515600" y="27432"/>
                </a:cubicBezTo>
                <a:cubicBezTo>
                  <a:pt x="10343646" y="15282"/>
                  <a:pt x="10223667" y="31057"/>
                  <a:pt x="10068687" y="27432"/>
                </a:cubicBezTo>
                <a:cubicBezTo>
                  <a:pt x="9913707" y="23807"/>
                  <a:pt x="9512455" y="4101"/>
                  <a:pt x="9201150" y="27432"/>
                </a:cubicBezTo>
                <a:cubicBezTo>
                  <a:pt x="8889845" y="50763"/>
                  <a:pt x="8866277" y="3158"/>
                  <a:pt x="8543925" y="27432"/>
                </a:cubicBezTo>
                <a:cubicBezTo>
                  <a:pt x="8221573" y="51706"/>
                  <a:pt x="8288348" y="37286"/>
                  <a:pt x="8202168" y="27432"/>
                </a:cubicBezTo>
                <a:cubicBezTo>
                  <a:pt x="8115988" y="17578"/>
                  <a:pt x="7797033" y="6631"/>
                  <a:pt x="7544943" y="27432"/>
                </a:cubicBezTo>
                <a:cubicBezTo>
                  <a:pt x="7292854" y="48233"/>
                  <a:pt x="7108060" y="41767"/>
                  <a:pt x="6992874" y="27432"/>
                </a:cubicBezTo>
                <a:cubicBezTo>
                  <a:pt x="6877688" y="13097"/>
                  <a:pt x="6668930" y="7947"/>
                  <a:pt x="6440805" y="27432"/>
                </a:cubicBezTo>
                <a:cubicBezTo>
                  <a:pt x="6212680" y="46917"/>
                  <a:pt x="6027476" y="35225"/>
                  <a:pt x="5888736" y="27432"/>
                </a:cubicBezTo>
                <a:cubicBezTo>
                  <a:pt x="5749996" y="19639"/>
                  <a:pt x="5574559" y="43627"/>
                  <a:pt x="5336667" y="27432"/>
                </a:cubicBezTo>
                <a:cubicBezTo>
                  <a:pt x="5098775" y="11237"/>
                  <a:pt x="4837534" y="41882"/>
                  <a:pt x="4574286" y="27432"/>
                </a:cubicBezTo>
                <a:cubicBezTo>
                  <a:pt x="4311038" y="12982"/>
                  <a:pt x="4126419" y="26678"/>
                  <a:pt x="3917061" y="27432"/>
                </a:cubicBezTo>
                <a:cubicBezTo>
                  <a:pt x="3707704" y="28186"/>
                  <a:pt x="3657291" y="40087"/>
                  <a:pt x="3575304" y="27432"/>
                </a:cubicBezTo>
                <a:cubicBezTo>
                  <a:pt x="3493317" y="14777"/>
                  <a:pt x="3185226" y="45867"/>
                  <a:pt x="3023235" y="27432"/>
                </a:cubicBezTo>
                <a:cubicBezTo>
                  <a:pt x="2861244" y="8997"/>
                  <a:pt x="2597085" y="35801"/>
                  <a:pt x="2260854" y="27432"/>
                </a:cubicBezTo>
                <a:cubicBezTo>
                  <a:pt x="1924623" y="19063"/>
                  <a:pt x="1996678" y="15705"/>
                  <a:pt x="1813941" y="27432"/>
                </a:cubicBezTo>
                <a:cubicBezTo>
                  <a:pt x="1631204" y="39159"/>
                  <a:pt x="1187542" y="49167"/>
                  <a:pt x="946404" y="27432"/>
                </a:cubicBezTo>
                <a:cubicBezTo>
                  <a:pt x="705266" y="5697"/>
                  <a:pt x="404743" y="28229"/>
                  <a:pt x="0" y="27432"/>
                </a:cubicBezTo>
                <a:cubicBezTo>
                  <a:pt x="244" y="15297"/>
                  <a:pt x="645" y="7129"/>
                  <a:pt x="0" y="0"/>
                </a:cubicBezTo>
                <a:close/>
              </a:path>
              <a:path w="10515600" h="27432" stroke="0" extrusionOk="0">
                <a:moveTo>
                  <a:pt x="0" y="0"/>
                </a:moveTo>
                <a:cubicBezTo>
                  <a:pt x="230793" y="14353"/>
                  <a:pt x="332416" y="21392"/>
                  <a:pt x="552069" y="0"/>
                </a:cubicBezTo>
                <a:cubicBezTo>
                  <a:pt x="771722" y="-21392"/>
                  <a:pt x="761737" y="-14337"/>
                  <a:pt x="893826" y="0"/>
                </a:cubicBezTo>
                <a:cubicBezTo>
                  <a:pt x="1025915" y="14337"/>
                  <a:pt x="1441584" y="-15498"/>
                  <a:pt x="1761363" y="0"/>
                </a:cubicBezTo>
                <a:cubicBezTo>
                  <a:pt x="2081142" y="15498"/>
                  <a:pt x="2111503" y="7278"/>
                  <a:pt x="2313432" y="0"/>
                </a:cubicBezTo>
                <a:cubicBezTo>
                  <a:pt x="2515361" y="-7278"/>
                  <a:pt x="2743584" y="-17845"/>
                  <a:pt x="2865501" y="0"/>
                </a:cubicBezTo>
                <a:cubicBezTo>
                  <a:pt x="2987418" y="17845"/>
                  <a:pt x="3345183" y="8208"/>
                  <a:pt x="3733038" y="0"/>
                </a:cubicBezTo>
                <a:cubicBezTo>
                  <a:pt x="4120893" y="-8208"/>
                  <a:pt x="4009066" y="-3159"/>
                  <a:pt x="4179951" y="0"/>
                </a:cubicBezTo>
                <a:cubicBezTo>
                  <a:pt x="4350836" y="3159"/>
                  <a:pt x="4735020" y="17517"/>
                  <a:pt x="5047488" y="0"/>
                </a:cubicBezTo>
                <a:cubicBezTo>
                  <a:pt x="5359956" y="-17517"/>
                  <a:pt x="5662148" y="-17777"/>
                  <a:pt x="5915025" y="0"/>
                </a:cubicBezTo>
                <a:cubicBezTo>
                  <a:pt x="6167902" y="17777"/>
                  <a:pt x="6308797" y="30350"/>
                  <a:pt x="6572250" y="0"/>
                </a:cubicBezTo>
                <a:cubicBezTo>
                  <a:pt x="6835703" y="-30350"/>
                  <a:pt x="7107419" y="-9627"/>
                  <a:pt x="7439787" y="0"/>
                </a:cubicBezTo>
                <a:cubicBezTo>
                  <a:pt x="7772155" y="9627"/>
                  <a:pt x="7844034" y="-9098"/>
                  <a:pt x="7991856" y="0"/>
                </a:cubicBezTo>
                <a:cubicBezTo>
                  <a:pt x="8139678" y="9098"/>
                  <a:pt x="8289889" y="-20239"/>
                  <a:pt x="8543925" y="0"/>
                </a:cubicBezTo>
                <a:cubicBezTo>
                  <a:pt x="8797961" y="20239"/>
                  <a:pt x="8994198" y="29575"/>
                  <a:pt x="9306306" y="0"/>
                </a:cubicBezTo>
                <a:cubicBezTo>
                  <a:pt x="9618414" y="-29575"/>
                  <a:pt x="9739118" y="-23835"/>
                  <a:pt x="9858375" y="0"/>
                </a:cubicBezTo>
                <a:cubicBezTo>
                  <a:pt x="9977632" y="23835"/>
                  <a:pt x="10370488" y="-4069"/>
                  <a:pt x="10515600" y="0"/>
                </a:cubicBezTo>
                <a:cubicBezTo>
                  <a:pt x="10515650" y="5798"/>
                  <a:pt x="10515903" y="19375"/>
                  <a:pt x="10515600" y="27432"/>
                </a:cubicBezTo>
                <a:cubicBezTo>
                  <a:pt x="10304538" y="42307"/>
                  <a:pt x="10069280" y="3335"/>
                  <a:pt x="9753219" y="27432"/>
                </a:cubicBezTo>
                <a:cubicBezTo>
                  <a:pt x="9437158" y="51529"/>
                  <a:pt x="9488415" y="23852"/>
                  <a:pt x="9411462" y="27432"/>
                </a:cubicBezTo>
                <a:cubicBezTo>
                  <a:pt x="9334509" y="31012"/>
                  <a:pt x="9183755" y="44107"/>
                  <a:pt x="8964549" y="27432"/>
                </a:cubicBezTo>
                <a:cubicBezTo>
                  <a:pt x="8745343" y="10757"/>
                  <a:pt x="8279150" y="61693"/>
                  <a:pt x="8097012" y="27432"/>
                </a:cubicBezTo>
                <a:cubicBezTo>
                  <a:pt x="7914874" y="-6829"/>
                  <a:pt x="7608717" y="59556"/>
                  <a:pt x="7439787" y="27432"/>
                </a:cubicBezTo>
                <a:cubicBezTo>
                  <a:pt x="7270858" y="-4692"/>
                  <a:pt x="7154492" y="27026"/>
                  <a:pt x="6992874" y="27432"/>
                </a:cubicBezTo>
                <a:cubicBezTo>
                  <a:pt x="6831256" y="27838"/>
                  <a:pt x="6536817" y="51174"/>
                  <a:pt x="6335649" y="27432"/>
                </a:cubicBezTo>
                <a:cubicBezTo>
                  <a:pt x="6134481" y="3690"/>
                  <a:pt x="6097824" y="11070"/>
                  <a:pt x="5993892" y="27432"/>
                </a:cubicBezTo>
                <a:cubicBezTo>
                  <a:pt x="5889960" y="43794"/>
                  <a:pt x="5793821" y="34098"/>
                  <a:pt x="5652135" y="27432"/>
                </a:cubicBezTo>
                <a:cubicBezTo>
                  <a:pt x="5510449" y="20766"/>
                  <a:pt x="5168382" y="-3650"/>
                  <a:pt x="4994910" y="27432"/>
                </a:cubicBezTo>
                <a:cubicBezTo>
                  <a:pt x="4821439" y="58514"/>
                  <a:pt x="4653937" y="21362"/>
                  <a:pt x="4547997" y="27432"/>
                </a:cubicBezTo>
                <a:cubicBezTo>
                  <a:pt x="4442057" y="33502"/>
                  <a:pt x="4153363" y="33024"/>
                  <a:pt x="3785616" y="27432"/>
                </a:cubicBezTo>
                <a:cubicBezTo>
                  <a:pt x="3417869" y="21840"/>
                  <a:pt x="3544908" y="29840"/>
                  <a:pt x="3338703" y="27432"/>
                </a:cubicBezTo>
                <a:cubicBezTo>
                  <a:pt x="3132498" y="25024"/>
                  <a:pt x="2782152" y="45947"/>
                  <a:pt x="2576322" y="27432"/>
                </a:cubicBezTo>
                <a:cubicBezTo>
                  <a:pt x="2370492" y="8917"/>
                  <a:pt x="2347214" y="14129"/>
                  <a:pt x="2234565" y="27432"/>
                </a:cubicBezTo>
                <a:cubicBezTo>
                  <a:pt x="2121916" y="40735"/>
                  <a:pt x="1785921" y="49081"/>
                  <a:pt x="1472184" y="27432"/>
                </a:cubicBezTo>
                <a:cubicBezTo>
                  <a:pt x="1158447" y="5783"/>
                  <a:pt x="1203910" y="37937"/>
                  <a:pt x="1025271" y="27432"/>
                </a:cubicBezTo>
                <a:cubicBezTo>
                  <a:pt x="846632" y="16927"/>
                  <a:pt x="846577" y="17996"/>
                  <a:pt x="683514" y="27432"/>
                </a:cubicBezTo>
                <a:cubicBezTo>
                  <a:pt x="520451" y="36868"/>
                  <a:pt x="320799" y="46677"/>
                  <a:pt x="0" y="27432"/>
                </a:cubicBezTo>
                <a:cubicBezTo>
                  <a:pt x="-510" y="19859"/>
                  <a:pt x="-1106" y="11474"/>
                  <a:pt x="0" y="0"/>
                </a:cubicBezTo>
                <a:close/>
              </a:path>
            </a:pathLst>
          </a:custGeom>
          <a:solidFill>
            <a:schemeClr val="tx1"/>
          </a:solidFill>
          <a:ln w="3810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75991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EE9AC0-40CD-4451-BF00-5E2FC7B745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3704" y="1728216"/>
            <a:ext cx="7781544" cy="3392424"/>
          </a:xfrm>
        </p:spPr>
        <p:txBody>
          <a:bodyPr>
            <a:normAutofit/>
          </a:bodyPr>
          <a:lstStyle>
            <a:lvl1pPr algn="ctr">
              <a:defRPr sz="7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FD9A32-9C83-452B-BC69-CC6E95D3C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5/5/26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87B83E-E23E-42DE-876D-F55908A97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1C03A8-D428-4010-B413-13B1E9922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6" descr="Tag=AccentColor&#10;Flavor=Light&#10;Target=FillAndLine">
            <a:extLst>
              <a:ext uri="{FF2B5EF4-FFF2-40B4-BE49-F238E27FC236}">
                <a16:creationId xmlns:a16="http://schemas.microsoft.com/office/drawing/2014/main" id="{17F03060-85EC-4182-8C18-C6EE0D373E4B}"/>
              </a:ext>
            </a:extLst>
          </p:cNvPr>
          <p:cNvSpPr/>
          <p:nvPr/>
        </p:nvSpPr>
        <p:spPr>
          <a:xfrm>
            <a:off x="3974206" y="5126892"/>
            <a:ext cx="4243589" cy="27432"/>
          </a:xfrm>
          <a:custGeom>
            <a:avLst/>
            <a:gdLst>
              <a:gd name="connsiteX0" fmla="*/ 0 w 4243589"/>
              <a:gd name="connsiteY0" fmla="*/ 0 h 27432"/>
              <a:gd name="connsiteX1" fmla="*/ 563791 w 4243589"/>
              <a:gd name="connsiteY1" fmla="*/ 0 h 27432"/>
              <a:gd name="connsiteX2" fmla="*/ 1042710 w 4243589"/>
              <a:gd name="connsiteY2" fmla="*/ 0 h 27432"/>
              <a:gd name="connsiteX3" fmla="*/ 1564066 w 4243589"/>
              <a:gd name="connsiteY3" fmla="*/ 0 h 27432"/>
              <a:gd name="connsiteX4" fmla="*/ 2212729 w 4243589"/>
              <a:gd name="connsiteY4" fmla="*/ 0 h 27432"/>
              <a:gd name="connsiteX5" fmla="*/ 2776520 w 4243589"/>
              <a:gd name="connsiteY5" fmla="*/ 0 h 27432"/>
              <a:gd name="connsiteX6" fmla="*/ 3297875 w 4243589"/>
              <a:gd name="connsiteY6" fmla="*/ 0 h 27432"/>
              <a:gd name="connsiteX7" fmla="*/ 4243589 w 4243589"/>
              <a:gd name="connsiteY7" fmla="*/ 0 h 27432"/>
              <a:gd name="connsiteX8" fmla="*/ 4243589 w 4243589"/>
              <a:gd name="connsiteY8" fmla="*/ 27432 h 27432"/>
              <a:gd name="connsiteX9" fmla="*/ 3637362 w 4243589"/>
              <a:gd name="connsiteY9" fmla="*/ 27432 h 27432"/>
              <a:gd name="connsiteX10" fmla="*/ 3116007 w 4243589"/>
              <a:gd name="connsiteY10" fmla="*/ 27432 h 27432"/>
              <a:gd name="connsiteX11" fmla="*/ 2424908 w 4243589"/>
              <a:gd name="connsiteY11" fmla="*/ 27432 h 27432"/>
              <a:gd name="connsiteX12" fmla="*/ 1861117 w 4243589"/>
              <a:gd name="connsiteY12" fmla="*/ 27432 h 27432"/>
              <a:gd name="connsiteX13" fmla="*/ 1382198 w 4243589"/>
              <a:gd name="connsiteY13" fmla="*/ 27432 h 27432"/>
              <a:gd name="connsiteX14" fmla="*/ 733535 w 4243589"/>
              <a:gd name="connsiteY14" fmla="*/ 27432 h 27432"/>
              <a:gd name="connsiteX15" fmla="*/ 0 w 4243589"/>
              <a:gd name="connsiteY15" fmla="*/ 27432 h 27432"/>
              <a:gd name="connsiteX16" fmla="*/ 0 w 4243589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tx1"/>
          </a:solidFill>
          <a:ln w="3810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36065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2816A0-77C4-4A3F-87BD-A7321E3C8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5/5/26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FC3464-F026-4C77-9441-55ECA5054D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7D9257-BADE-4D0B-AF0B-D09FE95FA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0042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1C48E-F751-45A2-9010-208B81EDB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342900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501F6-8430-4758-8636-74D68E990E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03520" y="548640"/>
            <a:ext cx="6053328" cy="5431536"/>
          </a:xfrm>
        </p:spPr>
        <p:txBody>
          <a:bodyPr anchor="ctr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79DC39-A29C-494C-98B6-999746C5F3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3977640"/>
            <a:ext cx="3932237" cy="2002536"/>
          </a:xfrm>
        </p:spPr>
        <p:txBody>
          <a:bodyPr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84C988-A6DB-469A-B8AA-31866F36E8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BC39C3-81EB-4828-9AD3-2F1FAC521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59376C-9810-49A5-BC9A-4E6A02175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6" descr="Tag=AccentColor&#10;Flavor=Light&#10;Target=FillAndLine">
            <a:extLst>
              <a:ext uri="{FF2B5EF4-FFF2-40B4-BE49-F238E27FC236}">
                <a16:creationId xmlns:a16="http://schemas.microsoft.com/office/drawing/2014/main" id="{B9F96F3A-E64D-4401-B02C-BCD5CAA97CFF}"/>
              </a:ext>
            </a:extLst>
          </p:cNvPr>
          <p:cNvSpPr/>
          <p:nvPr/>
        </p:nvSpPr>
        <p:spPr>
          <a:xfrm rot="5400000">
            <a:off x="2797492" y="3254143"/>
            <a:ext cx="4480560" cy="27432"/>
          </a:xfrm>
          <a:custGeom>
            <a:avLst/>
            <a:gdLst>
              <a:gd name="connsiteX0" fmla="*/ 0 w 4480560"/>
              <a:gd name="connsiteY0" fmla="*/ 0 h 27432"/>
              <a:gd name="connsiteX1" fmla="*/ 595274 w 4480560"/>
              <a:gd name="connsiteY1" fmla="*/ 0 h 27432"/>
              <a:gd name="connsiteX2" fmla="*/ 1100938 w 4480560"/>
              <a:gd name="connsiteY2" fmla="*/ 0 h 27432"/>
              <a:gd name="connsiteX3" fmla="*/ 1651406 w 4480560"/>
              <a:gd name="connsiteY3" fmla="*/ 0 h 27432"/>
              <a:gd name="connsiteX4" fmla="*/ 2336292 w 4480560"/>
              <a:gd name="connsiteY4" fmla="*/ 0 h 27432"/>
              <a:gd name="connsiteX5" fmla="*/ 2931566 w 4480560"/>
              <a:gd name="connsiteY5" fmla="*/ 0 h 27432"/>
              <a:gd name="connsiteX6" fmla="*/ 3482035 w 4480560"/>
              <a:gd name="connsiteY6" fmla="*/ 0 h 27432"/>
              <a:gd name="connsiteX7" fmla="*/ 4480560 w 4480560"/>
              <a:gd name="connsiteY7" fmla="*/ 0 h 27432"/>
              <a:gd name="connsiteX8" fmla="*/ 4480560 w 4480560"/>
              <a:gd name="connsiteY8" fmla="*/ 27432 h 27432"/>
              <a:gd name="connsiteX9" fmla="*/ 3840480 w 4480560"/>
              <a:gd name="connsiteY9" fmla="*/ 27432 h 27432"/>
              <a:gd name="connsiteX10" fmla="*/ 3290011 w 4480560"/>
              <a:gd name="connsiteY10" fmla="*/ 27432 h 27432"/>
              <a:gd name="connsiteX11" fmla="*/ 2560320 w 4480560"/>
              <a:gd name="connsiteY11" fmla="*/ 27432 h 27432"/>
              <a:gd name="connsiteX12" fmla="*/ 1965046 w 4480560"/>
              <a:gd name="connsiteY12" fmla="*/ 27432 h 27432"/>
              <a:gd name="connsiteX13" fmla="*/ 1459382 w 4480560"/>
              <a:gd name="connsiteY13" fmla="*/ 27432 h 27432"/>
              <a:gd name="connsiteX14" fmla="*/ 774497 w 4480560"/>
              <a:gd name="connsiteY14" fmla="*/ 27432 h 27432"/>
              <a:gd name="connsiteX15" fmla="*/ 0 w 4480560"/>
              <a:gd name="connsiteY15" fmla="*/ 27432 h 27432"/>
              <a:gd name="connsiteX16" fmla="*/ 0 w 4480560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27432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79587" y="8304"/>
                  <a:pt x="4480082" y="21512"/>
                  <a:pt x="4480560" y="27432"/>
                </a:cubicBezTo>
                <a:cubicBezTo>
                  <a:pt x="4314132" y="24068"/>
                  <a:pt x="4028383" y="45776"/>
                  <a:pt x="3840480" y="27432"/>
                </a:cubicBezTo>
                <a:cubicBezTo>
                  <a:pt x="3652577" y="9088"/>
                  <a:pt x="3547615" y="11992"/>
                  <a:pt x="3290011" y="27432"/>
                </a:cubicBezTo>
                <a:cubicBezTo>
                  <a:pt x="3032407" y="42872"/>
                  <a:pt x="2830268" y="17863"/>
                  <a:pt x="2560320" y="27432"/>
                </a:cubicBezTo>
                <a:cubicBezTo>
                  <a:pt x="2290372" y="37001"/>
                  <a:pt x="2147422" y="15872"/>
                  <a:pt x="1965046" y="27432"/>
                </a:cubicBezTo>
                <a:cubicBezTo>
                  <a:pt x="1782670" y="38992"/>
                  <a:pt x="1689791" y="49824"/>
                  <a:pt x="1459382" y="27432"/>
                </a:cubicBezTo>
                <a:cubicBezTo>
                  <a:pt x="1228973" y="5040"/>
                  <a:pt x="915486" y="45645"/>
                  <a:pt x="774497" y="27432"/>
                </a:cubicBezTo>
                <a:cubicBezTo>
                  <a:pt x="633508" y="9219"/>
                  <a:pt x="361442" y="-1963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480560" h="27432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1045" y="9333"/>
                  <a:pt x="4481838" y="19699"/>
                  <a:pt x="4480560" y="27432"/>
                </a:cubicBezTo>
                <a:cubicBezTo>
                  <a:pt x="4279652" y="2294"/>
                  <a:pt x="4200762" y="50710"/>
                  <a:pt x="3930091" y="27432"/>
                </a:cubicBezTo>
                <a:cubicBezTo>
                  <a:pt x="3659420" y="4154"/>
                  <a:pt x="3456052" y="31438"/>
                  <a:pt x="3290011" y="27432"/>
                </a:cubicBezTo>
                <a:cubicBezTo>
                  <a:pt x="3123970" y="23426"/>
                  <a:pt x="2882392" y="41962"/>
                  <a:pt x="2649931" y="27432"/>
                </a:cubicBezTo>
                <a:cubicBezTo>
                  <a:pt x="2417470" y="12902"/>
                  <a:pt x="2238426" y="16481"/>
                  <a:pt x="2054657" y="27432"/>
                </a:cubicBezTo>
                <a:cubicBezTo>
                  <a:pt x="1870888" y="38383"/>
                  <a:pt x="1566368" y="54184"/>
                  <a:pt x="1324966" y="27432"/>
                </a:cubicBezTo>
                <a:cubicBezTo>
                  <a:pt x="1083564" y="680"/>
                  <a:pt x="787410" y="20090"/>
                  <a:pt x="595274" y="27432"/>
                </a:cubicBezTo>
                <a:cubicBezTo>
                  <a:pt x="403138" y="34774"/>
                  <a:pt x="169622" y="19643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tx1"/>
          </a:solidFill>
          <a:ln w="4445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2599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37704-80BD-41B0-8395-41618EC3A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1920" cy="342900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DA4032-EC66-4974-BD30-898B60E4B5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303520" y="548640"/>
            <a:ext cx="6053328" cy="543153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1802D0-5574-4631-BA49-92362F8E40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3977640"/>
            <a:ext cx="3931920" cy="2002536"/>
          </a:xfrm>
        </p:spPr>
        <p:txBody>
          <a:bodyPr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2C2F5B-DDDD-4E64-94A9-99E46F4B0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FA8D36-8865-48E7-8249-ED729A5F7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0F98C3-0B62-4361-8408-A01F70807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6" descr="Tag=AccentColor&#10;Flavor=Light&#10;Target=FillAndLine">
            <a:extLst>
              <a:ext uri="{FF2B5EF4-FFF2-40B4-BE49-F238E27FC236}">
                <a16:creationId xmlns:a16="http://schemas.microsoft.com/office/drawing/2014/main" id="{FE511AB6-FEAF-4549-BA88-0764BD10B63D}"/>
              </a:ext>
            </a:extLst>
          </p:cNvPr>
          <p:cNvSpPr/>
          <p:nvPr/>
        </p:nvSpPr>
        <p:spPr>
          <a:xfrm rot="5400000">
            <a:off x="2798064" y="3254143"/>
            <a:ext cx="4480560" cy="27432"/>
          </a:xfrm>
          <a:custGeom>
            <a:avLst/>
            <a:gdLst>
              <a:gd name="connsiteX0" fmla="*/ 0 w 4480560"/>
              <a:gd name="connsiteY0" fmla="*/ 0 h 27432"/>
              <a:gd name="connsiteX1" fmla="*/ 595274 w 4480560"/>
              <a:gd name="connsiteY1" fmla="*/ 0 h 27432"/>
              <a:gd name="connsiteX2" fmla="*/ 1100938 w 4480560"/>
              <a:gd name="connsiteY2" fmla="*/ 0 h 27432"/>
              <a:gd name="connsiteX3" fmla="*/ 1651406 w 4480560"/>
              <a:gd name="connsiteY3" fmla="*/ 0 h 27432"/>
              <a:gd name="connsiteX4" fmla="*/ 2336292 w 4480560"/>
              <a:gd name="connsiteY4" fmla="*/ 0 h 27432"/>
              <a:gd name="connsiteX5" fmla="*/ 2931566 w 4480560"/>
              <a:gd name="connsiteY5" fmla="*/ 0 h 27432"/>
              <a:gd name="connsiteX6" fmla="*/ 3482035 w 4480560"/>
              <a:gd name="connsiteY6" fmla="*/ 0 h 27432"/>
              <a:gd name="connsiteX7" fmla="*/ 4480560 w 4480560"/>
              <a:gd name="connsiteY7" fmla="*/ 0 h 27432"/>
              <a:gd name="connsiteX8" fmla="*/ 4480560 w 4480560"/>
              <a:gd name="connsiteY8" fmla="*/ 27432 h 27432"/>
              <a:gd name="connsiteX9" fmla="*/ 3840480 w 4480560"/>
              <a:gd name="connsiteY9" fmla="*/ 27432 h 27432"/>
              <a:gd name="connsiteX10" fmla="*/ 3290011 w 4480560"/>
              <a:gd name="connsiteY10" fmla="*/ 27432 h 27432"/>
              <a:gd name="connsiteX11" fmla="*/ 2560320 w 4480560"/>
              <a:gd name="connsiteY11" fmla="*/ 27432 h 27432"/>
              <a:gd name="connsiteX12" fmla="*/ 1965046 w 4480560"/>
              <a:gd name="connsiteY12" fmla="*/ 27432 h 27432"/>
              <a:gd name="connsiteX13" fmla="*/ 1459382 w 4480560"/>
              <a:gd name="connsiteY13" fmla="*/ 27432 h 27432"/>
              <a:gd name="connsiteX14" fmla="*/ 774497 w 4480560"/>
              <a:gd name="connsiteY14" fmla="*/ 27432 h 27432"/>
              <a:gd name="connsiteX15" fmla="*/ 0 w 4480560"/>
              <a:gd name="connsiteY15" fmla="*/ 27432 h 27432"/>
              <a:gd name="connsiteX16" fmla="*/ 0 w 4480560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27432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79587" y="8304"/>
                  <a:pt x="4480082" y="21512"/>
                  <a:pt x="4480560" y="27432"/>
                </a:cubicBezTo>
                <a:cubicBezTo>
                  <a:pt x="4314132" y="24068"/>
                  <a:pt x="4028383" y="45776"/>
                  <a:pt x="3840480" y="27432"/>
                </a:cubicBezTo>
                <a:cubicBezTo>
                  <a:pt x="3652577" y="9088"/>
                  <a:pt x="3547615" y="11992"/>
                  <a:pt x="3290011" y="27432"/>
                </a:cubicBezTo>
                <a:cubicBezTo>
                  <a:pt x="3032407" y="42872"/>
                  <a:pt x="2830268" y="17863"/>
                  <a:pt x="2560320" y="27432"/>
                </a:cubicBezTo>
                <a:cubicBezTo>
                  <a:pt x="2290372" y="37001"/>
                  <a:pt x="2147422" y="15872"/>
                  <a:pt x="1965046" y="27432"/>
                </a:cubicBezTo>
                <a:cubicBezTo>
                  <a:pt x="1782670" y="38992"/>
                  <a:pt x="1689791" y="49824"/>
                  <a:pt x="1459382" y="27432"/>
                </a:cubicBezTo>
                <a:cubicBezTo>
                  <a:pt x="1228973" y="5040"/>
                  <a:pt x="915486" y="45645"/>
                  <a:pt x="774497" y="27432"/>
                </a:cubicBezTo>
                <a:cubicBezTo>
                  <a:pt x="633508" y="9219"/>
                  <a:pt x="361442" y="-1963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480560" h="27432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1045" y="9333"/>
                  <a:pt x="4481838" y="19699"/>
                  <a:pt x="4480560" y="27432"/>
                </a:cubicBezTo>
                <a:cubicBezTo>
                  <a:pt x="4279652" y="2294"/>
                  <a:pt x="4200762" y="50710"/>
                  <a:pt x="3930091" y="27432"/>
                </a:cubicBezTo>
                <a:cubicBezTo>
                  <a:pt x="3659420" y="4154"/>
                  <a:pt x="3456052" y="31438"/>
                  <a:pt x="3290011" y="27432"/>
                </a:cubicBezTo>
                <a:cubicBezTo>
                  <a:pt x="3123970" y="23426"/>
                  <a:pt x="2882392" y="41962"/>
                  <a:pt x="2649931" y="27432"/>
                </a:cubicBezTo>
                <a:cubicBezTo>
                  <a:pt x="2417470" y="12902"/>
                  <a:pt x="2238426" y="16481"/>
                  <a:pt x="2054657" y="27432"/>
                </a:cubicBezTo>
                <a:cubicBezTo>
                  <a:pt x="1870888" y="38383"/>
                  <a:pt x="1566368" y="54184"/>
                  <a:pt x="1324966" y="27432"/>
                </a:cubicBezTo>
                <a:cubicBezTo>
                  <a:pt x="1083564" y="680"/>
                  <a:pt x="787410" y="20090"/>
                  <a:pt x="595274" y="27432"/>
                </a:cubicBezTo>
                <a:cubicBezTo>
                  <a:pt x="403138" y="34774"/>
                  <a:pt x="169622" y="19643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tx1"/>
          </a:solidFill>
          <a:ln w="4445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4942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7CF8D-FF51-4FD8-B968-A2C850734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61A953-02EA-491B-A215-AF8420D74D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084D1E-BC98-44E4-8D2C-89CCDC2933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3019EB-9C2B-4833-B72A-1476941597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F6E764-5688-45F5-94ED-A7357D2F5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4318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20E3CB6-3025-40BF-A04B-A7B0CB4C01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DD5CB3-8B24-48C7-89D3-8DCAD36A45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0BC931-E2BF-4C1D-91AA-89F82F8268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48A135-AEE9-4483-957E-3D143318D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8DEFD4-A052-46B3-B2AE-F3091D8A2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1165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72D13B-FFCB-4650-AD3C-CB5037352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CA9470-DF15-46A1-BF0E-8A5367A4B0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3047CB-E94D-482F-BACA-681E96C0EC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45051-2045-45DA-935E-2E3CA1A69ADC}" type="datetimeFigureOut">
              <a:rPr lang="en-US" smtClean="0"/>
              <a:t>5/5/26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FDA4B5-E797-42FC-8B7A-2294DF24A3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8ED201-6D0E-422C-B4EC-566A3DC298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CD31F4-64FA-4BA0-9498-67783267A8C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97507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7" r:id="rId6"/>
    <p:sldLayoutId id="2147483732" r:id="rId7"/>
    <p:sldLayoutId id="2147483733" r:id="rId8"/>
    <p:sldLayoutId id="2147483734" r:id="rId9"/>
    <p:sldLayoutId id="2147483736" r:id="rId10"/>
    <p:sldLayoutId id="2147483735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5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ustomXml" Target="../ink/ink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ustomXml" Target="../ink/ink6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657F69E0-C4B0-4BEC-A689-4F8D877F0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A55803-52BF-13CC-75B8-36FFF0848C3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29670" r="-1" b="-1"/>
          <a:stretch>
            <a:fillRect/>
          </a:stretch>
        </p:blipFill>
        <p:spPr>
          <a:xfrm>
            <a:off x="20" y="10"/>
            <a:ext cx="1218893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761820B-81F0-1F13-AF44-7D26064153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3063240"/>
          </a:xfrm>
        </p:spPr>
        <p:txBody>
          <a:bodyPr>
            <a:normAutofit/>
          </a:bodyPr>
          <a:lstStyle/>
          <a:p>
            <a:pPr algn="ctr"/>
            <a:r>
              <a:rPr lang="en-US" sz="10800"/>
              <a:t>Autoencoder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96AE0F-A146-03B5-3423-5B8AD9E6D6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7048" y="4599432"/>
            <a:ext cx="9144000" cy="1536192"/>
          </a:xfrm>
        </p:spPr>
        <p:txBody>
          <a:bodyPr>
            <a:normAutofit/>
          </a:bodyPr>
          <a:lstStyle/>
          <a:p>
            <a:pPr algn="ctr"/>
            <a:r>
              <a:rPr lang="en-US" sz="3200" dirty="0"/>
              <a:t>Leen Alresheq </a:t>
            </a:r>
          </a:p>
        </p:txBody>
      </p:sp>
      <p:sp>
        <p:nvSpPr>
          <p:cNvPr id="20" name="Rectangle 6">
            <a:extLst>
              <a:ext uri="{FF2B5EF4-FFF2-40B4-BE49-F238E27FC236}">
                <a16:creationId xmlns:a16="http://schemas.microsoft.com/office/drawing/2014/main" id="{9F6380B4-6A1C-481E-8408-B4E6C75B9B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4206" y="4368623"/>
            <a:ext cx="4243589" cy="27432"/>
          </a:xfrm>
          <a:custGeom>
            <a:avLst/>
            <a:gdLst>
              <a:gd name="connsiteX0" fmla="*/ 0 w 4243589"/>
              <a:gd name="connsiteY0" fmla="*/ 0 h 27432"/>
              <a:gd name="connsiteX1" fmla="*/ 563791 w 4243589"/>
              <a:gd name="connsiteY1" fmla="*/ 0 h 27432"/>
              <a:gd name="connsiteX2" fmla="*/ 1042710 w 4243589"/>
              <a:gd name="connsiteY2" fmla="*/ 0 h 27432"/>
              <a:gd name="connsiteX3" fmla="*/ 1564066 w 4243589"/>
              <a:gd name="connsiteY3" fmla="*/ 0 h 27432"/>
              <a:gd name="connsiteX4" fmla="*/ 2212729 w 4243589"/>
              <a:gd name="connsiteY4" fmla="*/ 0 h 27432"/>
              <a:gd name="connsiteX5" fmla="*/ 2776520 w 4243589"/>
              <a:gd name="connsiteY5" fmla="*/ 0 h 27432"/>
              <a:gd name="connsiteX6" fmla="*/ 3297875 w 4243589"/>
              <a:gd name="connsiteY6" fmla="*/ 0 h 27432"/>
              <a:gd name="connsiteX7" fmla="*/ 4243589 w 4243589"/>
              <a:gd name="connsiteY7" fmla="*/ 0 h 27432"/>
              <a:gd name="connsiteX8" fmla="*/ 4243589 w 4243589"/>
              <a:gd name="connsiteY8" fmla="*/ 27432 h 27432"/>
              <a:gd name="connsiteX9" fmla="*/ 3637362 w 4243589"/>
              <a:gd name="connsiteY9" fmla="*/ 27432 h 27432"/>
              <a:gd name="connsiteX10" fmla="*/ 3116007 w 4243589"/>
              <a:gd name="connsiteY10" fmla="*/ 27432 h 27432"/>
              <a:gd name="connsiteX11" fmla="*/ 2424908 w 4243589"/>
              <a:gd name="connsiteY11" fmla="*/ 27432 h 27432"/>
              <a:gd name="connsiteX12" fmla="*/ 1861117 w 4243589"/>
              <a:gd name="connsiteY12" fmla="*/ 27432 h 27432"/>
              <a:gd name="connsiteX13" fmla="*/ 1382198 w 4243589"/>
              <a:gd name="connsiteY13" fmla="*/ 27432 h 27432"/>
              <a:gd name="connsiteX14" fmla="*/ 733535 w 4243589"/>
              <a:gd name="connsiteY14" fmla="*/ 27432 h 27432"/>
              <a:gd name="connsiteX15" fmla="*/ 0 w 4243589"/>
              <a:gd name="connsiteY15" fmla="*/ 27432 h 27432"/>
              <a:gd name="connsiteX16" fmla="*/ 0 w 4243589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tx1"/>
          </a:solidFill>
          <a:ln w="3810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07507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247B6BBF-09F2-4A29-AE4E-3771E29248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FB60D3-9891-A082-CDA2-1F34ADFA5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634029"/>
            <a:ext cx="10921640" cy="1314698"/>
          </a:xfrm>
        </p:spPr>
        <p:txBody>
          <a:bodyPr anchor="ctr">
            <a:normAutofit/>
          </a:bodyPr>
          <a:lstStyle/>
          <a:p>
            <a:pPr algn="ctr"/>
            <a:r>
              <a:rPr lang="en-US" sz="7200"/>
              <a:t>What is an Autoencoder?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35742DD-1B16-4E9D-B715-0D74B4574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648305" y="2241737"/>
            <a:ext cx="10900219" cy="18288"/>
          </a:xfrm>
          <a:custGeom>
            <a:avLst/>
            <a:gdLst>
              <a:gd name="connsiteX0" fmla="*/ 0 w 10900219"/>
              <a:gd name="connsiteY0" fmla="*/ 0 h 18288"/>
              <a:gd name="connsiteX1" fmla="*/ 463259 w 10900219"/>
              <a:gd name="connsiteY1" fmla="*/ 0 h 18288"/>
              <a:gd name="connsiteX2" fmla="*/ 1144523 w 10900219"/>
              <a:gd name="connsiteY2" fmla="*/ 0 h 18288"/>
              <a:gd name="connsiteX3" fmla="*/ 1934789 w 10900219"/>
              <a:gd name="connsiteY3" fmla="*/ 0 h 18288"/>
              <a:gd name="connsiteX4" fmla="*/ 2289046 w 10900219"/>
              <a:gd name="connsiteY4" fmla="*/ 0 h 18288"/>
              <a:gd name="connsiteX5" fmla="*/ 2643303 w 10900219"/>
              <a:gd name="connsiteY5" fmla="*/ 0 h 18288"/>
              <a:gd name="connsiteX6" fmla="*/ 3542571 w 10900219"/>
              <a:gd name="connsiteY6" fmla="*/ 0 h 18288"/>
              <a:gd name="connsiteX7" fmla="*/ 4223835 w 10900219"/>
              <a:gd name="connsiteY7" fmla="*/ 0 h 18288"/>
              <a:gd name="connsiteX8" fmla="*/ 4578092 w 10900219"/>
              <a:gd name="connsiteY8" fmla="*/ 0 h 18288"/>
              <a:gd name="connsiteX9" fmla="*/ 5259356 w 10900219"/>
              <a:gd name="connsiteY9" fmla="*/ 0 h 18288"/>
              <a:gd name="connsiteX10" fmla="*/ 6158624 w 10900219"/>
              <a:gd name="connsiteY10" fmla="*/ 0 h 18288"/>
              <a:gd name="connsiteX11" fmla="*/ 6730885 w 10900219"/>
              <a:gd name="connsiteY11" fmla="*/ 0 h 18288"/>
              <a:gd name="connsiteX12" fmla="*/ 7303147 w 10900219"/>
              <a:gd name="connsiteY12" fmla="*/ 0 h 18288"/>
              <a:gd name="connsiteX13" fmla="*/ 7984410 w 10900219"/>
              <a:gd name="connsiteY13" fmla="*/ 0 h 18288"/>
              <a:gd name="connsiteX14" fmla="*/ 8774676 w 10900219"/>
              <a:gd name="connsiteY14" fmla="*/ 0 h 18288"/>
              <a:gd name="connsiteX15" fmla="*/ 9564942 w 10900219"/>
              <a:gd name="connsiteY15" fmla="*/ 0 h 18288"/>
              <a:gd name="connsiteX16" fmla="*/ 10900219 w 10900219"/>
              <a:gd name="connsiteY16" fmla="*/ 0 h 18288"/>
              <a:gd name="connsiteX17" fmla="*/ 10900219 w 10900219"/>
              <a:gd name="connsiteY17" fmla="*/ 18288 h 18288"/>
              <a:gd name="connsiteX18" fmla="*/ 10436960 w 10900219"/>
              <a:gd name="connsiteY18" fmla="*/ 18288 h 18288"/>
              <a:gd name="connsiteX19" fmla="*/ 9537692 w 10900219"/>
              <a:gd name="connsiteY19" fmla="*/ 18288 h 18288"/>
              <a:gd name="connsiteX20" fmla="*/ 8856428 w 10900219"/>
              <a:gd name="connsiteY20" fmla="*/ 18288 h 18288"/>
              <a:gd name="connsiteX21" fmla="*/ 8502171 w 10900219"/>
              <a:gd name="connsiteY21" fmla="*/ 18288 h 18288"/>
              <a:gd name="connsiteX22" fmla="*/ 7820907 w 10900219"/>
              <a:gd name="connsiteY22" fmla="*/ 18288 h 18288"/>
              <a:gd name="connsiteX23" fmla="*/ 7248646 w 10900219"/>
              <a:gd name="connsiteY23" fmla="*/ 18288 h 18288"/>
              <a:gd name="connsiteX24" fmla="*/ 6676384 w 10900219"/>
              <a:gd name="connsiteY24" fmla="*/ 18288 h 18288"/>
              <a:gd name="connsiteX25" fmla="*/ 6104123 w 10900219"/>
              <a:gd name="connsiteY25" fmla="*/ 18288 h 18288"/>
              <a:gd name="connsiteX26" fmla="*/ 5531861 w 10900219"/>
              <a:gd name="connsiteY26" fmla="*/ 18288 h 18288"/>
              <a:gd name="connsiteX27" fmla="*/ 4741595 w 10900219"/>
              <a:gd name="connsiteY27" fmla="*/ 18288 h 18288"/>
              <a:gd name="connsiteX28" fmla="*/ 4060332 w 10900219"/>
              <a:gd name="connsiteY28" fmla="*/ 18288 h 18288"/>
              <a:gd name="connsiteX29" fmla="*/ 3706074 w 10900219"/>
              <a:gd name="connsiteY29" fmla="*/ 18288 h 18288"/>
              <a:gd name="connsiteX30" fmla="*/ 3133813 w 10900219"/>
              <a:gd name="connsiteY30" fmla="*/ 18288 h 18288"/>
              <a:gd name="connsiteX31" fmla="*/ 2343547 w 10900219"/>
              <a:gd name="connsiteY31" fmla="*/ 18288 h 18288"/>
              <a:gd name="connsiteX32" fmla="*/ 1880288 w 10900219"/>
              <a:gd name="connsiteY32" fmla="*/ 18288 h 18288"/>
              <a:gd name="connsiteX33" fmla="*/ 981020 w 10900219"/>
              <a:gd name="connsiteY33" fmla="*/ 18288 h 18288"/>
              <a:gd name="connsiteX34" fmla="*/ 0 w 10900219"/>
              <a:gd name="connsiteY34" fmla="*/ 18288 h 18288"/>
              <a:gd name="connsiteX35" fmla="*/ 0 w 10900219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900219" h="18288" fill="none" extrusionOk="0">
                <a:moveTo>
                  <a:pt x="0" y="0"/>
                </a:moveTo>
                <a:cubicBezTo>
                  <a:pt x="118469" y="-6619"/>
                  <a:pt x="329397" y="-5525"/>
                  <a:pt x="463259" y="0"/>
                </a:cubicBezTo>
                <a:cubicBezTo>
                  <a:pt x="597121" y="5525"/>
                  <a:pt x="866598" y="4881"/>
                  <a:pt x="1144523" y="0"/>
                </a:cubicBezTo>
                <a:cubicBezTo>
                  <a:pt x="1422448" y="-4881"/>
                  <a:pt x="1761178" y="17159"/>
                  <a:pt x="1934789" y="0"/>
                </a:cubicBezTo>
                <a:cubicBezTo>
                  <a:pt x="2108400" y="-17159"/>
                  <a:pt x="2119134" y="-4032"/>
                  <a:pt x="2289046" y="0"/>
                </a:cubicBezTo>
                <a:cubicBezTo>
                  <a:pt x="2458958" y="4032"/>
                  <a:pt x="2472610" y="15385"/>
                  <a:pt x="2643303" y="0"/>
                </a:cubicBezTo>
                <a:cubicBezTo>
                  <a:pt x="2813996" y="-15385"/>
                  <a:pt x="3334189" y="-21234"/>
                  <a:pt x="3542571" y="0"/>
                </a:cubicBezTo>
                <a:cubicBezTo>
                  <a:pt x="3750953" y="21234"/>
                  <a:pt x="3991639" y="13212"/>
                  <a:pt x="4223835" y="0"/>
                </a:cubicBezTo>
                <a:cubicBezTo>
                  <a:pt x="4456031" y="-13212"/>
                  <a:pt x="4466914" y="13318"/>
                  <a:pt x="4578092" y="0"/>
                </a:cubicBezTo>
                <a:cubicBezTo>
                  <a:pt x="4689270" y="-13318"/>
                  <a:pt x="5120635" y="31363"/>
                  <a:pt x="5259356" y="0"/>
                </a:cubicBezTo>
                <a:cubicBezTo>
                  <a:pt x="5398077" y="-31363"/>
                  <a:pt x="5954119" y="-7091"/>
                  <a:pt x="6158624" y="0"/>
                </a:cubicBezTo>
                <a:cubicBezTo>
                  <a:pt x="6363129" y="7091"/>
                  <a:pt x="6535071" y="-8480"/>
                  <a:pt x="6730885" y="0"/>
                </a:cubicBezTo>
                <a:cubicBezTo>
                  <a:pt x="6926699" y="8480"/>
                  <a:pt x="7091018" y="19194"/>
                  <a:pt x="7303147" y="0"/>
                </a:cubicBezTo>
                <a:cubicBezTo>
                  <a:pt x="7515276" y="-19194"/>
                  <a:pt x="7840361" y="30755"/>
                  <a:pt x="7984410" y="0"/>
                </a:cubicBezTo>
                <a:cubicBezTo>
                  <a:pt x="8128459" y="-30755"/>
                  <a:pt x="8498590" y="39460"/>
                  <a:pt x="8774676" y="0"/>
                </a:cubicBezTo>
                <a:cubicBezTo>
                  <a:pt x="9050762" y="-39460"/>
                  <a:pt x="9204381" y="36508"/>
                  <a:pt x="9564942" y="0"/>
                </a:cubicBezTo>
                <a:cubicBezTo>
                  <a:pt x="9925503" y="-36508"/>
                  <a:pt x="10235542" y="59225"/>
                  <a:pt x="10900219" y="0"/>
                </a:cubicBezTo>
                <a:cubicBezTo>
                  <a:pt x="10900865" y="4451"/>
                  <a:pt x="10900709" y="9226"/>
                  <a:pt x="10900219" y="18288"/>
                </a:cubicBezTo>
                <a:cubicBezTo>
                  <a:pt x="10675942" y="21751"/>
                  <a:pt x="10609372" y="26977"/>
                  <a:pt x="10436960" y="18288"/>
                </a:cubicBezTo>
                <a:cubicBezTo>
                  <a:pt x="10264548" y="9599"/>
                  <a:pt x="9961150" y="-11074"/>
                  <a:pt x="9537692" y="18288"/>
                </a:cubicBezTo>
                <a:cubicBezTo>
                  <a:pt x="9114234" y="47650"/>
                  <a:pt x="9087386" y="35169"/>
                  <a:pt x="8856428" y="18288"/>
                </a:cubicBezTo>
                <a:cubicBezTo>
                  <a:pt x="8625470" y="1407"/>
                  <a:pt x="8634361" y="13786"/>
                  <a:pt x="8502171" y="18288"/>
                </a:cubicBezTo>
                <a:cubicBezTo>
                  <a:pt x="8369981" y="22790"/>
                  <a:pt x="8132296" y="22561"/>
                  <a:pt x="7820907" y="18288"/>
                </a:cubicBezTo>
                <a:cubicBezTo>
                  <a:pt x="7509518" y="14015"/>
                  <a:pt x="7432447" y="29431"/>
                  <a:pt x="7248646" y="18288"/>
                </a:cubicBezTo>
                <a:cubicBezTo>
                  <a:pt x="7064845" y="7145"/>
                  <a:pt x="6954380" y="2746"/>
                  <a:pt x="6676384" y="18288"/>
                </a:cubicBezTo>
                <a:cubicBezTo>
                  <a:pt x="6398388" y="33830"/>
                  <a:pt x="6292480" y="-4579"/>
                  <a:pt x="6104123" y="18288"/>
                </a:cubicBezTo>
                <a:cubicBezTo>
                  <a:pt x="5915766" y="41155"/>
                  <a:pt x="5703359" y="-8437"/>
                  <a:pt x="5531861" y="18288"/>
                </a:cubicBezTo>
                <a:cubicBezTo>
                  <a:pt x="5360363" y="45013"/>
                  <a:pt x="5056784" y="-12121"/>
                  <a:pt x="4741595" y="18288"/>
                </a:cubicBezTo>
                <a:cubicBezTo>
                  <a:pt x="4426406" y="48697"/>
                  <a:pt x="4364529" y="-10910"/>
                  <a:pt x="4060332" y="18288"/>
                </a:cubicBezTo>
                <a:cubicBezTo>
                  <a:pt x="3756135" y="47486"/>
                  <a:pt x="3816049" y="13364"/>
                  <a:pt x="3706074" y="18288"/>
                </a:cubicBezTo>
                <a:cubicBezTo>
                  <a:pt x="3596099" y="23212"/>
                  <a:pt x="3382238" y="37686"/>
                  <a:pt x="3133813" y="18288"/>
                </a:cubicBezTo>
                <a:cubicBezTo>
                  <a:pt x="2885388" y="-1110"/>
                  <a:pt x="2523125" y="15465"/>
                  <a:pt x="2343547" y="18288"/>
                </a:cubicBezTo>
                <a:cubicBezTo>
                  <a:pt x="2163969" y="21111"/>
                  <a:pt x="1985160" y="33196"/>
                  <a:pt x="1880288" y="18288"/>
                </a:cubicBezTo>
                <a:cubicBezTo>
                  <a:pt x="1775416" y="3380"/>
                  <a:pt x="1261751" y="-9914"/>
                  <a:pt x="981020" y="18288"/>
                </a:cubicBezTo>
                <a:cubicBezTo>
                  <a:pt x="700289" y="46490"/>
                  <a:pt x="314212" y="-15659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900219" h="18288" stroke="0" extrusionOk="0">
                <a:moveTo>
                  <a:pt x="0" y="0"/>
                </a:moveTo>
                <a:cubicBezTo>
                  <a:pt x="269624" y="3698"/>
                  <a:pt x="383061" y="-5818"/>
                  <a:pt x="572261" y="0"/>
                </a:cubicBezTo>
                <a:cubicBezTo>
                  <a:pt x="761461" y="5818"/>
                  <a:pt x="826360" y="-1890"/>
                  <a:pt x="926519" y="0"/>
                </a:cubicBezTo>
                <a:cubicBezTo>
                  <a:pt x="1026678" y="1890"/>
                  <a:pt x="1621671" y="-1096"/>
                  <a:pt x="1825787" y="0"/>
                </a:cubicBezTo>
                <a:cubicBezTo>
                  <a:pt x="2029903" y="1096"/>
                  <a:pt x="2212612" y="17145"/>
                  <a:pt x="2398048" y="0"/>
                </a:cubicBezTo>
                <a:cubicBezTo>
                  <a:pt x="2583484" y="-17145"/>
                  <a:pt x="2739759" y="-14168"/>
                  <a:pt x="2970310" y="0"/>
                </a:cubicBezTo>
                <a:cubicBezTo>
                  <a:pt x="3200861" y="14168"/>
                  <a:pt x="3502691" y="33180"/>
                  <a:pt x="3869578" y="0"/>
                </a:cubicBezTo>
                <a:cubicBezTo>
                  <a:pt x="4236465" y="-33180"/>
                  <a:pt x="4122134" y="-10470"/>
                  <a:pt x="4332837" y="0"/>
                </a:cubicBezTo>
                <a:cubicBezTo>
                  <a:pt x="4543540" y="10470"/>
                  <a:pt x="4834652" y="3572"/>
                  <a:pt x="5232105" y="0"/>
                </a:cubicBezTo>
                <a:cubicBezTo>
                  <a:pt x="5629558" y="-3572"/>
                  <a:pt x="5773178" y="-6604"/>
                  <a:pt x="6131373" y="0"/>
                </a:cubicBezTo>
                <a:cubicBezTo>
                  <a:pt x="6489568" y="6604"/>
                  <a:pt x="6621532" y="18870"/>
                  <a:pt x="6812637" y="0"/>
                </a:cubicBezTo>
                <a:cubicBezTo>
                  <a:pt x="7003742" y="-18870"/>
                  <a:pt x="7311146" y="18959"/>
                  <a:pt x="7711905" y="0"/>
                </a:cubicBezTo>
                <a:cubicBezTo>
                  <a:pt x="8112664" y="-18959"/>
                  <a:pt x="8080793" y="-24744"/>
                  <a:pt x="8284166" y="0"/>
                </a:cubicBezTo>
                <a:cubicBezTo>
                  <a:pt x="8487539" y="24744"/>
                  <a:pt x="8615041" y="-1627"/>
                  <a:pt x="8856428" y="0"/>
                </a:cubicBezTo>
                <a:cubicBezTo>
                  <a:pt x="9097815" y="1627"/>
                  <a:pt x="9475052" y="26322"/>
                  <a:pt x="9646694" y="0"/>
                </a:cubicBezTo>
                <a:cubicBezTo>
                  <a:pt x="9818336" y="-26322"/>
                  <a:pt x="9938906" y="-121"/>
                  <a:pt x="10218955" y="0"/>
                </a:cubicBezTo>
                <a:cubicBezTo>
                  <a:pt x="10499004" y="121"/>
                  <a:pt x="10697467" y="15326"/>
                  <a:pt x="10900219" y="0"/>
                </a:cubicBezTo>
                <a:cubicBezTo>
                  <a:pt x="10899812" y="8690"/>
                  <a:pt x="10900065" y="14141"/>
                  <a:pt x="10900219" y="18288"/>
                </a:cubicBezTo>
                <a:cubicBezTo>
                  <a:pt x="10543007" y="31201"/>
                  <a:pt x="10472057" y="15684"/>
                  <a:pt x="10109953" y="18288"/>
                </a:cubicBezTo>
                <a:cubicBezTo>
                  <a:pt x="9747849" y="20892"/>
                  <a:pt x="9872856" y="33007"/>
                  <a:pt x="9755696" y="18288"/>
                </a:cubicBezTo>
                <a:cubicBezTo>
                  <a:pt x="9638536" y="3569"/>
                  <a:pt x="9442681" y="6596"/>
                  <a:pt x="9292437" y="18288"/>
                </a:cubicBezTo>
                <a:cubicBezTo>
                  <a:pt x="9142193" y="29980"/>
                  <a:pt x="8817861" y="-11343"/>
                  <a:pt x="8393169" y="18288"/>
                </a:cubicBezTo>
                <a:cubicBezTo>
                  <a:pt x="7968477" y="47919"/>
                  <a:pt x="7919655" y="23228"/>
                  <a:pt x="7711905" y="18288"/>
                </a:cubicBezTo>
                <a:cubicBezTo>
                  <a:pt x="7504155" y="13348"/>
                  <a:pt x="7365667" y="6452"/>
                  <a:pt x="7248646" y="18288"/>
                </a:cubicBezTo>
                <a:cubicBezTo>
                  <a:pt x="7131625" y="30124"/>
                  <a:pt x="6776155" y="2871"/>
                  <a:pt x="6567382" y="18288"/>
                </a:cubicBezTo>
                <a:cubicBezTo>
                  <a:pt x="6358609" y="33705"/>
                  <a:pt x="6372933" y="1091"/>
                  <a:pt x="6213125" y="18288"/>
                </a:cubicBezTo>
                <a:cubicBezTo>
                  <a:pt x="6053317" y="35485"/>
                  <a:pt x="5980913" y="1290"/>
                  <a:pt x="5858868" y="18288"/>
                </a:cubicBezTo>
                <a:cubicBezTo>
                  <a:pt x="5736823" y="35286"/>
                  <a:pt x="5481395" y="5492"/>
                  <a:pt x="5177604" y="18288"/>
                </a:cubicBezTo>
                <a:cubicBezTo>
                  <a:pt x="4873813" y="31084"/>
                  <a:pt x="4854222" y="37160"/>
                  <a:pt x="4714345" y="18288"/>
                </a:cubicBezTo>
                <a:cubicBezTo>
                  <a:pt x="4574468" y="-584"/>
                  <a:pt x="4298550" y="22981"/>
                  <a:pt x="3924079" y="18288"/>
                </a:cubicBezTo>
                <a:cubicBezTo>
                  <a:pt x="3549608" y="13595"/>
                  <a:pt x="3645461" y="-921"/>
                  <a:pt x="3460820" y="18288"/>
                </a:cubicBezTo>
                <a:cubicBezTo>
                  <a:pt x="3276179" y="37497"/>
                  <a:pt x="3004470" y="-15027"/>
                  <a:pt x="2670554" y="18288"/>
                </a:cubicBezTo>
                <a:cubicBezTo>
                  <a:pt x="2336638" y="51603"/>
                  <a:pt x="2425773" y="17517"/>
                  <a:pt x="2316297" y="18288"/>
                </a:cubicBezTo>
                <a:cubicBezTo>
                  <a:pt x="2206821" y="19059"/>
                  <a:pt x="1757890" y="42158"/>
                  <a:pt x="1526031" y="18288"/>
                </a:cubicBezTo>
                <a:cubicBezTo>
                  <a:pt x="1294172" y="-5582"/>
                  <a:pt x="1213137" y="12281"/>
                  <a:pt x="1062771" y="18288"/>
                </a:cubicBezTo>
                <a:cubicBezTo>
                  <a:pt x="912405" y="24295"/>
                  <a:pt x="829444" y="7304"/>
                  <a:pt x="708514" y="18288"/>
                </a:cubicBezTo>
                <a:cubicBezTo>
                  <a:pt x="587584" y="29272"/>
                  <a:pt x="227877" y="37311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1"/>
          </a:solidFill>
          <a:ln w="34925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3" name="Content Placeholder 2">
            <a:extLst>
              <a:ext uri="{FF2B5EF4-FFF2-40B4-BE49-F238E27FC236}">
                <a16:creationId xmlns:a16="http://schemas.microsoft.com/office/drawing/2014/main" id="{BF0B99B7-6F7D-09A6-C66A-4AB4C03AD91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47932458"/>
              </p:ext>
            </p:extLst>
          </p:nvPr>
        </p:nvGraphicFramePr>
        <p:xfrm>
          <a:off x="632647" y="2805098"/>
          <a:ext cx="10915869" cy="34789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4976461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4C3BF-6E35-F69F-6AB3-6B9C53DC0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51411"/>
            <a:ext cx="10515600" cy="977973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Problem Being Solved</a:t>
            </a:r>
            <a:br>
              <a:rPr lang="en-US" b="1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AA481-9853-AC25-00D8-1215AFF73D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The goal of this project is to build an autoencoder that learns how to:</a:t>
            </a:r>
          </a:p>
          <a:p>
            <a:pPr lvl="1"/>
            <a:r>
              <a:rPr lang="en-US" sz="3200" dirty="0"/>
              <a:t>Compress an image into a low-dimensional representation (embedding) </a:t>
            </a:r>
          </a:p>
          <a:p>
            <a:pPr lvl="1"/>
            <a:r>
              <a:rPr lang="en-US" sz="3200" dirty="0"/>
              <a:t>Reconstruct the original image from that compressed form as accurately as possible </a:t>
            </a:r>
          </a:p>
          <a:p>
            <a:r>
              <a:rPr lang="en-US" sz="3600" dirty="0"/>
              <a:t>A real-world application of this idea could be reducing the size of images or videos to save storage.</a:t>
            </a:r>
          </a:p>
          <a:p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3644803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07BAA-7753-D0E4-BF69-5652DF452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Data Preparation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076F76-F59D-32ED-289C-176310C251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Dataset used: </a:t>
            </a:r>
            <a:r>
              <a:rPr lang="en-US" b="1" dirty="0"/>
              <a:t>MNIST handwritten digits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43159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C54B211C-C0F6-4AE8-8121-30879CBB48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94605A-E5D0-E3EC-6B51-147394EA1DEF}"/>
              </a:ext>
            </a:extLst>
          </p:cNvPr>
          <p:cNvSpPr txBox="1"/>
          <p:nvPr/>
        </p:nvSpPr>
        <p:spPr>
          <a:xfrm>
            <a:off x="4654294" y="4566390"/>
            <a:ext cx="6894577" cy="16014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This code converts the images into tensors, groups them into batches of 64, and shuffles them so the autoencoder can train efficiently.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070477C5-0410-4E4F-97A1-F84C2465C18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14:cNvPr>
              <p14:cNvContentPartPr>
                <a14:cpLocks xmlns:a14="http://schemas.microsoft.com/office/drawing/2010/main" noGrp="1" noRot="1" noChangeAspect="1" noMove="1" noResize="1" noEditPoints="1" noAdjustHandles="1" noChangeArrowheads="1" noChangeShapeType="1"/>
              </p14:cNvContentPartPr>
              <p14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14:nvPr>
            </p14:nvContentPartPr>
            <p14:xfrm>
              <a:off x="5755403" y="4884261"/>
              <a:ext cx="360" cy="216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070477C5-0410-4E4F-97A1-F84C2465C18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737403" y="4868832"/>
                <a:ext cx="36000" cy="32709"/>
              </a:xfrm>
              <a:prstGeom prst="rect">
                <a:avLst/>
              </a:prstGeom>
            </p:spPr>
          </p:pic>
        </mc:Fallback>
      </mc:AlternateContent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2585F6B-A8B8-5D1E-6E38-F1034D11CE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774779" y="630936"/>
            <a:ext cx="10630250" cy="3667437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535742DD-1B16-4E9D-B715-0D74B4574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14992" y="4566390"/>
            <a:ext cx="18288" cy="1601482"/>
          </a:xfrm>
          <a:custGeom>
            <a:avLst/>
            <a:gdLst>
              <a:gd name="connsiteX0" fmla="*/ 0 w 18288"/>
              <a:gd name="connsiteY0" fmla="*/ 0 h 1601482"/>
              <a:gd name="connsiteX1" fmla="*/ 18288 w 18288"/>
              <a:gd name="connsiteY1" fmla="*/ 0 h 1601482"/>
              <a:gd name="connsiteX2" fmla="*/ 18288 w 18288"/>
              <a:gd name="connsiteY2" fmla="*/ 549842 h 1601482"/>
              <a:gd name="connsiteX3" fmla="*/ 18288 w 18288"/>
              <a:gd name="connsiteY3" fmla="*/ 1115699 h 1601482"/>
              <a:gd name="connsiteX4" fmla="*/ 18288 w 18288"/>
              <a:gd name="connsiteY4" fmla="*/ 1601482 h 1601482"/>
              <a:gd name="connsiteX5" fmla="*/ 0 w 18288"/>
              <a:gd name="connsiteY5" fmla="*/ 1601482 h 1601482"/>
              <a:gd name="connsiteX6" fmla="*/ 0 w 18288"/>
              <a:gd name="connsiteY6" fmla="*/ 1067655 h 1601482"/>
              <a:gd name="connsiteX7" fmla="*/ 0 w 18288"/>
              <a:gd name="connsiteY7" fmla="*/ 517813 h 1601482"/>
              <a:gd name="connsiteX8" fmla="*/ 0 w 18288"/>
              <a:gd name="connsiteY8" fmla="*/ 0 h 1601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288" h="1601482" fill="none" extrusionOk="0">
                <a:moveTo>
                  <a:pt x="0" y="0"/>
                </a:moveTo>
                <a:cubicBezTo>
                  <a:pt x="4865" y="374"/>
                  <a:pt x="13608" y="53"/>
                  <a:pt x="18288" y="0"/>
                </a:cubicBezTo>
                <a:cubicBezTo>
                  <a:pt x="13491" y="239554"/>
                  <a:pt x="33082" y="357305"/>
                  <a:pt x="18288" y="549842"/>
                </a:cubicBezTo>
                <a:cubicBezTo>
                  <a:pt x="3494" y="742379"/>
                  <a:pt x="2109" y="968008"/>
                  <a:pt x="18288" y="1115699"/>
                </a:cubicBezTo>
                <a:cubicBezTo>
                  <a:pt x="34467" y="1263390"/>
                  <a:pt x="40467" y="1447654"/>
                  <a:pt x="18288" y="1601482"/>
                </a:cubicBezTo>
                <a:cubicBezTo>
                  <a:pt x="10638" y="1602054"/>
                  <a:pt x="4111" y="1601075"/>
                  <a:pt x="0" y="1601482"/>
                </a:cubicBezTo>
                <a:cubicBezTo>
                  <a:pt x="11161" y="1416130"/>
                  <a:pt x="-25575" y="1276384"/>
                  <a:pt x="0" y="1067655"/>
                </a:cubicBezTo>
                <a:cubicBezTo>
                  <a:pt x="25575" y="858926"/>
                  <a:pt x="19778" y="740089"/>
                  <a:pt x="0" y="517813"/>
                </a:cubicBezTo>
                <a:cubicBezTo>
                  <a:pt x="-19778" y="295537"/>
                  <a:pt x="-1186" y="190747"/>
                  <a:pt x="0" y="0"/>
                </a:cubicBezTo>
                <a:close/>
              </a:path>
              <a:path w="18288" h="1601482" stroke="0" extrusionOk="0">
                <a:moveTo>
                  <a:pt x="0" y="0"/>
                </a:moveTo>
                <a:cubicBezTo>
                  <a:pt x="5341" y="9"/>
                  <a:pt x="11148" y="-611"/>
                  <a:pt x="18288" y="0"/>
                </a:cubicBezTo>
                <a:cubicBezTo>
                  <a:pt x="28591" y="163128"/>
                  <a:pt x="29410" y="353165"/>
                  <a:pt x="18288" y="485783"/>
                </a:cubicBezTo>
                <a:cubicBezTo>
                  <a:pt x="7166" y="618401"/>
                  <a:pt x="-625" y="808120"/>
                  <a:pt x="18288" y="1051640"/>
                </a:cubicBezTo>
                <a:cubicBezTo>
                  <a:pt x="37201" y="1295160"/>
                  <a:pt x="-225" y="1354107"/>
                  <a:pt x="18288" y="1601482"/>
                </a:cubicBezTo>
                <a:cubicBezTo>
                  <a:pt x="12642" y="1601712"/>
                  <a:pt x="3803" y="1601151"/>
                  <a:pt x="0" y="1601482"/>
                </a:cubicBezTo>
                <a:cubicBezTo>
                  <a:pt x="20846" y="1460490"/>
                  <a:pt x="16548" y="1224222"/>
                  <a:pt x="0" y="1035625"/>
                </a:cubicBezTo>
                <a:cubicBezTo>
                  <a:pt x="-16548" y="847028"/>
                  <a:pt x="24571" y="662668"/>
                  <a:pt x="0" y="469768"/>
                </a:cubicBezTo>
                <a:cubicBezTo>
                  <a:pt x="-24571" y="276868"/>
                  <a:pt x="-22089" y="172464"/>
                  <a:pt x="0" y="0"/>
                </a:cubicBezTo>
                <a:close/>
              </a:path>
            </a:pathLst>
          </a:custGeom>
          <a:solidFill>
            <a:srgbClr val="86B9CC"/>
          </a:solidFill>
          <a:ln w="34925">
            <a:solidFill>
              <a:srgbClr val="86B9CC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162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529E97A-97C3-40EA-8A04-5C02398D56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2877832"/>
          </a:xfrm>
          <a:custGeom>
            <a:avLst/>
            <a:gdLst>
              <a:gd name="connsiteX0" fmla="*/ 6789701 w 12192000"/>
              <a:gd name="connsiteY0" fmla="*/ 2809623 h 2877832"/>
              <a:gd name="connsiteX1" fmla="*/ 6788702 w 12192000"/>
              <a:gd name="connsiteY1" fmla="*/ 2809701 h 2877832"/>
              <a:gd name="connsiteX2" fmla="*/ 6788476 w 12192000"/>
              <a:gd name="connsiteY2" fmla="*/ 2810235 h 2877832"/>
              <a:gd name="connsiteX3" fmla="*/ 0 w 12192000"/>
              <a:gd name="connsiteY3" fmla="*/ 0 h 2877832"/>
              <a:gd name="connsiteX4" fmla="*/ 12192000 w 12192000"/>
              <a:gd name="connsiteY4" fmla="*/ 0 h 2877832"/>
              <a:gd name="connsiteX5" fmla="*/ 12192000 w 12192000"/>
              <a:gd name="connsiteY5" fmla="*/ 1915388 h 2877832"/>
              <a:gd name="connsiteX6" fmla="*/ 12061096 w 12192000"/>
              <a:gd name="connsiteY6" fmla="*/ 1954428 h 2877832"/>
              <a:gd name="connsiteX7" fmla="*/ 11676800 w 12192000"/>
              <a:gd name="connsiteY7" fmla="*/ 2058003 h 2877832"/>
              <a:gd name="connsiteX8" fmla="*/ 10425355 w 12192000"/>
              <a:gd name="connsiteY8" fmla="*/ 2341542 h 2877832"/>
              <a:gd name="connsiteX9" fmla="*/ 9424022 w 12192000"/>
              <a:gd name="connsiteY9" fmla="*/ 2516704 h 2877832"/>
              <a:gd name="connsiteX10" fmla="*/ 8458419 w 12192000"/>
              <a:gd name="connsiteY10" fmla="*/ 2650405 h 2877832"/>
              <a:gd name="connsiteX11" fmla="*/ 7715970 w 12192000"/>
              <a:gd name="connsiteY11" fmla="*/ 2730352 h 2877832"/>
              <a:gd name="connsiteX12" fmla="*/ 6951716 w 12192000"/>
              <a:gd name="connsiteY12" fmla="*/ 2796132 h 2877832"/>
              <a:gd name="connsiteX13" fmla="*/ 6936303 w 12192000"/>
              <a:gd name="connsiteY13" fmla="*/ 2798203 h 2877832"/>
              <a:gd name="connsiteX14" fmla="*/ 6790448 w 12192000"/>
              <a:gd name="connsiteY14" fmla="*/ 2809564 h 2877832"/>
              <a:gd name="connsiteX15" fmla="*/ 6799941 w 12192000"/>
              <a:gd name="connsiteY15" fmla="*/ 2811384 h 2877832"/>
              <a:gd name="connsiteX16" fmla="*/ 6835432 w 12192000"/>
              <a:gd name="connsiteY16" fmla="*/ 2809677 h 2877832"/>
              <a:gd name="connsiteX17" fmla="*/ 6884003 w 12192000"/>
              <a:gd name="connsiteY17" fmla="*/ 2806699 h 2877832"/>
              <a:gd name="connsiteX18" fmla="*/ 7578771 w 12192000"/>
              <a:gd name="connsiteY18" fmla="*/ 2774172 h 2877832"/>
              <a:gd name="connsiteX19" fmla="*/ 8623845 w 12192000"/>
              <a:gd name="connsiteY19" fmla="*/ 2687275 h 2877832"/>
              <a:gd name="connsiteX20" fmla="*/ 9479970 w 12192000"/>
              <a:gd name="connsiteY20" fmla="*/ 2583369 h 2877832"/>
              <a:gd name="connsiteX21" fmla="*/ 10629308 w 12192000"/>
              <a:gd name="connsiteY21" fmla="*/ 2389212 h 2877832"/>
              <a:gd name="connsiteX22" fmla="*/ 11998498 w 12192000"/>
              <a:gd name="connsiteY22" fmla="*/ 2063218 h 2877832"/>
              <a:gd name="connsiteX23" fmla="*/ 12192000 w 12192000"/>
              <a:gd name="connsiteY23" fmla="*/ 2006219 h 2877832"/>
              <a:gd name="connsiteX24" fmla="*/ 12192000 w 12192000"/>
              <a:gd name="connsiteY24" fmla="*/ 2060956 h 2877832"/>
              <a:gd name="connsiteX25" fmla="*/ 11829257 w 12192000"/>
              <a:gd name="connsiteY25" fmla="*/ 2166255 h 2877832"/>
              <a:gd name="connsiteX26" fmla="*/ 10939183 w 12192000"/>
              <a:gd name="connsiteY26" fmla="*/ 2380770 h 2877832"/>
              <a:gd name="connsiteX27" fmla="*/ 9985530 w 12192000"/>
              <a:gd name="connsiteY27" fmla="*/ 2560775 h 2877832"/>
              <a:gd name="connsiteX28" fmla="*/ 9186882 w 12192000"/>
              <a:gd name="connsiteY28" fmla="*/ 2676722 h 2877832"/>
              <a:gd name="connsiteX29" fmla="*/ 8578198 w 12192000"/>
              <a:gd name="connsiteY29" fmla="*/ 2746241 h 2877832"/>
              <a:gd name="connsiteX30" fmla="*/ 7864358 w 12192000"/>
              <a:gd name="connsiteY30" fmla="*/ 2807692 h 2877832"/>
              <a:gd name="connsiteX31" fmla="*/ 6935502 w 12192000"/>
              <a:gd name="connsiteY31" fmla="*/ 2859086 h 2877832"/>
              <a:gd name="connsiteX32" fmla="*/ 6477750 w 12192000"/>
              <a:gd name="connsiteY32" fmla="*/ 2872989 h 2877832"/>
              <a:gd name="connsiteX33" fmla="*/ 6362294 w 12192000"/>
              <a:gd name="connsiteY33" fmla="*/ 2877832 h 2877832"/>
              <a:gd name="connsiteX34" fmla="*/ 6057129 w 12192000"/>
              <a:gd name="connsiteY34" fmla="*/ 2877832 h 2877832"/>
              <a:gd name="connsiteX35" fmla="*/ 5977784 w 12192000"/>
              <a:gd name="connsiteY35" fmla="*/ 2873238 h 2877832"/>
              <a:gd name="connsiteX36" fmla="*/ 5265087 w 12192000"/>
              <a:gd name="connsiteY36" fmla="*/ 2836989 h 2877832"/>
              <a:gd name="connsiteX37" fmla="*/ 4346277 w 12192000"/>
              <a:gd name="connsiteY37" fmla="*/ 2774919 h 2877832"/>
              <a:gd name="connsiteX38" fmla="*/ 3373045 w 12192000"/>
              <a:gd name="connsiteY38" fmla="*/ 2676350 h 2877832"/>
              <a:gd name="connsiteX39" fmla="*/ 2362173 w 12192000"/>
              <a:gd name="connsiteY39" fmla="*/ 2557423 h 2877832"/>
              <a:gd name="connsiteX40" fmla="*/ 1233178 w 12192000"/>
              <a:gd name="connsiteY40" fmla="*/ 2384247 h 2877832"/>
              <a:gd name="connsiteX41" fmla="*/ 68500 w 12192000"/>
              <a:gd name="connsiteY41" fmla="*/ 2144540 h 2877832"/>
              <a:gd name="connsiteX42" fmla="*/ 0 w 12192000"/>
              <a:gd name="connsiteY42" fmla="*/ 2127185 h 2877832"/>
              <a:gd name="connsiteX43" fmla="*/ 0 w 12192000"/>
              <a:gd name="connsiteY43" fmla="*/ 2070696 h 2877832"/>
              <a:gd name="connsiteX44" fmla="*/ 72441 w 12192000"/>
              <a:gd name="connsiteY44" fmla="*/ 2089473 h 2877832"/>
              <a:gd name="connsiteX45" fmla="*/ 600716 w 12192000"/>
              <a:gd name="connsiteY45" fmla="*/ 2207843 h 2877832"/>
              <a:gd name="connsiteX46" fmla="*/ 1769512 w 12192000"/>
              <a:gd name="connsiteY46" fmla="*/ 2418011 h 2877832"/>
              <a:gd name="connsiteX47" fmla="*/ 2613554 w 12192000"/>
              <a:gd name="connsiteY47" fmla="*/ 2534953 h 2877832"/>
              <a:gd name="connsiteX48" fmla="*/ 2581134 w 12192000"/>
              <a:gd name="connsiteY48" fmla="*/ 2525022 h 2877832"/>
              <a:gd name="connsiteX49" fmla="*/ 1112635 w 12192000"/>
              <a:gd name="connsiteY49" fmla="*/ 2192325 h 2877832"/>
              <a:gd name="connsiteX50" fmla="*/ 420412 w 12192000"/>
              <a:gd name="connsiteY50" fmla="*/ 1992892 h 2877832"/>
              <a:gd name="connsiteX51" fmla="*/ 0 w 12192000"/>
              <a:gd name="connsiteY51" fmla="*/ 1853975 h 2877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000" h="2877832">
                <a:moveTo>
                  <a:pt x="6789701" y="2809623"/>
                </a:moveTo>
                <a:lnTo>
                  <a:pt x="6788702" y="2809701"/>
                </a:lnTo>
                <a:lnTo>
                  <a:pt x="6788476" y="2810235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915388"/>
                </a:lnTo>
                <a:lnTo>
                  <a:pt x="12061096" y="1954428"/>
                </a:lnTo>
                <a:cubicBezTo>
                  <a:pt x="11933500" y="1990642"/>
                  <a:pt x="11805390" y="2025171"/>
                  <a:pt x="11676800" y="2058003"/>
                </a:cubicBezTo>
                <a:cubicBezTo>
                  <a:pt x="11262789" y="2165510"/>
                  <a:pt x="10845343" y="2259112"/>
                  <a:pt x="10425355" y="2341542"/>
                </a:cubicBezTo>
                <a:cubicBezTo>
                  <a:pt x="10092810" y="2406753"/>
                  <a:pt x="9759033" y="2465150"/>
                  <a:pt x="9424022" y="2516704"/>
                </a:cubicBezTo>
                <a:cubicBezTo>
                  <a:pt x="9102997" y="2566361"/>
                  <a:pt x="8781133" y="2610928"/>
                  <a:pt x="8458419" y="2650405"/>
                </a:cubicBezTo>
                <a:cubicBezTo>
                  <a:pt x="8211360" y="2680571"/>
                  <a:pt x="7963792" y="2706144"/>
                  <a:pt x="7715970" y="2730352"/>
                </a:cubicBezTo>
                <a:lnTo>
                  <a:pt x="6951716" y="2796132"/>
                </a:lnTo>
                <a:lnTo>
                  <a:pt x="6936303" y="2798203"/>
                </a:lnTo>
                <a:lnTo>
                  <a:pt x="6790448" y="2809564"/>
                </a:lnTo>
                <a:lnTo>
                  <a:pt x="6799941" y="2811384"/>
                </a:lnTo>
                <a:cubicBezTo>
                  <a:pt x="6811623" y="2811850"/>
                  <a:pt x="6823734" y="2809677"/>
                  <a:pt x="6835432" y="2809677"/>
                </a:cubicBezTo>
                <a:cubicBezTo>
                  <a:pt x="6851580" y="2809677"/>
                  <a:pt x="6867729" y="2807070"/>
                  <a:pt x="6884003" y="2806699"/>
                </a:cubicBezTo>
                <a:cubicBezTo>
                  <a:pt x="7115805" y="2801237"/>
                  <a:pt x="7347351" y="2789070"/>
                  <a:pt x="7578771" y="2774172"/>
                </a:cubicBezTo>
                <a:cubicBezTo>
                  <a:pt x="7927552" y="2751704"/>
                  <a:pt x="8276080" y="2723525"/>
                  <a:pt x="8623845" y="2687275"/>
                </a:cubicBezTo>
                <a:cubicBezTo>
                  <a:pt x="8909939" y="2657977"/>
                  <a:pt x="9195310" y="2623342"/>
                  <a:pt x="9479970" y="2583369"/>
                </a:cubicBezTo>
                <a:cubicBezTo>
                  <a:pt x="9864901" y="2528995"/>
                  <a:pt x="10248014" y="2464281"/>
                  <a:pt x="10629308" y="2389212"/>
                </a:cubicBezTo>
                <a:cubicBezTo>
                  <a:pt x="11090114" y="2298092"/>
                  <a:pt x="11546975" y="2190586"/>
                  <a:pt x="11998498" y="2063218"/>
                </a:cubicBezTo>
                <a:lnTo>
                  <a:pt x="12192000" y="2006219"/>
                </a:lnTo>
                <a:lnTo>
                  <a:pt x="12192000" y="2060956"/>
                </a:lnTo>
                <a:lnTo>
                  <a:pt x="11829257" y="2166255"/>
                </a:lnTo>
                <a:cubicBezTo>
                  <a:pt x="11534769" y="2245952"/>
                  <a:pt x="11238120" y="2316838"/>
                  <a:pt x="10939183" y="2380770"/>
                </a:cubicBezTo>
                <a:cubicBezTo>
                  <a:pt x="10622824" y="2448552"/>
                  <a:pt x="10304941" y="2508549"/>
                  <a:pt x="9985530" y="2560775"/>
                </a:cubicBezTo>
                <a:cubicBezTo>
                  <a:pt x="9720036" y="2604224"/>
                  <a:pt x="9453814" y="2642869"/>
                  <a:pt x="9186882" y="2676722"/>
                </a:cubicBezTo>
                <a:cubicBezTo>
                  <a:pt x="8984197" y="2702296"/>
                  <a:pt x="8781514" y="2726379"/>
                  <a:pt x="8578198" y="2746241"/>
                </a:cubicBezTo>
                <a:cubicBezTo>
                  <a:pt x="8340547" y="2768961"/>
                  <a:pt x="8102644" y="2790436"/>
                  <a:pt x="7864358" y="2807692"/>
                </a:cubicBezTo>
                <a:cubicBezTo>
                  <a:pt x="7554994" y="2830036"/>
                  <a:pt x="7245502" y="2847914"/>
                  <a:pt x="6935502" y="2859086"/>
                </a:cubicBezTo>
                <a:cubicBezTo>
                  <a:pt x="6782917" y="2864549"/>
                  <a:pt x="6630334" y="2868397"/>
                  <a:pt x="6477750" y="2872989"/>
                </a:cubicBezTo>
                <a:cubicBezTo>
                  <a:pt x="6439195" y="2870905"/>
                  <a:pt x="6400529" y="2872530"/>
                  <a:pt x="6362294" y="2877832"/>
                </a:cubicBezTo>
                <a:lnTo>
                  <a:pt x="6057129" y="2877832"/>
                </a:lnTo>
                <a:lnTo>
                  <a:pt x="5977784" y="2873238"/>
                </a:lnTo>
                <a:cubicBezTo>
                  <a:pt x="5740261" y="2860825"/>
                  <a:pt x="5502739" y="2847046"/>
                  <a:pt x="5265087" y="2836989"/>
                </a:cubicBezTo>
                <a:cubicBezTo>
                  <a:pt x="4958267" y="2824573"/>
                  <a:pt x="4651826" y="2804093"/>
                  <a:pt x="4346277" y="2774919"/>
                </a:cubicBezTo>
                <a:cubicBezTo>
                  <a:pt x="4021654" y="2744007"/>
                  <a:pt x="3697795" y="2709372"/>
                  <a:pt x="3373045" y="2676350"/>
                </a:cubicBezTo>
                <a:cubicBezTo>
                  <a:pt x="3035412" y="2642088"/>
                  <a:pt x="2698456" y="2602449"/>
                  <a:pt x="2362173" y="2557423"/>
                </a:cubicBezTo>
                <a:cubicBezTo>
                  <a:pt x="1984692" y="2507270"/>
                  <a:pt x="1608364" y="2449544"/>
                  <a:pt x="1233178" y="2384247"/>
                </a:cubicBezTo>
                <a:cubicBezTo>
                  <a:pt x="842181" y="2315534"/>
                  <a:pt x="453758" y="2237046"/>
                  <a:pt x="68500" y="2144540"/>
                </a:cubicBezTo>
                <a:lnTo>
                  <a:pt x="0" y="2127185"/>
                </a:lnTo>
                <a:lnTo>
                  <a:pt x="0" y="2070696"/>
                </a:lnTo>
                <a:lnTo>
                  <a:pt x="72441" y="2089473"/>
                </a:lnTo>
                <a:cubicBezTo>
                  <a:pt x="247961" y="2131651"/>
                  <a:pt x="424164" y="2170911"/>
                  <a:pt x="600716" y="2207843"/>
                </a:cubicBezTo>
                <a:cubicBezTo>
                  <a:pt x="988279" y="2288657"/>
                  <a:pt x="1378133" y="2357555"/>
                  <a:pt x="1769512" y="2418011"/>
                </a:cubicBezTo>
                <a:cubicBezTo>
                  <a:pt x="2052426" y="2461587"/>
                  <a:pt x="2335725" y="2501684"/>
                  <a:pt x="2613554" y="2534953"/>
                </a:cubicBezTo>
                <a:cubicBezTo>
                  <a:pt x="2605544" y="2537560"/>
                  <a:pt x="2594611" y="2527504"/>
                  <a:pt x="2581134" y="2525022"/>
                </a:cubicBezTo>
                <a:cubicBezTo>
                  <a:pt x="2087178" y="2433070"/>
                  <a:pt x="1597684" y="2322177"/>
                  <a:pt x="1112635" y="2192325"/>
                </a:cubicBezTo>
                <a:cubicBezTo>
                  <a:pt x="880453" y="2130254"/>
                  <a:pt x="649713" y="2063776"/>
                  <a:pt x="420412" y="1992892"/>
                </a:cubicBezTo>
                <a:lnTo>
                  <a:pt x="0" y="1853975"/>
                </a:lnTo>
                <a:close/>
              </a:path>
            </a:pathLst>
          </a:custGeom>
          <a:solidFill>
            <a:srgbClr val="86BBC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070477C5-0410-4E4F-97A1-F84C2465C18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14:cNvPr>
              <p14:cNvContentPartPr>
                <a14:cpLocks xmlns:a14="http://schemas.microsoft.com/office/drawing/2010/main" noGrp="1" noRot="1" noChangeAspect="1" noMove="1" noResize="1" noEditPoints="1" noAdjustHandles="1" noChangeArrowheads="1" noChangeShapeType="1"/>
              </p14:cNvContentPartPr>
              <p14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14:nvPr>
            </p14:nvContentPartPr>
            <p14:xfrm>
              <a:off x="5755403" y="1971579"/>
              <a:ext cx="360" cy="216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070477C5-0410-4E4F-97A1-F84C2465C18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737403" y="1956150"/>
                <a:ext cx="36000" cy="32709"/>
              </a:xfrm>
              <a:prstGeom prst="rect">
                <a:avLst/>
              </a:prstGeom>
            </p:spPr>
          </p:pic>
        </mc:Fallback>
      </mc:AlternateContent>
      <p:sp>
        <p:nvSpPr>
          <p:cNvPr id="26" name="Rectangle 25">
            <a:extLst>
              <a:ext uri="{FF2B5EF4-FFF2-40B4-BE49-F238E27FC236}">
                <a16:creationId xmlns:a16="http://schemas.microsoft.com/office/drawing/2014/main" id="{535742DD-1B16-4E9D-B715-0D74B4574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14992" y="704088"/>
            <a:ext cx="18288" cy="1316736"/>
          </a:xfrm>
          <a:custGeom>
            <a:avLst/>
            <a:gdLst>
              <a:gd name="connsiteX0" fmla="*/ 0 w 18288"/>
              <a:gd name="connsiteY0" fmla="*/ 0 h 1316736"/>
              <a:gd name="connsiteX1" fmla="*/ 18288 w 18288"/>
              <a:gd name="connsiteY1" fmla="*/ 0 h 1316736"/>
              <a:gd name="connsiteX2" fmla="*/ 18288 w 18288"/>
              <a:gd name="connsiteY2" fmla="*/ 632033 h 1316736"/>
              <a:gd name="connsiteX3" fmla="*/ 18288 w 18288"/>
              <a:gd name="connsiteY3" fmla="*/ 1316736 h 1316736"/>
              <a:gd name="connsiteX4" fmla="*/ 0 w 18288"/>
              <a:gd name="connsiteY4" fmla="*/ 1316736 h 1316736"/>
              <a:gd name="connsiteX5" fmla="*/ 0 w 18288"/>
              <a:gd name="connsiteY5" fmla="*/ 671535 h 1316736"/>
              <a:gd name="connsiteX6" fmla="*/ 0 w 18288"/>
              <a:gd name="connsiteY6" fmla="*/ 0 h 13167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288" h="1316736" fill="none" extrusionOk="0">
                <a:moveTo>
                  <a:pt x="0" y="0"/>
                </a:moveTo>
                <a:cubicBezTo>
                  <a:pt x="5414" y="683"/>
                  <a:pt x="12510" y="720"/>
                  <a:pt x="18288" y="0"/>
                </a:cubicBezTo>
                <a:cubicBezTo>
                  <a:pt x="11385" y="276484"/>
                  <a:pt x="47354" y="495364"/>
                  <a:pt x="18288" y="632033"/>
                </a:cubicBezTo>
                <a:cubicBezTo>
                  <a:pt x="-10778" y="768702"/>
                  <a:pt x="26786" y="1005085"/>
                  <a:pt x="18288" y="1316736"/>
                </a:cubicBezTo>
                <a:cubicBezTo>
                  <a:pt x="9577" y="1315893"/>
                  <a:pt x="6900" y="1316365"/>
                  <a:pt x="0" y="1316736"/>
                </a:cubicBezTo>
                <a:cubicBezTo>
                  <a:pt x="-29997" y="1144491"/>
                  <a:pt x="20055" y="926108"/>
                  <a:pt x="0" y="671535"/>
                </a:cubicBezTo>
                <a:cubicBezTo>
                  <a:pt x="-20055" y="416962"/>
                  <a:pt x="15787" y="211813"/>
                  <a:pt x="0" y="0"/>
                </a:cubicBezTo>
                <a:close/>
              </a:path>
              <a:path w="18288" h="1316736" stroke="0" extrusionOk="0">
                <a:moveTo>
                  <a:pt x="0" y="0"/>
                </a:moveTo>
                <a:cubicBezTo>
                  <a:pt x="5341" y="9"/>
                  <a:pt x="11148" y="-611"/>
                  <a:pt x="18288" y="0"/>
                </a:cubicBezTo>
                <a:cubicBezTo>
                  <a:pt x="-6741" y="195124"/>
                  <a:pt x="36996" y="409062"/>
                  <a:pt x="18288" y="618866"/>
                </a:cubicBezTo>
                <a:cubicBezTo>
                  <a:pt x="-420" y="828670"/>
                  <a:pt x="28345" y="1144651"/>
                  <a:pt x="18288" y="1316736"/>
                </a:cubicBezTo>
                <a:cubicBezTo>
                  <a:pt x="10476" y="1317615"/>
                  <a:pt x="8805" y="1316987"/>
                  <a:pt x="0" y="1316736"/>
                </a:cubicBezTo>
                <a:cubicBezTo>
                  <a:pt x="30302" y="1053606"/>
                  <a:pt x="-1997" y="890047"/>
                  <a:pt x="0" y="671535"/>
                </a:cubicBezTo>
                <a:cubicBezTo>
                  <a:pt x="1997" y="453023"/>
                  <a:pt x="-25538" y="322042"/>
                  <a:pt x="0" y="0"/>
                </a:cubicBezTo>
                <a:close/>
              </a:path>
            </a:pathLst>
          </a:custGeom>
          <a:solidFill>
            <a:srgbClr val="86BBCE"/>
          </a:solidFill>
          <a:ln w="34925">
            <a:solidFill>
              <a:srgbClr val="86BBCE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4ED7AB-CEBE-D482-DC02-993309410B7A}"/>
              </a:ext>
            </a:extLst>
          </p:cNvPr>
          <p:cNvSpPr txBox="1"/>
          <p:nvPr/>
        </p:nvSpPr>
        <p:spPr>
          <a:xfrm>
            <a:off x="2103182" y="698492"/>
            <a:ext cx="7304442" cy="14630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chemeClr val="bg1"/>
                </a:solidFill>
              </a:rPr>
              <a:t>This code checks the pixel value range of the input images so the decoder uses the correct output function.</a:t>
            </a:r>
          </a:p>
        </p:txBody>
      </p:sp>
      <p:pic>
        <p:nvPicPr>
          <p:cNvPr id="4" name="Content Placeholder 3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DCBE85CF-6367-BD4C-A18F-7263531F99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712418" y="3077570"/>
            <a:ext cx="10754972" cy="3172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28169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FCF05-92E1-03A5-33E6-6A0AD23AA8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55594"/>
            <a:ext cx="10515600" cy="435094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Method Used to Solve It</a:t>
            </a:r>
            <a:br>
              <a:rPr lang="en-US" b="1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2EAFF-0B18-5EE5-FC19-23167F1346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Two different autoencoders were implemented:</a:t>
            </a:r>
          </a:p>
          <a:p>
            <a:pPr lvl="1"/>
            <a:r>
              <a:rPr lang="en-US" sz="3200" b="1" dirty="0"/>
              <a:t>Linear Autoencoder</a:t>
            </a:r>
            <a:r>
              <a:rPr lang="en-US" sz="3200" dirty="0"/>
              <a:t> </a:t>
            </a:r>
          </a:p>
          <a:p>
            <a:pPr lvl="1"/>
            <a:r>
              <a:rPr lang="en-US" sz="3200" b="1" dirty="0"/>
              <a:t>Convolutional Autoencoder</a:t>
            </a:r>
            <a:r>
              <a:rPr lang="en-US" sz="3200" dirty="0"/>
              <a:t> </a:t>
            </a:r>
          </a:p>
          <a:p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8623380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6">
            <a:extLst>
              <a:ext uri="{FF2B5EF4-FFF2-40B4-BE49-F238E27FC236}">
                <a16:creationId xmlns:a16="http://schemas.microsoft.com/office/drawing/2014/main" id="{3CE8AF5E-D374-4CF1-90CC-35CF73B81C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0936" y="2386584"/>
            <a:ext cx="4114800" cy="18288"/>
          </a:xfrm>
          <a:custGeom>
            <a:avLst/>
            <a:gdLst>
              <a:gd name="connsiteX0" fmla="*/ 0 w 4114800"/>
              <a:gd name="connsiteY0" fmla="*/ 0 h 18288"/>
              <a:gd name="connsiteX1" fmla="*/ 768096 w 4114800"/>
              <a:gd name="connsiteY1" fmla="*/ 0 h 18288"/>
              <a:gd name="connsiteX2" fmla="*/ 1495044 w 4114800"/>
              <a:gd name="connsiteY2" fmla="*/ 0 h 18288"/>
              <a:gd name="connsiteX3" fmla="*/ 2221992 w 4114800"/>
              <a:gd name="connsiteY3" fmla="*/ 0 h 18288"/>
              <a:gd name="connsiteX4" fmla="*/ 2784348 w 4114800"/>
              <a:gd name="connsiteY4" fmla="*/ 0 h 18288"/>
              <a:gd name="connsiteX5" fmla="*/ 3387852 w 4114800"/>
              <a:gd name="connsiteY5" fmla="*/ 0 h 18288"/>
              <a:gd name="connsiteX6" fmla="*/ 4114800 w 4114800"/>
              <a:gd name="connsiteY6" fmla="*/ 0 h 18288"/>
              <a:gd name="connsiteX7" fmla="*/ 4114800 w 4114800"/>
              <a:gd name="connsiteY7" fmla="*/ 18288 h 18288"/>
              <a:gd name="connsiteX8" fmla="*/ 3429000 w 4114800"/>
              <a:gd name="connsiteY8" fmla="*/ 18288 h 18288"/>
              <a:gd name="connsiteX9" fmla="*/ 2866644 w 4114800"/>
              <a:gd name="connsiteY9" fmla="*/ 18288 h 18288"/>
              <a:gd name="connsiteX10" fmla="*/ 2304288 w 4114800"/>
              <a:gd name="connsiteY10" fmla="*/ 18288 h 18288"/>
              <a:gd name="connsiteX11" fmla="*/ 1577340 w 4114800"/>
              <a:gd name="connsiteY11" fmla="*/ 18288 h 18288"/>
              <a:gd name="connsiteX12" fmla="*/ 973836 w 4114800"/>
              <a:gd name="connsiteY12" fmla="*/ 18288 h 18288"/>
              <a:gd name="connsiteX13" fmla="*/ 0 w 4114800"/>
              <a:gd name="connsiteY13" fmla="*/ 18288 h 18288"/>
              <a:gd name="connsiteX14" fmla="*/ 0 w 4114800"/>
              <a:gd name="connsiteY14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4114800" h="18288" fill="none" extrusionOk="0">
                <a:moveTo>
                  <a:pt x="0" y="0"/>
                </a:moveTo>
                <a:cubicBezTo>
                  <a:pt x="338280" y="-26110"/>
                  <a:pt x="483942" y="6555"/>
                  <a:pt x="768096" y="0"/>
                </a:cubicBezTo>
                <a:cubicBezTo>
                  <a:pt x="1052250" y="-6555"/>
                  <a:pt x="1331484" y="24616"/>
                  <a:pt x="1495044" y="0"/>
                </a:cubicBezTo>
                <a:cubicBezTo>
                  <a:pt x="1658604" y="-24616"/>
                  <a:pt x="2056661" y="-33562"/>
                  <a:pt x="2221992" y="0"/>
                </a:cubicBezTo>
                <a:cubicBezTo>
                  <a:pt x="2387323" y="33562"/>
                  <a:pt x="2629463" y="-20094"/>
                  <a:pt x="2784348" y="0"/>
                </a:cubicBezTo>
                <a:cubicBezTo>
                  <a:pt x="2939233" y="20094"/>
                  <a:pt x="3151981" y="1524"/>
                  <a:pt x="3387852" y="0"/>
                </a:cubicBezTo>
                <a:cubicBezTo>
                  <a:pt x="3623723" y="-1524"/>
                  <a:pt x="3882724" y="26165"/>
                  <a:pt x="4114800" y="0"/>
                </a:cubicBezTo>
                <a:cubicBezTo>
                  <a:pt x="4114300" y="8855"/>
                  <a:pt x="4114909" y="14521"/>
                  <a:pt x="4114800" y="18288"/>
                </a:cubicBezTo>
                <a:cubicBezTo>
                  <a:pt x="3910038" y="37744"/>
                  <a:pt x="3683432" y="-3969"/>
                  <a:pt x="3429000" y="18288"/>
                </a:cubicBezTo>
                <a:cubicBezTo>
                  <a:pt x="3174568" y="40545"/>
                  <a:pt x="3085815" y="44166"/>
                  <a:pt x="2866644" y="18288"/>
                </a:cubicBezTo>
                <a:cubicBezTo>
                  <a:pt x="2647473" y="-7590"/>
                  <a:pt x="2580474" y="31338"/>
                  <a:pt x="2304288" y="18288"/>
                </a:cubicBezTo>
                <a:cubicBezTo>
                  <a:pt x="2028102" y="5238"/>
                  <a:pt x="1863008" y="-2001"/>
                  <a:pt x="1577340" y="18288"/>
                </a:cubicBezTo>
                <a:cubicBezTo>
                  <a:pt x="1291672" y="38577"/>
                  <a:pt x="1243931" y="9893"/>
                  <a:pt x="973836" y="18288"/>
                </a:cubicBezTo>
                <a:cubicBezTo>
                  <a:pt x="703741" y="26683"/>
                  <a:pt x="317656" y="-5910"/>
                  <a:pt x="0" y="18288"/>
                </a:cubicBezTo>
                <a:cubicBezTo>
                  <a:pt x="683" y="12014"/>
                  <a:pt x="724" y="5908"/>
                  <a:pt x="0" y="0"/>
                </a:cubicBezTo>
                <a:close/>
              </a:path>
              <a:path w="4114800" h="18288" stroke="0" extrusionOk="0">
                <a:moveTo>
                  <a:pt x="0" y="0"/>
                </a:moveTo>
                <a:cubicBezTo>
                  <a:pt x="276109" y="5266"/>
                  <a:pt x="325589" y="-19584"/>
                  <a:pt x="644652" y="0"/>
                </a:cubicBezTo>
                <a:cubicBezTo>
                  <a:pt x="963715" y="19584"/>
                  <a:pt x="1064991" y="6066"/>
                  <a:pt x="1207008" y="0"/>
                </a:cubicBezTo>
                <a:cubicBezTo>
                  <a:pt x="1349025" y="-6066"/>
                  <a:pt x="1791724" y="14506"/>
                  <a:pt x="1975104" y="0"/>
                </a:cubicBezTo>
                <a:cubicBezTo>
                  <a:pt x="2158484" y="-14506"/>
                  <a:pt x="2397469" y="20822"/>
                  <a:pt x="2619756" y="0"/>
                </a:cubicBezTo>
                <a:cubicBezTo>
                  <a:pt x="2842043" y="-20822"/>
                  <a:pt x="2992157" y="20388"/>
                  <a:pt x="3264408" y="0"/>
                </a:cubicBezTo>
                <a:cubicBezTo>
                  <a:pt x="3536659" y="-20388"/>
                  <a:pt x="3855620" y="38211"/>
                  <a:pt x="4114800" y="0"/>
                </a:cubicBezTo>
                <a:cubicBezTo>
                  <a:pt x="4113902" y="7180"/>
                  <a:pt x="4114969" y="13790"/>
                  <a:pt x="4114800" y="18288"/>
                </a:cubicBezTo>
                <a:cubicBezTo>
                  <a:pt x="3968901" y="8593"/>
                  <a:pt x="3623428" y="17559"/>
                  <a:pt x="3429000" y="18288"/>
                </a:cubicBezTo>
                <a:cubicBezTo>
                  <a:pt x="3234572" y="19017"/>
                  <a:pt x="3085079" y="41804"/>
                  <a:pt x="2866644" y="18288"/>
                </a:cubicBezTo>
                <a:cubicBezTo>
                  <a:pt x="2648209" y="-5228"/>
                  <a:pt x="2451737" y="24580"/>
                  <a:pt x="2180844" y="18288"/>
                </a:cubicBezTo>
                <a:cubicBezTo>
                  <a:pt x="1909951" y="11996"/>
                  <a:pt x="1681589" y="12244"/>
                  <a:pt x="1495044" y="18288"/>
                </a:cubicBezTo>
                <a:cubicBezTo>
                  <a:pt x="1308499" y="24332"/>
                  <a:pt x="1136614" y="21789"/>
                  <a:pt x="850392" y="18288"/>
                </a:cubicBezTo>
                <a:cubicBezTo>
                  <a:pt x="564170" y="14787"/>
                  <a:pt x="210636" y="54701"/>
                  <a:pt x="0" y="18288"/>
                </a:cubicBezTo>
                <a:cubicBezTo>
                  <a:pt x="571" y="10093"/>
                  <a:pt x="-125" y="8407"/>
                  <a:pt x="0" y="0"/>
                </a:cubicBezTo>
                <a:close/>
              </a:path>
            </a:pathLst>
          </a:custGeom>
          <a:solidFill>
            <a:srgbClr val="95CFE4"/>
          </a:solidFill>
          <a:ln w="38100" cap="rnd">
            <a:solidFill>
              <a:srgbClr val="95CFE4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14C26D-AC67-E3F5-C5B7-32A293CCFBBE}"/>
              </a:ext>
            </a:extLst>
          </p:cNvPr>
          <p:cNvSpPr txBox="1"/>
          <p:nvPr/>
        </p:nvSpPr>
        <p:spPr>
          <a:xfrm>
            <a:off x="630936" y="2660904"/>
            <a:ext cx="4818888" cy="35478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3200" dirty="0"/>
              <a:t>This linear autoencoder repeatedly reduces the input size into a small embedding, then expands it to reconstruct the original image.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070477C5-0410-4E4F-97A1-F84C2465C18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14:cNvPr>
              <p14:cNvContentPartPr>
                <a14:cpLocks xmlns:a14="http://schemas.microsoft.com/office/drawing/2010/main" noGrp="1" noRot="1" noChangeAspect="1" noMove="1" noResize="1" noEditPoints="1" noAdjustHandles="1" noChangeArrowheads="1" noChangeShapeType="1"/>
              </p14:cNvContentPartPr>
              <p14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14:nvPr>
            </p14:nvContentPartPr>
            <p14:xfrm>
              <a:off x="5755403" y="1971579"/>
              <a:ext cx="360" cy="216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070477C5-0410-4E4F-97A1-F84C2465C18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737403" y="1956150"/>
                <a:ext cx="36000" cy="32709"/>
              </a:xfrm>
              <a:prstGeom prst="rect">
                <a:avLst/>
              </a:prstGeom>
            </p:spPr>
          </p:pic>
        </mc:Fallback>
      </mc:AlternateContent>
      <p:pic>
        <p:nvPicPr>
          <p:cNvPr id="4" name="Content Placeholder 3" descr="A computer screen shot of a program code&#10;&#10;AI-generated content may be incorrect.">
            <a:extLst>
              <a:ext uri="{FF2B5EF4-FFF2-40B4-BE49-F238E27FC236}">
                <a16:creationId xmlns:a16="http://schemas.microsoft.com/office/drawing/2014/main" id="{764BB18B-B7FF-310A-1726-5F2B53B9B9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8587" y="473915"/>
            <a:ext cx="5171397" cy="5910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9476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529E97A-97C3-40EA-8A04-5C02398D56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2877832"/>
          </a:xfrm>
          <a:custGeom>
            <a:avLst/>
            <a:gdLst>
              <a:gd name="connsiteX0" fmla="*/ 6789701 w 12192000"/>
              <a:gd name="connsiteY0" fmla="*/ 2809623 h 2877832"/>
              <a:gd name="connsiteX1" fmla="*/ 6788702 w 12192000"/>
              <a:gd name="connsiteY1" fmla="*/ 2809701 h 2877832"/>
              <a:gd name="connsiteX2" fmla="*/ 6788476 w 12192000"/>
              <a:gd name="connsiteY2" fmla="*/ 2810235 h 2877832"/>
              <a:gd name="connsiteX3" fmla="*/ 0 w 12192000"/>
              <a:gd name="connsiteY3" fmla="*/ 0 h 2877832"/>
              <a:gd name="connsiteX4" fmla="*/ 12192000 w 12192000"/>
              <a:gd name="connsiteY4" fmla="*/ 0 h 2877832"/>
              <a:gd name="connsiteX5" fmla="*/ 12192000 w 12192000"/>
              <a:gd name="connsiteY5" fmla="*/ 1915388 h 2877832"/>
              <a:gd name="connsiteX6" fmla="*/ 12061096 w 12192000"/>
              <a:gd name="connsiteY6" fmla="*/ 1954428 h 2877832"/>
              <a:gd name="connsiteX7" fmla="*/ 11676800 w 12192000"/>
              <a:gd name="connsiteY7" fmla="*/ 2058003 h 2877832"/>
              <a:gd name="connsiteX8" fmla="*/ 10425355 w 12192000"/>
              <a:gd name="connsiteY8" fmla="*/ 2341542 h 2877832"/>
              <a:gd name="connsiteX9" fmla="*/ 9424022 w 12192000"/>
              <a:gd name="connsiteY9" fmla="*/ 2516704 h 2877832"/>
              <a:gd name="connsiteX10" fmla="*/ 8458419 w 12192000"/>
              <a:gd name="connsiteY10" fmla="*/ 2650405 h 2877832"/>
              <a:gd name="connsiteX11" fmla="*/ 7715970 w 12192000"/>
              <a:gd name="connsiteY11" fmla="*/ 2730352 h 2877832"/>
              <a:gd name="connsiteX12" fmla="*/ 6951716 w 12192000"/>
              <a:gd name="connsiteY12" fmla="*/ 2796132 h 2877832"/>
              <a:gd name="connsiteX13" fmla="*/ 6936303 w 12192000"/>
              <a:gd name="connsiteY13" fmla="*/ 2798203 h 2877832"/>
              <a:gd name="connsiteX14" fmla="*/ 6790448 w 12192000"/>
              <a:gd name="connsiteY14" fmla="*/ 2809564 h 2877832"/>
              <a:gd name="connsiteX15" fmla="*/ 6799941 w 12192000"/>
              <a:gd name="connsiteY15" fmla="*/ 2811384 h 2877832"/>
              <a:gd name="connsiteX16" fmla="*/ 6835432 w 12192000"/>
              <a:gd name="connsiteY16" fmla="*/ 2809677 h 2877832"/>
              <a:gd name="connsiteX17" fmla="*/ 6884003 w 12192000"/>
              <a:gd name="connsiteY17" fmla="*/ 2806699 h 2877832"/>
              <a:gd name="connsiteX18" fmla="*/ 7578771 w 12192000"/>
              <a:gd name="connsiteY18" fmla="*/ 2774172 h 2877832"/>
              <a:gd name="connsiteX19" fmla="*/ 8623845 w 12192000"/>
              <a:gd name="connsiteY19" fmla="*/ 2687275 h 2877832"/>
              <a:gd name="connsiteX20" fmla="*/ 9479970 w 12192000"/>
              <a:gd name="connsiteY20" fmla="*/ 2583369 h 2877832"/>
              <a:gd name="connsiteX21" fmla="*/ 10629308 w 12192000"/>
              <a:gd name="connsiteY21" fmla="*/ 2389212 h 2877832"/>
              <a:gd name="connsiteX22" fmla="*/ 11998498 w 12192000"/>
              <a:gd name="connsiteY22" fmla="*/ 2063218 h 2877832"/>
              <a:gd name="connsiteX23" fmla="*/ 12192000 w 12192000"/>
              <a:gd name="connsiteY23" fmla="*/ 2006219 h 2877832"/>
              <a:gd name="connsiteX24" fmla="*/ 12192000 w 12192000"/>
              <a:gd name="connsiteY24" fmla="*/ 2060956 h 2877832"/>
              <a:gd name="connsiteX25" fmla="*/ 11829257 w 12192000"/>
              <a:gd name="connsiteY25" fmla="*/ 2166255 h 2877832"/>
              <a:gd name="connsiteX26" fmla="*/ 10939183 w 12192000"/>
              <a:gd name="connsiteY26" fmla="*/ 2380770 h 2877832"/>
              <a:gd name="connsiteX27" fmla="*/ 9985530 w 12192000"/>
              <a:gd name="connsiteY27" fmla="*/ 2560775 h 2877832"/>
              <a:gd name="connsiteX28" fmla="*/ 9186882 w 12192000"/>
              <a:gd name="connsiteY28" fmla="*/ 2676722 h 2877832"/>
              <a:gd name="connsiteX29" fmla="*/ 8578198 w 12192000"/>
              <a:gd name="connsiteY29" fmla="*/ 2746241 h 2877832"/>
              <a:gd name="connsiteX30" fmla="*/ 7864358 w 12192000"/>
              <a:gd name="connsiteY30" fmla="*/ 2807692 h 2877832"/>
              <a:gd name="connsiteX31" fmla="*/ 6935502 w 12192000"/>
              <a:gd name="connsiteY31" fmla="*/ 2859086 h 2877832"/>
              <a:gd name="connsiteX32" fmla="*/ 6477750 w 12192000"/>
              <a:gd name="connsiteY32" fmla="*/ 2872989 h 2877832"/>
              <a:gd name="connsiteX33" fmla="*/ 6362294 w 12192000"/>
              <a:gd name="connsiteY33" fmla="*/ 2877832 h 2877832"/>
              <a:gd name="connsiteX34" fmla="*/ 6057129 w 12192000"/>
              <a:gd name="connsiteY34" fmla="*/ 2877832 h 2877832"/>
              <a:gd name="connsiteX35" fmla="*/ 5977784 w 12192000"/>
              <a:gd name="connsiteY35" fmla="*/ 2873238 h 2877832"/>
              <a:gd name="connsiteX36" fmla="*/ 5265087 w 12192000"/>
              <a:gd name="connsiteY36" fmla="*/ 2836989 h 2877832"/>
              <a:gd name="connsiteX37" fmla="*/ 4346277 w 12192000"/>
              <a:gd name="connsiteY37" fmla="*/ 2774919 h 2877832"/>
              <a:gd name="connsiteX38" fmla="*/ 3373045 w 12192000"/>
              <a:gd name="connsiteY38" fmla="*/ 2676350 h 2877832"/>
              <a:gd name="connsiteX39" fmla="*/ 2362173 w 12192000"/>
              <a:gd name="connsiteY39" fmla="*/ 2557423 h 2877832"/>
              <a:gd name="connsiteX40" fmla="*/ 1233178 w 12192000"/>
              <a:gd name="connsiteY40" fmla="*/ 2384247 h 2877832"/>
              <a:gd name="connsiteX41" fmla="*/ 68500 w 12192000"/>
              <a:gd name="connsiteY41" fmla="*/ 2144540 h 2877832"/>
              <a:gd name="connsiteX42" fmla="*/ 0 w 12192000"/>
              <a:gd name="connsiteY42" fmla="*/ 2127185 h 2877832"/>
              <a:gd name="connsiteX43" fmla="*/ 0 w 12192000"/>
              <a:gd name="connsiteY43" fmla="*/ 2070696 h 2877832"/>
              <a:gd name="connsiteX44" fmla="*/ 72441 w 12192000"/>
              <a:gd name="connsiteY44" fmla="*/ 2089473 h 2877832"/>
              <a:gd name="connsiteX45" fmla="*/ 600716 w 12192000"/>
              <a:gd name="connsiteY45" fmla="*/ 2207843 h 2877832"/>
              <a:gd name="connsiteX46" fmla="*/ 1769512 w 12192000"/>
              <a:gd name="connsiteY46" fmla="*/ 2418011 h 2877832"/>
              <a:gd name="connsiteX47" fmla="*/ 2613554 w 12192000"/>
              <a:gd name="connsiteY47" fmla="*/ 2534953 h 2877832"/>
              <a:gd name="connsiteX48" fmla="*/ 2581134 w 12192000"/>
              <a:gd name="connsiteY48" fmla="*/ 2525022 h 2877832"/>
              <a:gd name="connsiteX49" fmla="*/ 1112635 w 12192000"/>
              <a:gd name="connsiteY49" fmla="*/ 2192325 h 2877832"/>
              <a:gd name="connsiteX50" fmla="*/ 420412 w 12192000"/>
              <a:gd name="connsiteY50" fmla="*/ 1992892 h 2877832"/>
              <a:gd name="connsiteX51" fmla="*/ 0 w 12192000"/>
              <a:gd name="connsiteY51" fmla="*/ 1853975 h 2877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000" h="2877832">
                <a:moveTo>
                  <a:pt x="6789701" y="2809623"/>
                </a:moveTo>
                <a:lnTo>
                  <a:pt x="6788702" y="2809701"/>
                </a:lnTo>
                <a:lnTo>
                  <a:pt x="6788476" y="2810235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915388"/>
                </a:lnTo>
                <a:lnTo>
                  <a:pt x="12061096" y="1954428"/>
                </a:lnTo>
                <a:cubicBezTo>
                  <a:pt x="11933500" y="1990642"/>
                  <a:pt x="11805390" y="2025171"/>
                  <a:pt x="11676800" y="2058003"/>
                </a:cubicBezTo>
                <a:cubicBezTo>
                  <a:pt x="11262789" y="2165510"/>
                  <a:pt x="10845343" y="2259112"/>
                  <a:pt x="10425355" y="2341542"/>
                </a:cubicBezTo>
                <a:cubicBezTo>
                  <a:pt x="10092810" y="2406753"/>
                  <a:pt x="9759033" y="2465150"/>
                  <a:pt x="9424022" y="2516704"/>
                </a:cubicBezTo>
                <a:cubicBezTo>
                  <a:pt x="9102997" y="2566361"/>
                  <a:pt x="8781133" y="2610928"/>
                  <a:pt x="8458419" y="2650405"/>
                </a:cubicBezTo>
                <a:cubicBezTo>
                  <a:pt x="8211360" y="2680571"/>
                  <a:pt x="7963792" y="2706144"/>
                  <a:pt x="7715970" y="2730352"/>
                </a:cubicBezTo>
                <a:lnTo>
                  <a:pt x="6951716" y="2796132"/>
                </a:lnTo>
                <a:lnTo>
                  <a:pt x="6936303" y="2798203"/>
                </a:lnTo>
                <a:lnTo>
                  <a:pt x="6790448" y="2809564"/>
                </a:lnTo>
                <a:lnTo>
                  <a:pt x="6799941" y="2811384"/>
                </a:lnTo>
                <a:cubicBezTo>
                  <a:pt x="6811623" y="2811850"/>
                  <a:pt x="6823734" y="2809677"/>
                  <a:pt x="6835432" y="2809677"/>
                </a:cubicBezTo>
                <a:cubicBezTo>
                  <a:pt x="6851580" y="2809677"/>
                  <a:pt x="6867729" y="2807070"/>
                  <a:pt x="6884003" y="2806699"/>
                </a:cubicBezTo>
                <a:cubicBezTo>
                  <a:pt x="7115805" y="2801237"/>
                  <a:pt x="7347351" y="2789070"/>
                  <a:pt x="7578771" y="2774172"/>
                </a:cubicBezTo>
                <a:cubicBezTo>
                  <a:pt x="7927552" y="2751704"/>
                  <a:pt x="8276080" y="2723525"/>
                  <a:pt x="8623845" y="2687275"/>
                </a:cubicBezTo>
                <a:cubicBezTo>
                  <a:pt x="8909939" y="2657977"/>
                  <a:pt x="9195310" y="2623342"/>
                  <a:pt x="9479970" y="2583369"/>
                </a:cubicBezTo>
                <a:cubicBezTo>
                  <a:pt x="9864901" y="2528995"/>
                  <a:pt x="10248014" y="2464281"/>
                  <a:pt x="10629308" y="2389212"/>
                </a:cubicBezTo>
                <a:cubicBezTo>
                  <a:pt x="11090114" y="2298092"/>
                  <a:pt x="11546975" y="2190586"/>
                  <a:pt x="11998498" y="2063218"/>
                </a:cubicBezTo>
                <a:lnTo>
                  <a:pt x="12192000" y="2006219"/>
                </a:lnTo>
                <a:lnTo>
                  <a:pt x="12192000" y="2060956"/>
                </a:lnTo>
                <a:lnTo>
                  <a:pt x="11829257" y="2166255"/>
                </a:lnTo>
                <a:cubicBezTo>
                  <a:pt x="11534769" y="2245952"/>
                  <a:pt x="11238120" y="2316838"/>
                  <a:pt x="10939183" y="2380770"/>
                </a:cubicBezTo>
                <a:cubicBezTo>
                  <a:pt x="10622824" y="2448552"/>
                  <a:pt x="10304941" y="2508549"/>
                  <a:pt x="9985530" y="2560775"/>
                </a:cubicBezTo>
                <a:cubicBezTo>
                  <a:pt x="9720036" y="2604224"/>
                  <a:pt x="9453814" y="2642869"/>
                  <a:pt x="9186882" y="2676722"/>
                </a:cubicBezTo>
                <a:cubicBezTo>
                  <a:pt x="8984197" y="2702296"/>
                  <a:pt x="8781514" y="2726379"/>
                  <a:pt x="8578198" y="2746241"/>
                </a:cubicBezTo>
                <a:cubicBezTo>
                  <a:pt x="8340547" y="2768961"/>
                  <a:pt x="8102644" y="2790436"/>
                  <a:pt x="7864358" y="2807692"/>
                </a:cubicBezTo>
                <a:cubicBezTo>
                  <a:pt x="7554994" y="2830036"/>
                  <a:pt x="7245502" y="2847914"/>
                  <a:pt x="6935502" y="2859086"/>
                </a:cubicBezTo>
                <a:cubicBezTo>
                  <a:pt x="6782917" y="2864549"/>
                  <a:pt x="6630334" y="2868397"/>
                  <a:pt x="6477750" y="2872989"/>
                </a:cubicBezTo>
                <a:cubicBezTo>
                  <a:pt x="6439195" y="2870905"/>
                  <a:pt x="6400529" y="2872530"/>
                  <a:pt x="6362294" y="2877832"/>
                </a:cubicBezTo>
                <a:lnTo>
                  <a:pt x="6057129" y="2877832"/>
                </a:lnTo>
                <a:lnTo>
                  <a:pt x="5977784" y="2873238"/>
                </a:lnTo>
                <a:cubicBezTo>
                  <a:pt x="5740261" y="2860825"/>
                  <a:pt x="5502739" y="2847046"/>
                  <a:pt x="5265087" y="2836989"/>
                </a:cubicBezTo>
                <a:cubicBezTo>
                  <a:pt x="4958267" y="2824573"/>
                  <a:pt x="4651826" y="2804093"/>
                  <a:pt x="4346277" y="2774919"/>
                </a:cubicBezTo>
                <a:cubicBezTo>
                  <a:pt x="4021654" y="2744007"/>
                  <a:pt x="3697795" y="2709372"/>
                  <a:pt x="3373045" y="2676350"/>
                </a:cubicBezTo>
                <a:cubicBezTo>
                  <a:pt x="3035412" y="2642088"/>
                  <a:pt x="2698456" y="2602449"/>
                  <a:pt x="2362173" y="2557423"/>
                </a:cubicBezTo>
                <a:cubicBezTo>
                  <a:pt x="1984692" y="2507270"/>
                  <a:pt x="1608364" y="2449544"/>
                  <a:pt x="1233178" y="2384247"/>
                </a:cubicBezTo>
                <a:cubicBezTo>
                  <a:pt x="842181" y="2315534"/>
                  <a:pt x="453758" y="2237046"/>
                  <a:pt x="68500" y="2144540"/>
                </a:cubicBezTo>
                <a:lnTo>
                  <a:pt x="0" y="2127185"/>
                </a:lnTo>
                <a:lnTo>
                  <a:pt x="0" y="2070696"/>
                </a:lnTo>
                <a:lnTo>
                  <a:pt x="72441" y="2089473"/>
                </a:lnTo>
                <a:cubicBezTo>
                  <a:pt x="247961" y="2131651"/>
                  <a:pt x="424164" y="2170911"/>
                  <a:pt x="600716" y="2207843"/>
                </a:cubicBezTo>
                <a:cubicBezTo>
                  <a:pt x="988279" y="2288657"/>
                  <a:pt x="1378133" y="2357555"/>
                  <a:pt x="1769512" y="2418011"/>
                </a:cubicBezTo>
                <a:cubicBezTo>
                  <a:pt x="2052426" y="2461587"/>
                  <a:pt x="2335725" y="2501684"/>
                  <a:pt x="2613554" y="2534953"/>
                </a:cubicBezTo>
                <a:cubicBezTo>
                  <a:pt x="2605544" y="2537560"/>
                  <a:pt x="2594611" y="2527504"/>
                  <a:pt x="2581134" y="2525022"/>
                </a:cubicBezTo>
                <a:cubicBezTo>
                  <a:pt x="2087178" y="2433070"/>
                  <a:pt x="1597684" y="2322177"/>
                  <a:pt x="1112635" y="2192325"/>
                </a:cubicBezTo>
                <a:cubicBezTo>
                  <a:pt x="880453" y="2130254"/>
                  <a:pt x="649713" y="2063776"/>
                  <a:pt x="420412" y="1992892"/>
                </a:cubicBezTo>
                <a:lnTo>
                  <a:pt x="0" y="1853975"/>
                </a:lnTo>
                <a:close/>
              </a:path>
            </a:pathLst>
          </a:custGeom>
          <a:solidFill>
            <a:srgbClr val="456D9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070477C5-0410-4E4F-97A1-F84C2465C18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14:cNvPr>
              <p14:cNvContentPartPr>
                <a14:cpLocks xmlns:a14="http://schemas.microsoft.com/office/drawing/2010/main" noGrp="1" noRot="1" noChangeAspect="1" noMove="1" noResize="1" noEditPoints="1" noAdjustHandles="1" noChangeArrowheads="1" noChangeShapeType="1"/>
              </p14:cNvContentPartPr>
              <p14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14:nvPr>
            </p14:nvContentPartPr>
            <p14:xfrm>
              <a:off x="5755403" y="1971579"/>
              <a:ext cx="360" cy="21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070477C5-0410-4E4F-97A1-F84C2465C18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737403" y="1956150"/>
                <a:ext cx="36000" cy="32709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Rectangle 16">
            <a:extLst>
              <a:ext uri="{FF2B5EF4-FFF2-40B4-BE49-F238E27FC236}">
                <a16:creationId xmlns:a16="http://schemas.microsoft.com/office/drawing/2014/main" id="{535742DD-1B16-4E9D-B715-0D74B4574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14992" y="704088"/>
            <a:ext cx="18288" cy="1316736"/>
          </a:xfrm>
          <a:custGeom>
            <a:avLst/>
            <a:gdLst>
              <a:gd name="connsiteX0" fmla="*/ 0 w 18288"/>
              <a:gd name="connsiteY0" fmla="*/ 0 h 1316736"/>
              <a:gd name="connsiteX1" fmla="*/ 18288 w 18288"/>
              <a:gd name="connsiteY1" fmla="*/ 0 h 1316736"/>
              <a:gd name="connsiteX2" fmla="*/ 18288 w 18288"/>
              <a:gd name="connsiteY2" fmla="*/ 632033 h 1316736"/>
              <a:gd name="connsiteX3" fmla="*/ 18288 w 18288"/>
              <a:gd name="connsiteY3" fmla="*/ 1316736 h 1316736"/>
              <a:gd name="connsiteX4" fmla="*/ 0 w 18288"/>
              <a:gd name="connsiteY4" fmla="*/ 1316736 h 1316736"/>
              <a:gd name="connsiteX5" fmla="*/ 0 w 18288"/>
              <a:gd name="connsiteY5" fmla="*/ 671535 h 1316736"/>
              <a:gd name="connsiteX6" fmla="*/ 0 w 18288"/>
              <a:gd name="connsiteY6" fmla="*/ 0 h 13167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288" h="1316736" fill="none" extrusionOk="0">
                <a:moveTo>
                  <a:pt x="0" y="0"/>
                </a:moveTo>
                <a:cubicBezTo>
                  <a:pt x="5414" y="683"/>
                  <a:pt x="12510" y="720"/>
                  <a:pt x="18288" y="0"/>
                </a:cubicBezTo>
                <a:cubicBezTo>
                  <a:pt x="11385" y="276484"/>
                  <a:pt x="47354" y="495364"/>
                  <a:pt x="18288" y="632033"/>
                </a:cubicBezTo>
                <a:cubicBezTo>
                  <a:pt x="-10778" y="768702"/>
                  <a:pt x="26786" y="1005085"/>
                  <a:pt x="18288" y="1316736"/>
                </a:cubicBezTo>
                <a:cubicBezTo>
                  <a:pt x="9577" y="1315893"/>
                  <a:pt x="6900" y="1316365"/>
                  <a:pt x="0" y="1316736"/>
                </a:cubicBezTo>
                <a:cubicBezTo>
                  <a:pt x="-29997" y="1144491"/>
                  <a:pt x="20055" y="926108"/>
                  <a:pt x="0" y="671535"/>
                </a:cubicBezTo>
                <a:cubicBezTo>
                  <a:pt x="-20055" y="416962"/>
                  <a:pt x="15787" y="211813"/>
                  <a:pt x="0" y="0"/>
                </a:cubicBezTo>
                <a:close/>
              </a:path>
              <a:path w="18288" h="1316736" stroke="0" extrusionOk="0">
                <a:moveTo>
                  <a:pt x="0" y="0"/>
                </a:moveTo>
                <a:cubicBezTo>
                  <a:pt x="5341" y="9"/>
                  <a:pt x="11148" y="-611"/>
                  <a:pt x="18288" y="0"/>
                </a:cubicBezTo>
                <a:cubicBezTo>
                  <a:pt x="-6741" y="195124"/>
                  <a:pt x="36996" y="409062"/>
                  <a:pt x="18288" y="618866"/>
                </a:cubicBezTo>
                <a:cubicBezTo>
                  <a:pt x="-420" y="828670"/>
                  <a:pt x="28345" y="1144651"/>
                  <a:pt x="18288" y="1316736"/>
                </a:cubicBezTo>
                <a:cubicBezTo>
                  <a:pt x="10476" y="1317615"/>
                  <a:pt x="8805" y="1316987"/>
                  <a:pt x="0" y="1316736"/>
                </a:cubicBezTo>
                <a:cubicBezTo>
                  <a:pt x="30302" y="1053606"/>
                  <a:pt x="-1997" y="890047"/>
                  <a:pt x="0" y="671535"/>
                </a:cubicBezTo>
                <a:cubicBezTo>
                  <a:pt x="1997" y="453023"/>
                  <a:pt x="-25538" y="322042"/>
                  <a:pt x="0" y="0"/>
                </a:cubicBezTo>
                <a:close/>
              </a:path>
            </a:pathLst>
          </a:custGeom>
          <a:solidFill>
            <a:srgbClr val="456D90"/>
          </a:solidFill>
          <a:ln w="34925">
            <a:solidFill>
              <a:srgbClr val="456D90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66922A86-A163-0781-5159-FF881D46D0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35846" y="251520"/>
            <a:ext cx="8917424" cy="503834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2CB8127-9041-9209-53C2-2A55D3326217}"/>
              </a:ext>
            </a:extLst>
          </p:cNvPr>
          <p:cNvSpPr txBox="1"/>
          <p:nvPr/>
        </p:nvSpPr>
        <p:spPr>
          <a:xfrm>
            <a:off x="1635846" y="5298567"/>
            <a:ext cx="8920307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/>
              <a:t>This convolutional autoencoder compresses images using convolutional layers that reduce spatial size, then reconstructs them using transpose convolutions to restore the original image.</a:t>
            </a:r>
          </a:p>
        </p:txBody>
      </p:sp>
    </p:spTree>
    <p:extLst>
      <p:ext uri="{BB962C8B-B14F-4D97-AF65-F5344CB8AC3E}">
        <p14:creationId xmlns:p14="http://schemas.microsoft.com/office/powerpoint/2010/main" val="33584799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55AB3-EE0F-6AE0-1E48-80B33CEAC6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83740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Training Setup</a:t>
            </a:r>
            <a:br>
              <a:rPr lang="en-US" b="1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5CF7F-3871-EA03-1D63-1D298317D0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b="1" dirty="0"/>
              <a:t>Loss function:</a:t>
            </a:r>
            <a:r>
              <a:rPr lang="en-US" sz="3600" dirty="0"/>
              <a:t> Mean Squared Error (MSE)</a:t>
            </a:r>
          </a:p>
          <a:p>
            <a:r>
              <a:rPr lang="en-US" sz="3600" b="1" dirty="0"/>
              <a:t>Optimizer:</a:t>
            </a:r>
            <a:r>
              <a:rPr lang="en-US" sz="3600" dirty="0"/>
              <a:t> Adam</a:t>
            </a:r>
          </a:p>
        </p:txBody>
      </p:sp>
    </p:spTree>
    <p:extLst>
      <p:ext uri="{BB962C8B-B14F-4D97-AF65-F5344CB8AC3E}">
        <p14:creationId xmlns:p14="http://schemas.microsoft.com/office/powerpoint/2010/main" val="29860110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A8908DB7-C3A6-4FCB-9820-CEE02B398C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D010E05E-9237-4321-84BB-69C0F22568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0936" y="999492"/>
            <a:ext cx="4889565" cy="4424065"/>
          </a:xfrm>
          <a:custGeom>
            <a:avLst/>
            <a:gdLst>
              <a:gd name="connsiteX0" fmla="*/ 2612540 w 5531319"/>
              <a:gd name="connsiteY0" fmla="*/ 836 h 4424065"/>
              <a:gd name="connsiteX1" fmla="*/ 2946310 w 5531319"/>
              <a:gd name="connsiteY1" fmla="*/ 35548 h 4424065"/>
              <a:gd name="connsiteX2" fmla="*/ 3961099 w 5531319"/>
              <a:gd name="connsiteY2" fmla="*/ 303581 h 4424065"/>
              <a:gd name="connsiteX3" fmla="*/ 4854587 w 5531319"/>
              <a:gd name="connsiteY3" fmla="*/ 764502 h 4424065"/>
              <a:gd name="connsiteX4" fmla="*/ 5377812 w 5531319"/>
              <a:gd name="connsiteY4" fmla="*/ 1339732 h 4424065"/>
              <a:gd name="connsiteX5" fmla="*/ 5526197 w 5531319"/>
              <a:gd name="connsiteY5" fmla="*/ 1825829 h 4424065"/>
              <a:gd name="connsiteX6" fmla="*/ 5510557 w 5531319"/>
              <a:gd name="connsiteY6" fmla="*/ 2199398 h 4424065"/>
              <a:gd name="connsiteX7" fmla="*/ 5509795 w 5531319"/>
              <a:gd name="connsiteY7" fmla="*/ 2402839 h 4424065"/>
              <a:gd name="connsiteX8" fmla="*/ 5323519 w 5531319"/>
              <a:gd name="connsiteY8" fmla="*/ 3144890 h 4424065"/>
              <a:gd name="connsiteX9" fmla="*/ 4853061 w 5531319"/>
              <a:gd name="connsiteY9" fmla="*/ 3612932 h 4424065"/>
              <a:gd name="connsiteX10" fmla="*/ 4316358 w 5531319"/>
              <a:gd name="connsiteY10" fmla="*/ 3982940 h 4424065"/>
              <a:gd name="connsiteX11" fmla="*/ 3352556 w 5531319"/>
              <a:gd name="connsiteY11" fmla="*/ 4386771 h 4424065"/>
              <a:gd name="connsiteX12" fmla="*/ 2770206 w 5531319"/>
              <a:gd name="connsiteY12" fmla="*/ 4412201 h 4424065"/>
              <a:gd name="connsiteX13" fmla="*/ 2514888 w 5531319"/>
              <a:gd name="connsiteY13" fmla="*/ 4393637 h 4424065"/>
              <a:gd name="connsiteX14" fmla="*/ 1903166 w 5531319"/>
              <a:gd name="connsiteY14" fmla="*/ 4263562 h 4424065"/>
              <a:gd name="connsiteX15" fmla="*/ 948392 w 5531319"/>
              <a:gd name="connsiteY15" fmla="*/ 3794249 h 4424065"/>
              <a:gd name="connsiteX16" fmla="*/ 223633 w 5531319"/>
              <a:gd name="connsiteY16" fmla="*/ 2975526 h 4424065"/>
              <a:gd name="connsiteX17" fmla="*/ 39519 w 5531319"/>
              <a:gd name="connsiteY17" fmla="*/ 2401695 h 4424065"/>
              <a:gd name="connsiteX18" fmla="*/ 16251 w 5531319"/>
              <a:gd name="connsiteY18" fmla="*/ 2300991 h 4424065"/>
              <a:gd name="connsiteX19" fmla="*/ 11800 w 5531319"/>
              <a:gd name="connsiteY19" fmla="*/ 2053556 h 4424065"/>
              <a:gd name="connsiteX20" fmla="*/ 812849 w 5531319"/>
              <a:gd name="connsiteY20" fmla="*/ 651084 h 4424065"/>
              <a:gd name="connsiteX21" fmla="*/ 2066809 w 5531319"/>
              <a:gd name="connsiteY21" fmla="*/ 52586 h 4424065"/>
              <a:gd name="connsiteX22" fmla="*/ 2332045 w 5531319"/>
              <a:gd name="connsiteY22" fmla="*/ 14441 h 4424065"/>
              <a:gd name="connsiteX23" fmla="*/ 2612540 w 5531319"/>
              <a:gd name="connsiteY23" fmla="*/ 836 h 4424065"/>
              <a:gd name="connsiteX24" fmla="*/ 5468597 w 5531319"/>
              <a:gd name="connsiteY24" fmla="*/ 2088522 h 4424065"/>
              <a:gd name="connsiteX25" fmla="*/ 5471140 w 5531319"/>
              <a:gd name="connsiteY25" fmla="*/ 1826083 h 4424065"/>
              <a:gd name="connsiteX26" fmla="*/ 5327079 w 5531319"/>
              <a:gd name="connsiteY26" fmla="*/ 1361348 h 4424065"/>
              <a:gd name="connsiteX27" fmla="*/ 4833353 w 5531319"/>
              <a:gd name="connsiteY27" fmla="*/ 816507 h 4424065"/>
              <a:gd name="connsiteX28" fmla="*/ 4063456 w 5531319"/>
              <a:gd name="connsiteY28" fmla="*/ 400724 h 4424065"/>
              <a:gd name="connsiteX29" fmla="*/ 3972543 w 5531319"/>
              <a:gd name="connsiteY29" fmla="*/ 365631 h 4424065"/>
              <a:gd name="connsiteX30" fmla="*/ 3885571 w 5531319"/>
              <a:gd name="connsiteY30" fmla="*/ 334733 h 4424065"/>
              <a:gd name="connsiteX31" fmla="*/ 4355012 w 5531319"/>
              <a:gd name="connsiteY31" fmla="*/ 579880 h 4424065"/>
              <a:gd name="connsiteX32" fmla="*/ 5144618 w 5531319"/>
              <a:gd name="connsiteY32" fmla="*/ 1290779 h 4424065"/>
              <a:gd name="connsiteX33" fmla="*/ 5468597 w 5531319"/>
              <a:gd name="connsiteY33" fmla="*/ 2088522 h 4424065"/>
              <a:gd name="connsiteX34" fmla="*/ 2219771 w 5531319"/>
              <a:gd name="connsiteY34" fmla="*/ 85645 h 4424065"/>
              <a:gd name="connsiteX35" fmla="*/ 2181626 w 5531319"/>
              <a:gd name="connsiteY35" fmla="*/ 89333 h 4424065"/>
              <a:gd name="connsiteX36" fmla="*/ 1462971 w 5531319"/>
              <a:gd name="connsiteY36" fmla="*/ 303073 h 4424065"/>
              <a:gd name="connsiteX37" fmla="*/ 308697 w 5531319"/>
              <a:gd name="connsiteY37" fmla="*/ 1338461 h 4424065"/>
              <a:gd name="connsiteX38" fmla="*/ 65839 w 5531319"/>
              <a:gd name="connsiteY38" fmla="*/ 2064364 h 4424065"/>
              <a:gd name="connsiteX39" fmla="*/ 82114 w 5531319"/>
              <a:gd name="connsiteY39" fmla="*/ 2022150 h 4424065"/>
              <a:gd name="connsiteX40" fmla="*/ 423260 w 5531319"/>
              <a:gd name="connsiteY40" fmla="*/ 1282260 h 4424065"/>
              <a:gd name="connsiteX41" fmla="*/ 1231811 w 5531319"/>
              <a:gd name="connsiteY41" fmla="*/ 454001 h 4424065"/>
              <a:gd name="connsiteX42" fmla="*/ 2219771 w 5531319"/>
              <a:gd name="connsiteY42" fmla="*/ 85645 h 4424065"/>
              <a:gd name="connsiteX43" fmla="*/ 2855524 w 5531319"/>
              <a:gd name="connsiteY43" fmla="*/ 4364392 h 4424065"/>
              <a:gd name="connsiteX44" fmla="*/ 4292327 w 5531319"/>
              <a:gd name="connsiteY44" fmla="*/ 3931444 h 4424065"/>
              <a:gd name="connsiteX45" fmla="*/ 2855652 w 5531319"/>
              <a:gd name="connsiteY45" fmla="*/ 4364392 h 4424065"/>
              <a:gd name="connsiteX46" fmla="*/ 3869805 w 5531319"/>
              <a:gd name="connsiteY46" fmla="*/ 330156 h 4424065"/>
              <a:gd name="connsiteX47" fmla="*/ 3865736 w 5531319"/>
              <a:gd name="connsiteY47" fmla="*/ 329520 h 4424065"/>
              <a:gd name="connsiteX48" fmla="*/ 3866499 w 5531319"/>
              <a:gd name="connsiteY48" fmla="*/ 330537 h 4424065"/>
              <a:gd name="connsiteX49" fmla="*/ 4302117 w 5531319"/>
              <a:gd name="connsiteY49" fmla="*/ 3923561 h 4424065"/>
              <a:gd name="connsiteX50" fmla="*/ 4301101 w 5531319"/>
              <a:gd name="connsiteY50" fmla="*/ 3924959 h 4424065"/>
              <a:gd name="connsiteX51" fmla="*/ 4302880 w 5531319"/>
              <a:gd name="connsiteY51" fmla="*/ 3924959 h 4424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5531319" h="4424065">
                <a:moveTo>
                  <a:pt x="2612540" y="836"/>
                </a:moveTo>
                <a:cubicBezTo>
                  <a:pt x="2715913" y="-4250"/>
                  <a:pt x="2831239" y="14695"/>
                  <a:pt x="2946310" y="35548"/>
                </a:cubicBezTo>
                <a:cubicBezTo>
                  <a:pt x="3291651" y="98106"/>
                  <a:pt x="3631143" y="182915"/>
                  <a:pt x="3961099" y="303581"/>
                </a:cubicBezTo>
                <a:cubicBezTo>
                  <a:pt x="4278340" y="419543"/>
                  <a:pt x="4581340" y="563350"/>
                  <a:pt x="4854587" y="764502"/>
                </a:cubicBezTo>
                <a:cubicBezTo>
                  <a:pt x="5067437" y="921152"/>
                  <a:pt x="5250407" y="1105521"/>
                  <a:pt x="5377812" y="1339732"/>
                </a:cubicBezTo>
                <a:cubicBezTo>
                  <a:pt x="5459811" y="1489986"/>
                  <a:pt x="5510303" y="1655396"/>
                  <a:pt x="5526197" y="1825829"/>
                </a:cubicBezTo>
                <a:cubicBezTo>
                  <a:pt x="5538276" y="1951327"/>
                  <a:pt x="5527341" y="2074917"/>
                  <a:pt x="5510557" y="2199398"/>
                </a:cubicBezTo>
                <a:cubicBezTo>
                  <a:pt x="5502966" y="2266991"/>
                  <a:pt x="5502712" y="2335195"/>
                  <a:pt x="5509795" y="2402839"/>
                </a:cubicBezTo>
                <a:cubicBezTo>
                  <a:pt x="5534207" y="2664197"/>
                  <a:pt x="5468471" y="2926051"/>
                  <a:pt x="5323519" y="3144890"/>
                </a:cubicBezTo>
                <a:cubicBezTo>
                  <a:pt x="5201339" y="3332234"/>
                  <a:pt x="5041041" y="3491719"/>
                  <a:pt x="4853061" y="3612932"/>
                </a:cubicBezTo>
                <a:cubicBezTo>
                  <a:pt x="4671109" y="3732072"/>
                  <a:pt x="4498565" y="3864563"/>
                  <a:pt x="4316358" y="3982940"/>
                </a:cubicBezTo>
                <a:cubicBezTo>
                  <a:pt x="4019716" y="4175573"/>
                  <a:pt x="3701076" y="4317347"/>
                  <a:pt x="3352556" y="4386771"/>
                </a:cubicBezTo>
                <a:cubicBezTo>
                  <a:pt x="3160953" y="4425590"/>
                  <a:pt x="2964455" y="4434173"/>
                  <a:pt x="2770206" y="4412201"/>
                </a:cubicBezTo>
                <a:cubicBezTo>
                  <a:pt x="2685524" y="4402537"/>
                  <a:pt x="2599952" y="4402410"/>
                  <a:pt x="2514888" y="4393637"/>
                </a:cubicBezTo>
                <a:cubicBezTo>
                  <a:pt x="2307136" y="4370851"/>
                  <a:pt x="2102208" y="4327277"/>
                  <a:pt x="1903166" y="4263562"/>
                </a:cubicBezTo>
                <a:cubicBezTo>
                  <a:pt x="1560622" y="4156119"/>
                  <a:pt x="1238931" y="4006972"/>
                  <a:pt x="948392" y="3794249"/>
                </a:cubicBezTo>
                <a:cubicBezTo>
                  <a:pt x="647553" y="3573897"/>
                  <a:pt x="396812" y="3308660"/>
                  <a:pt x="223633" y="2975526"/>
                </a:cubicBezTo>
                <a:cubicBezTo>
                  <a:pt x="129453" y="2796370"/>
                  <a:pt x="67149" y="2602198"/>
                  <a:pt x="39519" y="2401695"/>
                </a:cubicBezTo>
                <a:cubicBezTo>
                  <a:pt x="34509" y="2367555"/>
                  <a:pt x="26728" y="2333872"/>
                  <a:pt x="16251" y="2300991"/>
                </a:cubicBezTo>
                <a:cubicBezTo>
                  <a:pt x="-9180" y="2218598"/>
                  <a:pt x="-25" y="2135695"/>
                  <a:pt x="11800" y="2053556"/>
                </a:cubicBezTo>
                <a:cubicBezTo>
                  <a:pt x="93685" y="1480615"/>
                  <a:pt x="377867" y="1021983"/>
                  <a:pt x="812849" y="651084"/>
                </a:cubicBezTo>
                <a:cubicBezTo>
                  <a:pt x="1176754" y="340201"/>
                  <a:pt x="1598259" y="146042"/>
                  <a:pt x="2066809" y="52586"/>
                </a:cubicBezTo>
                <a:cubicBezTo>
                  <a:pt x="2154543" y="35039"/>
                  <a:pt x="2243040" y="23087"/>
                  <a:pt x="2332045" y="14441"/>
                </a:cubicBezTo>
                <a:cubicBezTo>
                  <a:pt x="2421051" y="5794"/>
                  <a:pt x="2508912" y="2107"/>
                  <a:pt x="2612540" y="836"/>
                </a:cubicBezTo>
                <a:close/>
                <a:moveTo>
                  <a:pt x="5468597" y="2088522"/>
                </a:moveTo>
                <a:cubicBezTo>
                  <a:pt x="5479329" y="2001424"/>
                  <a:pt x="5480181" y="1913385"/>
                  <a:pt x="5471140" y="1826083"/>
                </a:cubicBezTo>
                <a:cubicBezTo>
                  <a:pt x="5455336" y="1662962"/>
                  <a:pt x="5406306" y="1504799"/>
                  <a:pt x="5327079" y="1361348"/>
                </a:cubicBezTo>
                <a:cubicBezTo>
                  <a:pt x="5206159" y="1140233"/>
                  <a:pt x="5033361" y="965782"/>
                  <a:pt x="4833353" y="816507"/>
                </a:cubicBezTo>
                <a:cubicBezTo>
                  <a:pt x="4597234" y="640276"/>
                  <a:pt x="4336321" y="509438"/>
                  <a:pt x="4063456" y="400724"/>
                </a:cubicBezTo>
                <a:cubicBezTo>
                  <a:pt x="4033359" y="388607"/>
                  <a:pt x="4003059" y="376909"/>
                  <a:pt x="3972543" y="365631"/>
                </a:cubicBezTo>
                <a:cubicBezTo>
                  <a:pt x="3943679" y="354950"/>
                  <a:pt x="3914562" y="345033"/>
                  <a:pt x="3885571" y="334733"/>
                </a:cubicBezTo>
                <a:cubicBezTo>
                  <a:pt x="4046888" y="406840"/>
                  <a:pt x="4203652" y="488713"/>
                  <a:pt x="4355012" y="579880"/>
                </a:cubicBezTo>
                <a:cubicBezTo>
                  <a:pt x="4662081" y="768063"/>
                  <a:pt x="4933802" y="995790"/>
                  <a:pt x="5144618" y="1290779"/>
                </a:cubicBezTo>
                <a:cubicBezTo>
                  <a:pt x="5314364" y="1528042"/>
                  <a:pt x="5426257" y="1789591"/>
                  <a:pt x="5468597" y="2088522"/>
                </a:cubicBezTo>
                <a:close/>
                <a:moveTo>
                  <a:pt x="2219771" y="85645"/>
                </a:moveTo>
                <a:cubicBezTo>
                  <a:pt x="2206942" y="84005"/>
                  <a:pt x="2193909" y="85264"/>
                  <a:pt x="2181626" y="89333"/>
                </a:cubicBezTo>
                <a:cubicBezTo>
                  <a:pt x="1932919" y="125113"/>
                  <a:pt x="1690799" y="197118"/>
                  <a:pt x="1462971" y="303073"/>
                </a:cubicBezTo>
                <a:cubicBezTo>
                  <a:pt x="971788" y="529528"/>
                  <a:pt x="578129" y="865460"/>
                  <a:pt x="308697" y="1338461"/>
                </a:cubicBezTo>
                <a:cubicBezTo>
                  <a:pt x="180224" y="1561852"/>
                  <a:pt x="97652" y="1808638"/>
                  <a:pt x="65839" y="2064364"/>
                </a:cubicBezTo>
                <a:cubicBezTo>
                  <a:pt x="71942" y="2050505"/>
                  <a:pt x="77283" y="2036391"/>
                  <a:pt x="82114" y="2022150"/>
                </a:cubicBezTo>
                <a:cubicBezTo>
                  <a:pt x="170103" y="1763653"/>
                  <a:pt x="279579" y="1515073"/>
                  <a:pt x="423260" y="1282260"/>
                </a:cubicBezTo>
                <a:cubicBezTo>
                  <a:pt x="630769" y="945565"/>
                  <a:pt x="895370" y="664944"/>
                  <a:pt x="1231811" y="454001"/>
                </a:cubicBezTo>
                <a:cubicBezTo>
                  <a:pt x="1535192" y="263783"/>
                  <a:pt x="1866801" y="149729"/>
                  <a:pt x="2219771" y="85645"/>
                </a:cubicBezTo>
                <a:close/>
                <a:moveTo>
                  <a:pt x="2855524" y="4364392"/>
                </a:moveTo>
                <a:cubicBezTo>
                  <a:pt x="3386633" y="4394018"/>
                  <a:pt x="3853530" y="4210158"/>
                  <a:pt x="4292327" y="3931444"/>
                </a:cubicBezTo>
                <a:cubicBezTo>
                  <a:pt x="3830134" y="4131325"/>
                  <a:pt x="3346707" y="4259111"/>
                  <a:pt x="2855652" y="4364392"/>
                </a:cubicBezTo>
                <a:close/>
                <a:moveTo>
                  <a:pt x="3869805" y="330156"/>
                </a:moveTo>
                <a:lnTo>
                  <a:pt x="3865736" y="329520"/>
                </a:lnTo>
                <a:cubicBezTo>
                  <a:pt x="3865736" y="329520"/>
                  <a:pt x="3865736" y="330410"/>
                  <a:pt x="3866499" y="330537"/>
                </a:cubicBezTo>
                <a:close/>
                <a:moveTo>
                  <a:pt x="4302117" y="3923561"/>
                </a:moveTo>
                <a:lnTo>
                  <a:pt x="4301101" y="3924959"/>
                </a:lnTo>
                <a:lnTo>
                  <a:pt x="4302880" y="3924959"/>
                </a:lnTo>
                <a:close/>
              </a:path>
            </a:pathLst>
          </a:custGeom>
          <a:solidFill>
            <a:srgbClr val="94D0E4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070477C5-0410-4E4F-97A1-F84C2465C18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14:cNvPr>
              <p14:cNvContentPartPr>
                <a14:cpLocks xmlns:a14="http://schemas.microsoft.com/office/drawing/2010/main" noGrp="1" noRot="1" noChangeAspect="1" noMove="1" noResize="1" noEditPoints="1" noAdjustHandles="1" noChangeArrowheads="1" noChangeShapeType="1"/>
              </p14:cNvContentPartPr>
              <p14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14:nvPr>
            </p14:nvContentPartPr>
            <p14:xfrm>
              <a:off x="5755403" y="4884261"/>
              <a:ext cx="360" cy="216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070477C5-0410-4E4F-97A1-F84C2465C18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737403" y="4868832"/>
                <a:ext cx="36000" cy="32709"/>
              </a:xfrm>
              <a:prstGeom prst="rect">
                <a:avLst/>
              </a:prstGeom>
            </p:spPr>
          </p:pic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845C751C-A988-57C6-40F4-EBAC73ADEC27}"/>
              </a:ext>
            </a:extLst>
          </p:cNvPr>
          <p:cNvSpPr txBox="1"/>
          <p:nvPr/>
        </p:nvSpPr>
        <p:spPr>
          <a:xfrm>
            <a:off x="1533997" y="2244369"/>
            <a:ext cx="3083442" cy="30226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-228600" algn="ctr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/>
              <a:t>This code initializes the autoencoder, defines MSE loss to measure reconstruction error, and uses the Adam optimizer to update the model during training.</a:t>
            </a:r>
          </a:p>
          <a:p>
            <a:pPr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dirty="0"/>
          </a:p>
        </p:txBody>
      </p:sp>
      <p:pic>
        <p:nvPicPr>
          <p:cNvPr id="4" name="Content Placeholder 3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00B2BE62-DC69-67E9-948C-45286A19B9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96117" y="2299252"/>
            <a:ext cx="6320266" cy="2259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8848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AE6A207B-97BE-4DE3-B7BA-6EB713664F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6">
            <a:extLst>
              <a:ext uri="{FF2B5EF4-FFF2-40B4-BE49-F238E27FC236}">
                <a16:creationId xmlns:a16="http://schemas.microsoft.com/office/drawing/2014/main" id="{3CE8AF5E-D374-4CF1-90CC-35CF73B81C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29016" y="2529151"/>
            <a:ext cx="3376602" cy="18288"/>
          </a:xfrm>
          <a:custGeom>
            <a:avLst/>
            <a:gdLst>
              <a:gd name="connsiteX0" fmla="*/ 0 w 3376602"/>
              <a:gd name="connsiteY0" fmla="*/ 0 h 18288"/>
              <a:gd name="connsiteX1" fmla="*/ 641554 w 3376602"/>
              <a:gd name="connsiteY1" fmla="*/ 0 h 18288"/>
              <a:gd name="connsiteX2" fmla="*/ 1316875 w 3376602"/>
              <a:gd name="connsiteY2" fmla="*/ 0 h 18288"/>
              <a:gd name="connsiteX3" fmla="*/ 2025961 w 3376602"/>
              <a:gd name="connsiteY3" fmla="*/ 0 h 18288"/>
              <a:gd name="connsiteX4" fmla="*/ 2735048 w 3376602"/>
              <a:gd name="connsiteY4" fmla="*/ 0 h 18288"/>
              <a:gd name="connsiteX5" fmla="*/ 3376602 w 3376602"/>
              <a:gd name="connsiteY5" fmla="*/ 0 h 18288"/>
              <a:gd name="connsiteX6" fmla="*/ 3376602 w 3376602"/>
              <a:gd name="connsiteY6" fmla="*/ 18288 h 18288"/>
              <a:gd name="connsiteX7" fmla="*/ 2633750 w 3376602"/>
              <a:gd name="connsiteY7" fmla="*/ 18288 h 18288"/>
              <a:gd name="connsiteX8" fmla="*/ 1890897 w 3376602"/>
              <a:gd name="connsiteY8" fmla="*/ 18288 h 18288"/>
              <a:gd name="connsiteX9" fmla="*/ 1215577 w 3376602"/>
              <a:gd name="connsiteY9" fmla="*/ 18288 h 18288"/>
              <a:gd name="connsiteX10" fmla="*/ 0 w 3376602"/>
              <a:gd name="connsiteY10" fmla="*/ 18288 h 18288"/>
              <a:gd name="connsiteX11" fmla="*/ 0 w 3376602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376602" h="18288" fill="none" extrusionOk="0">
                <a:moveTo>
                  <a:pt x="0" y="0"/>
                </a:moveTo>
                <a:cubicBezTo>
                  <a:pt x="154337" y="-26787"/>
                  <a:pt x="393692" y="25344"/>
                  <a:pt x="641554" y="0"/>
                </a:cubicBezTo>
                <a:cubicBezTo>
                  <a:pt x="889416" y="-25344"/>
                  <a:pt x="1078313" y="12271"/>
                  <a:pt x="1316875" y="0"/>
                </a:cubicBezTo>
                <a:cubicBezTo>
                  <a:pt x="1555437" y="-12271"/>
                  <a:pt x="1698513" y="30110"/>
                  <a:pt x="2025961" y="0"/>
                </a:cubicBezTo>
                <a:cubicBezTo>
                  <a:pt x="2353409" y="-30110"/>
                  <a:pt x="2474986" y="1722"/>
                  <a:pt x="2735048" y="0"/>
                </a:cubicBezTo>
                <a:cubicBezTo>
                  <a:pt x="2995110" y="-1722"/>
                  <a:pt x="3097437" y="28961"/>
                  <a:pt x="3376602" y="0"/>
                </a:cubicBezTo>
                <a:cubicBezTo>
                  <a:pt x="3375893" y="8157"/>
                  <a:pt x="3376189" y="12125"/>
                  <a:pt x="3376602" y="18288"/>
                </a:cubicBezTo>
                <a:cubicBezTo>
                  <a:pt x="3037458" y="40377"/>
                  <a:pt x="2857195" y="34928"/>
                  <a:pt x="2633750" y="18288"/>
                </a:cubicBezTo>
                <a:cubicBezTo>
                  <a:pt x="2410305" y="1648"/>
                  <a:pt x="2066994" y="17360"/>
                  <a:pt x="1890897" y="18288"/>
                </a:cubicBezTo>
                <a:cubicBezTo>
                  <a:pt x="1714800" y="19216"/>
                  <a:pt x="1521080" y="47858"/>
                  <a:pt x="1215577" y="18288"/>
                </a:cubicBezTo>
                <a:cubicBezTo>
                  <a:pt x="910074" y="-11282"/>
                  <a:pt x="278912" y="61767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376602" h="18288" stroke="0" extrusionOk="0">
                <a:moveTo>
                  <a:pt x="0" y="0"/>
                </a:moveTo>
                <a:cubicBezTo>
                  <a:pt x="304565" y="-9016"/>
                  <a:pt x="402571" y="29762"/>
                  <a:pt x="641554" y="0"/>
                </a:cubicBezTo>
                <a:cubicBezTo>
                  <a:pt x="880537" y="-29762"/>
                  <a:pt x="963871" y="-12492"/>
                  <a:pt x="1215577" y="0"/>
                </a:cubicBezTo>
                <a:cubicBezTo>
                  <a:pt x="1467283" y="12492"/>
                  <a:pt x="1723274" y="15353"/>
                  <a:pt x="1958429" y="0"/>
                </a:cubicBezTo>
                <a:cubicBezTo>
                  <a:pt x="2193584" y="-15353"/>
                  <a:pt x="2347125" y="7922"/>
                  <a:pt x="2599984" y="0"/>
                </a:cubicBezTo>
                <a:cubicBezTo>
                  <a:pt x="2852843" y="-7922"/>
                  <a:pt x="3186422" y="-30763"/>
                  <a:pt x="3376602" y="0"/>
                </a:cubicBezTo>
                <a:cubicBezTo>
                  <a:pt x="3376338" y="4493"/>
                  <a:pt x="3376986" y="9472"/>
                  <a:pt x="3376602" y="18288"/>
                </a:cubicBezTo>
                <a:cubicBezTo>
                  <a:pt x="3080522" y="-5475"/>
                  <a:pt x="3038559" y="47323"/>
                  <a:pt x="2701282" y="18288"/>
                </a:cubicBezTo>
                <a:cubicBezTo>
                  <a:pt x="2364005" y="-10747"/>
                  <a:pt x="2245031" y="49099"/>
                  <a:pt x="1958429" y="18288"/>
                </a:cubicBezTo>
                <a:cubicBezTo>
                  <a:pt x="1671827" y="-12523"/>
                  <a:pt x="1619741" y="31109"/>
                  <a:pt x="1384407" y="18288"/>
                </a:cubicBezTo>
                <a:cubicBezTo>
                  <a:pt x="1149073" y="5467"/>
                  <a:pt x="947712" y="-11758"/>
                  <a:pt x="709086" y="18288"/>
                </a:cubicBezTo>
                <a:cubicBezTo>
                  <a:pt x="470460" y="48334"/>
                  <a:pt x="186882" y="50183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rgbClr val="81B2C5"/>
          </a:solidFill>
          <a:ln w="38100" cap="rnd">
            <a:solidFill>
              <a:srgbClr val="81B2C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7BC29C-130E-2295-4F8D-BFCB99941D43}"/>
              </a:ext>
            </a:extLst>
          </p:cNvPr>
          <p:cNvSpPr txBox="1"/>
          <p:nvPr/>
        </p:nvSpPr>
        <p:spPr>
          <a:xfrm>
            <a:off x="8129016" y="2803470"/>
            <a:ext cx="3432048" cy="341445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This training loop feeds batches of images into the autoencoder, computes reconstruction loss, and updates the model weights to improve image reconstruction over time.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070477C5-0410-4E4F-97A1-F84C2465C18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14:cNvPr>
              <p14:cNvContentPartPr>
                <a14:cpLocks xmlns:a14="http://schemas.microsoft.com/office/drawing/2010/main" noGrp="1" noRot="1" noChangeAspect="1" noMove="1" noResize="1" noEditPoints="1" noAdjustHandles="1" noChangeArrowheads="1" noChangeShapeType="1"/>
              </p14:cNvContentPartPr>
              <p14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14:nvPr>
            </p14:nvContentPartPr>
            <p14:xfrm>
              <a:off x="6436237" y="1971579"/>
              <a:ext cx="360" cy="216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070477C5-0410-4E4F-97A1-F84C2465C18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418237" y="1956150"/>
                <a:ext cx="36000" cy="32709"/>
              </a:xfrm>
              <a:prstGeom prst="rect">
                <a:avLst/>
              </a:prstGeom>
            </p:spPr>
          </p:pic>
        </mc:Fallback>
      </mc:AlternateContent>
      <p:pic>
        <p:nvPicPr>
          <p:cNvPr id="4" name="Content Placeholder 3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996B9E5F-3831-1BAF-D1B2-0800BC8E66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630936" y="1547737"/>
            <a:ext cx="6903720" cy="3762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28187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DA381740-063A-41A4-836D-85D14980EE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36883"/>
            <a:ext cx="4243589" cy="27432"/>
          </a:xfrm>
          <a:custGeom>
            <a:avLst/>
            <a:gdLst>
              <a:gd name="connsiteX0" fmla="*/ 0 w 4243589"/>
              <a:gd name="connsiteY0" fmla="*/ 0 h 27432"/>
              <a:gd name="connsiteX1" fmla="*/ 563791 w 4243589"/>
              <a:gd name="connsiteY1" fmla="*/ 0 h 27432"/>
              <a:gd name="connsiteX2" fmla="*/ 1042710 w 4243589"/>
              <a:gd name="connsiteY2" fmla="*/ 0 h 27432"/>
              <a:gd name="connsiteX3" fmla="*/ 1564066 w 4243589"/>
              <a:gd name="connsiteY3" fmla="*/ 0 h 27432"/>
              <a:gd name="connsiteX4" fmla="*/ 2212729 w 4243589"/>
              <a:gd name="connsiteY4" fmla="*/ 0 h 27432"/>
              <a:gd name="connsiteX5" fmla="*/ 2776520 w 4243589"/>
              <a:gd name="connsiteY5" fmla="*/ 0 h 27432"/>
              <a:gd name="connsiteX6" fmla="*/ 3297875 w 4243589"/>
              <a:gd name="connsiteY6" fmla="*/ 0 h 27432"/>
              <a:gd name="connsiteX7" fmla="*/ 4243589 w 4243589"/>
              <a:gd name="connsiteY7" fmla="*/ 0 h 27432"/>
              <a:gd name="connsiteX8" fmla="*/ 4243589 w 4243589"/>
              <a:gd name="connsiteY8" fmla="*/ 27432 h 27432"/>
              <a:gd name="connsiteX9" fmla="*/ 3637362 w 4243589"/>
              <a:gd name="connsiteY9" fmla="*/ 27432 h 27432"/>
              <a:gd name="connsiteX10" fmla="*/ 3116007 w 4243589"/>
              <a:gd name="connsiteY10" fmla="*/ 27432 h 27432"/>
              <a:gd name="connsiteX11" fmla="*/ 2424908 w 4243589"/>
              <a:gd name="connsiteY11" fmla="*/ 27432 h 27432"/>
              <a:gd name="connsiteX12" fmla="*/ 1861117 w 4243589"/>
              <a:gd name="connsiteY12" fmla="*/ 27432 h 27432"/>
              <a:gd name="connsiteX13" fmla="*/ 1382198 w 4243589"/>
              <a:gd name="connsiteY13" fmla="*/ 27432 h 27432"/>
              <a:gd name="connsiteX14" fmla="*/ 733535 w 4243589"/>
              <a:gd name="connsiteY14" fmla="*/ 27432 h 27432"/>
              <a:gd name="connsiteX15" fmla="*/ 0 w 4243589"/>
              <a:gd name="connsiteY15" fmla="*/ 27432 h 27432"/>
              <a:gd name="connsiteX16" fmla="*/ 0 w 4243589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tx1"/>
          </a:solidFill>
          <a:ln w="3810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665DBBEF-238B-476B-96AB-8AAC3224E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423791F-5836-40D9-F796-29E9871F6E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088" y="3429000"/>
            <a:ext cx="3787353" cy="3497401"/>
          </a:xfrm>
        </p:spPr>
        <p:txBody>
          <a:bodyPr vert="horz" lIns="91440" tIns="45720" rIns="91440" bIns="45720" rtlCol="0" anchor="b">
            <a:normAutofit/>
          </a:bodyPr>
          <a:lstStyle/>
          <a:p>
            <a:pPr marL="457200" indent="-4572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800">
                <a:latin typeface="+mn-lt"/>
              </a:rPr>
              <a:t>This code </a:t>
            </a:r>
            <a:r>
              <a:rPr lang="en-US" sz="2800" dirty="0">
                <a:latin typeface="+mn-lt"/>
              </a:rPr>
              <a:t>compares original images and reconstructed outputs across different epochs to show how the autoencoder improves its reconstruction quality over time.</a:t>
            </a:r>
            <a:br>
              <a:rPr lang="en-US" sz="2800" dirty="0">
                <a:latin typeface="+mn-lt"/>
              </a:rPr>
            </a:br>
            <a:endParaRPr lang="en-US" sz="2800" dirty="0">
              <a:latin typeface="+mn-lt"/>
            </a:endParaRPr>
          </a:p>
        </p:txBody>
      </p:sp>
      <p:sp>
        <p:nvSpPr>
          <p:cNvPr id="24" name="Rectangle 6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4409267"/>
            <a:ext cx="3255095" cy="27432"/>
          </a:xfrm>
          <a:custGeom>
            <a:avLst/>
            <a:gdLst>
              <a:gd name="connsiteX0" fmla="*/ 0 w 3255095"/>
              <a:gd name="connsiteY0" fmla="*/ 0 h 27432"/>
              <a:gd name="connsiteX1" fmla="*/ 618468 w 3255095"/>
              <a:gd name="connsiteY1" fmla="*/ 0 h 27432"/>
              <a:gd name="connsiteX2" fmla="*/ 1269487 w 3255095"/>
              <a:gd name="connsiteY2" fmla="*/ 0 h 27432"/>
              <a:gd name="connsiteX3" fmla="*/ 1953057 w 3255095"/>
              <a:gd name="connsiteY3" fmla="*/ 0 h 27432"/>
              <a:gd name="connsiteX4" fmla="*/ 2636627 w 3255095"/>
              <a:gd name="connsiteY4" fmla="*/ 0 h 27432"/>
              <a:gd name="connsiteX5" fmla="*/ 3255095 w 3255095"/>
              <a:gd name="connsiteY5" fmla="*/ 0 h 27432"/>
              <a:gd name="connsiteX6" fmla="*/ 3255095 w 3255095"/>
              <a:gd name="connsiteY6" fmla="*/ 27432 h 27432"/>
              <a:gd name="connsiteX7" fmla="*/ 2538974 w 3255095"/>
              <a:gd name="connsiteY7" fmla="*/ 27432 h 27432"/>
              <a:gd name="connsiteX8" fmla="*/ 1822853 w 3255095"/>
              <a:gd name="connsiteY8" fmla="*/ 27432 h 27432"/>
              <a:gd name="connsiteX9" fmla="*/ 1171834 w 3255095"/>
              <a:gd name="connsiteY9" fmla="*/ 27432 h 27432"/>
              <a:gd name="connsiteX10" fmla="*/ 0 w 3255095"/>
              <a:gd name="connsiteY10" fmla="*/ 27432 h 27432"/>
              <a:gd name="connsiteX11" fmla="*/ 0 w 3255095"/>
              <a:gd name="connsiteY11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27432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3929" y="7395"/>
                  <a:pt x="3255140" y="21864"/>
                  <a:pt x="3255095" y="27432"/>
                </a:cubicBezTo>
                <a:cubicBezTo>
                  <a:pt x="3088545" y="32347"/>
                  <a:pt x="2687475" y="16563"/>
                  <a:pt x="2538974" y="27432"/>
                </a:cubicBezTo>
                <a:cubicBezTo>
                  <a:pt x="2390473" y="38301"/>
                  <a:pt x="2137381" y="185"/>
                  <a:pt x="1822853" y="27432"/>
                </a:cubicBezTo>
                <a:cubicBezTo>
                  <a:pt x="1508325" y="54679"/>
                  <a:pt x="1466437" y="29529"/>
                  <a:pt x="1171834" y="27432"/>
                </a:cubicBezTo>
                <a:cubicBezTo>
                  <a:pt x="877231" y="25335"/>
                  <a:pt x="561097" y="46787"/>
                  <a:pt x="0" y="27432"/>
                </a:cubicBezTo>
                <a:cubicBezTo>
                  <a:pt x="-503" y="20663"/>
                  <a:pt x="1168" y="5855"/>
                  <a:pt x="0" y="0"/>
                </a:cubicBezTo>
                <a:close/>
              </a:path>
              <a:path w="3255095" h="27432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5288" y="12649"/>
                  <a:pt x="3254107" y="17989"/>
                  <a:pt x="3255095" y="27432"/>
                </a:cubicBezTo>
                <a:cubicBezTo>
                  <a:pt x="3120743" y="25834"/>
                  <a:pt x="2759628" y="51606"/>
                  <a:pt x="2604076" y="27432"/>
                </a:cubicBezTo>
                <a:cubicBezTo>
                  <a:pt x="2448524" y="3258"/>
                  <a:pt x="2184336" y="28743"/>
                  <a:pt x="1887955" y="27432"/>
                </a:cubicBezTo>
                <a:cubicBezTo>
                  <a:pt x="1591574" y="26121"/>
                  <a:pt x="1548845" y="16014"/>
                  <a:pt x="1334589" y="27432"/>
                </a:cubicBezTo>
                <a:cubicBezTo>
                  <a:pt x="1120333" y="38850"/>
                  <a:pt x="996014" y="18806"/>
                  <a:pt x="683570" y="27432"/>
                </a:cubicBezTo>
                <a:cubicBezTo>
                  <a:pt x="371126" y="36058"/>
                  <a:pt x="198687" y="25311"/>
                  <a:pt x="0" y="27432"/>
                </a:cubicBezTo>
                <a:cubicBezTo>
                  <a:pt x="1300" y="19678"/>
                  <a:pt x="-86" y="12044"/>
                  <a:pt x="0" y="0"/>
                </a:cubicBezTo>
                <a:close/>
              </a:path>
            </a:pathLst>
          </a:custGeom>
          <a:solidFill>
            <a:srgbClr val="40889B"/>
          </a:solidFill>
          <a:ln w="38100" cap="rnd">
            <a:solidFill>
              <a:srgbClr val="40889B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Content Placeholder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33FE490C-FA5A-0C7F-D1A9-27189481EC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5088" y="917223"/>
            <a:ext cx="7653824" cy="5300271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478AF13D-7630-7374-E386-51CE86C1B5E2}"/>
              </a:ext>
            </a:extLst>
          </p:cNvPr>
          <p:cNvSpPr txBox="1">
            <a:spLocks/>
          </p:cNvSpPr>
          <p:nvPr/>
        </p:nvSpPr>
        <p:spPr>
          <a:xfrm>
            <a:off x="838200" y="982044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Results</a:t>
            </a:r>
          </a:p>
        </p:txBody>
      </p:sp>
    </p:spTree>
    <p:extLst>
      <p:ext uri="{BB962C8B-B14F-4D97-AF65-F5344CB8AC3E}">
        <p14:creationId xmlns:p14="http://schemas.microsoft.com/office/powerpoint/2010/main" val="4030216739"/>
      </p:ext>
    </p:extLst>
  </p:cSld>
  <p:clrMapOvr>
    <a:masterClrMapping/>
  </p:clrMapOvr>
</p:sld>
</file>

<file path=ppt/theme/theme1.xml><?xml version="1.0" encoding="utf-8"?>
<a:theme xmlns:a="http://schemas.openxmlformats.org/drawingml/2006/main" name="SketchyVTI">
  <a:themeElements>
    <a:clrScheme name="SketchyVTI">
      <a:dk1>
        <a:sysClr val="windowText" lastClr="000000"/>
      </a:dk1>
      <a:lt1>
        <a:sysClr val="window" lastClr="FFFFFF"/>
      </a:lt1>
      <a:dk2>
        <a:srgbClr val="39302A"/>
      </a:dk2>
      <a:lt2>
        <a:srgbClr val="E5DEDB"/>
      </a:lt2>
      <a:accent1>
        <a:srgbClr val="E4650E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Custom 2">
      <a:majorFont>
        <a:latin typeface="The Serif Hand Black"/>
        <a:ea typeface=""/>
        <a:cs typeface=""/>
      </a:majorFont>
      <a:minorFont>
        <a:latin typeface="The Hand Bol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ketchyVTI" id="{A6D2C935-A6E4-4DD9-BCC5-5AE2504DB8EA}" vid="{F0754072-50B6-4C01-B911-67246C9F58D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1424</TotalTime>
  <Words>1334</Words>
  <Application>Microsoft Macintosh PowerPoint</Application>
  <PresentationFormat>Widescreen</PresentationFormat>
  <Paragraphs>157</Paragraphs>
  <Slides>13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Arial</vt:lpstr>
      <vt:lpstr>The Hand Bold</vt:lpstr>
      <vt:lpstr>The Serif Hand Black</vt:lpstr>
      <vt:lpstr>SketchyVTI</vt:lpstr>
      <vt:lpstr>Autoencoder</vt:lpstr>
      <vt:lpstr>What is an Autoencoder?</vt:lpstr>
      <vt:lpstr>Problem Being Solved </vt:lpstr>
      <vt:lpstr>Data Preparation</vt:lpstr>
      <vt:lpstr>PowerPoint Presentation</vt:lpstr>
      <vt:lpstr>PowerPoint Presentation</vt:lpstr>
      <vt:lpstr>Method Used to Solve It </vt:lpstr>
      <vt:lpstr>PowerPoint Presentation</vt:lpstr>
      <vt:lpstr>PowerPoint Presentation</vt:lpstr>
      <vt:lpstr>Training Setup </vt:lpstr>
      <vt:lpstr>PowerPoint Presentation</vt:lpstr>
      <vt:lpstr>PowerPoint Presentation</vt:lpstr>
      <vt:lpstr>This code compares original images and reconstructed outputs across different epochs to show how the autoencoder improves its reconstruction quality over time.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Leen Alresheq</dc:creator>
  <cp:lastModifiedBy>Leen Alresheq</cp:lastModifiedBy>
  <cp:revision>2</cp:revision>
  <cp:lastPrinted>2026-05-05T02:14:10Z</cp:lastPrinted>
  <dcterms:created xsi:type="dcterms:W3CDTF">2026-05-05T02:01:22Z</dcterms:created>
  <dcterms:modified xsi:type="dcterms:W3CDTF">2026-05-06T02:04:44Z</dcterms:modified>
</cp:coreProperties>
</file>