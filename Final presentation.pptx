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15"/>
  </p:notesMasterIdLst>
  <p:sldIdLst>
    <p:sldId id="256" r:id="rId2"/>
    <p:sldId id="257" r:id="rId3"/>
    <p:sldId id="265" r:id="rId4"/>
    <p:sldId id="267" r:id="rId5"/>
    <p:sldId id="258" r:id="rId6"/>
    <p:sldId id="259" r:id="rId7"/>
    <p:sldId id="266" r:id="rId8"/>
    <p:sldId id="260" r:id="rId9"/>
    <p:sldId id="261" r:id="rId10"/>
    <p:sldId id="268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03639-65F7-8046-8DC0-743283267945}" v="8" dt="2026-05-06T20:07:38.386"/>
    <p1510:client id="{7B8CE4A0-5CD9-B54F-9EDC-2D8BA90DD913}" v="1" dt="2026-05-06T20:04:03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0268"/>
  </p:normalViewPr>
  <p:slideViewPr>
    <p:cSldViewPr snapToGrid="0">
      <p:cViewPr varScale="1">
        <p:scale>
          <a:sx n="79" d="100"/>
          <a:sy n="79" d="100"/>
        </p:scale>
        <p:origin x="18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401A64-E7E3-4460-BFC6-08DD05D6FCF9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5C8B5AF-2934-46EC-81E6-4D9B35C26867}">
      <dgm:prSet/>
      <dgm:spPr/>
      <dgm:t>
        <a:bodyPr/>
        <a:lstStyle/>
        <a:p>
          <a:r>
            <a:rPr lang="en-US"/>
            <a:t>An </a:t>
          </a:r>
          <a:r>
            <a:rPr lang="en-US" b="1"/>
            <a:t>autoencoder</a:t>
          </a:r>
          <a:r>
            <a:rPr lang="en-US"/>
            <a:t> is a neural network that learns how to </a:t>
          </a:r>
          <a:r>
            <a:rPr lang="en-US" b="1"/>
            <a:t>compress data</a:t>
          </a:r>
          <a:r>
            <a:rPr lang="en-US"/>
            <a:t> and then </a:t>
          </a:r>
          <a:r>
            <a:rPr lang="en-US" b="1"/>
            <a:t>reconstruct it</a:t>
          </a:r>
          <a:r>
            <a:rPr lang="en-US"/>
            <a:t>.</a:t>
          </a:r>
        </a:p>
      </dgm:t>
    </dgm:pt>
    <dgm:pt modelId="{61568D99-AC54-4E8D-A639-109932140F31}" type="parTrans" cxnId="{698F4F42-B434-4977-9750-89DE72A9A12A}">
      <dgm:prSet/>
      <dgm:spPr/>
      <dgm:t>
        <a:bodyPr/>
        <a:lstStyle/>
        <a:p>
          <a:endParaRPr lang="en-US"/>
        </a:p>
      </dgm:t>
    </dgm:pt>
    <dgm:pt modelId="{16694EA2-4648-4CC9-B326-E70282364074}" type="sibTrans" cxnId="{698F4F42-B434-4977-9750-89DE72A9A12A}">
      <dgm:prSet/>
      <dgm:spPr/>
      <dgm:t>
        <a:bodyPr/>
        <a:lstStyle/>
        <a:p>
          <a:endParaRPr lang="en-US"/>
        </a:p>
      </dgm:t>
    </dgm:pt>
    <dgm:pt modelId="{409A0987-2583-4866-B877-5E77D94A9D13}">
      <dgm:prSet/>
      <dgm:spPr/>
      <dgm:t>
        <a:bodyPr/>
        <a:lstStyle/>
        <a:p>
          <a:r>
            <a:rPr lang="en-US" b="1"/>
            <a:t>How it works</a:t>
          </a:r>
          <a:endParaRPr lang="en-US"/>
        </a:p>
      </dgm:t>
    </dgm:pt>
    <dgm:pt modelId="{CBAC5361-B99F-430A-BEAC-3B7C3638E449}" type="parTrans" cxnId="{4DA777E2-14A7-4207-9C5C-847961D21829}">
      <dgm:prSet/>
      <dgm:spPr/>
      <dgm:t>
        <a:bodyPr/>
        <a:lstStyle/>
        <a:p>
          <a:endParaRPr lang="en-US"/>
        </a:p>
      </dgm:t>
    </dgm:pt>
    <dgm:pt modelId="{22C7A727-5A13-4097-B151-B3A9A286BDEE}" type="sibTrans" cxnId="{4DA777E2-14A7-4207-9C5C-847961D21829}">
      <dgm:prSet/>
      <dgm:spPr/>
      <dgm:t>
        <a:bodyPr/>
        <a:lstStyle/>
        <a:p>
          <a:endParaRPr lang="en-US"/>
        </a:p>
      </dgm:t>
    </dgm:pt>
    <dgm:pt modelId="{AB2DF6F4-595F-4ED4-9CE3-BB85C69BFD0E}">
      <dgm:prSet/>
      <dgm:spPr/>
      <dgm:t>
        <a:bodyPr/>
        <a:lstStyle/>
        <a:p>
          <a:r>
            <a:rPr lang="en-US" b="1"/>
            <a:t>Encoder</a:t>
          </a:r>
          <a:r>
            <a:rPr lang="en-US"/>
            <a:t> → takes the input and compresses it into a smaller representation </a:t>
          </a:r>
        </a:p>
      </dgm:t>
    </dgm:pt>
    <dgm:pt modelId="{87A7D12C-702E-4BE3-8725-992FB93C142A}" type="parTrans" cxnId="{FB868C55-2B67-4C22-842A-AA44BFC9B968}">
      <dgm:prSet/>
      <dgm:spPr/>
      <dgm:t>
        <a:bodyPr/>
        <a:lstStyle/>
        <a:p>
          <a:endParaRPr lang="en-US"/>
        </a:p>
      </dgm:t>
    </dgm:pt>
    <dgm:pt modelId="{DA81CB49-E7B5-4631-AEBF-240077E45D95}" type="sibTrans" cxnId="{FB868C55-2B67-4C22-842A-AA44BFC9B968}">
      <dgm:prSet/>
      <dgm:spPr/>
      <dgm:t>
        <a:bodyPr/>
        <a:lstStyle/>
        <a:p>
          <a:endParaRPr lang="en-US"/>
        </a:p>
      </dgm:t>
    </dgm:pt>
    <dgm:pt modelId="{8CBDFDBA-183C-40B8-9F0E-7A32FB69F66D}">
      <dgm:prSet/>
      <dgm:spPr/>
      <dgm:t>
        <a:bodyPr/>
        <a:lstStyle/>
        <a:p>
          <a:r>
            <a:rPr lang="en-US" b="1"/>
            <a:t>Decoder</a:t>
          </a:r>
          <a:r>
            <a:rPr lang="en-US"/>
            <a:t> → uses that compressed representation to rebuild the original input </a:t>
          </a:r>
        </a:p>
      </dgm:t>
    </dgm:pt>
    <dgm:pt modelId="{5C11869E-4C62-4FB9-8D37-517CB157805A}" type="parTrans" cxnId="{E7388C1A-0E2C-4A34-80AA-5CE281B1061A}">
      <dgm:prSet/>
      <dgm:spPr/>
      <dgm:t>
        <a:bodyPr/>
        <a:lstStyle/>
        <a:p>
          <a:endParaRPr lang="en-US"/>
        </a:p>
      </dgm:t>
    </dgm:pt>
    <dgm:pt modelId="{80B2C2E1-C07B-4CD4-9F30-65ADEE0CAC84}" type="sibTrans" cxnId="{E7388C1A-0E2C-4A34-80AA-5CE281B1061A}">
      <dgm:prSet/>
      <dgm:spPr/>
      <dgm:t>
        <a:bodyPr/>
        <a:lstStyle/>
        <a:p>
          <a:endParaRPr lang="en-US"/>
        </a:p>
      </dgm:t>
    </dgm:pt>
    <dgm:pt modelId="{BE402096-4442-43CA-A1BE-29E0246109E1}">
      <dgm:prSet/>
      <dgm:spPr/>
      <dgm:t>
        <a:bodyPr/>
        <a:lstStyle/>
        <a:p>
          <a:r>
            <a:rPr lang="en-US" b="1"/>
            <a:t>Why it matters</a:t>
          </a:r>
          <a:endParaRPr lang="en-US"/>
        </a:p>
      </dgm:t>
    </dgm:pt>
    <dgm:pt modelId="{F60A64A0-F14F-409C-BD6D-CE840AB30FB9}" type="parTrans" cxnId="{FD14F965-0DBD-4987-AED6-D46D7314CD82}">
      <dgm:prSet/>
      <dgm:spPr/>
      <dgm:t>
        <a:bodyPr/>
        <a:lstStyle/>
        <a:p>
          <a:endParaRPr lang="en-US"/>
        </a:p>
      </dgm:t>
    </dgm:pt>
    <dgm:pt modelId="{E049866D-15EC-46BF-A405-D41698388718}" type="sibTrans" cxnId="{FD14F965-0DBD-4987-AED6-D46D7314CD82}">
      <dgm:prSet/>
      <dgm:spPr/>
      <dgm:t>
        <a:bodyPr/>
        <a:lstStyle/>
        <a:p>
          <a:endParaRPr lang="en-US"/>
        </a:p>
      </dgm:t>
    </dgm:pt>
    <dgm:pt modelId="{102EAF41-AFF4-4F08-AD94-9AB02AB4ACF0}">
      <dgm:prSet/>
      <dgm:spPr/>
      <dgm:t>
        <a:bodyPr/>
        <a:lstStyle/>
        <a:p>
          <a:r>
            <a:rPr lang="en-US"/>
            <a:t>Learns important features of the data automatically </a:t>
          </a:r>
        </a:p>
      </dgm:t>
    </dgm:pt>
    <dgm:pt modelId="{F4B5DB14-2975-4CD5-B8ED-B07961141021}" type="parTrans" cxnId="{D6FF2B87-32A5-4A41-9410-6C9039C8761B}">
      <dgm:prSet/>
      <dgm:spPr/>
      <dgm:t>
        <a:bodyPr/>
        <a:lstStyle/>
        <a:p>
          <a:endParaRPr lang="en-US"/>
        </a:p>
      </dgm:t>
    </dgm:pt>
    <dgm:pt modelId="{3E94BC9C-0CB1-4FC6-89AB-06C77470BD51}" type="sibTrans" cxnId="{D6FF2B87-32A5-4A41-9410-6C9039C8761B}">
      <dgm:prSet/>
      <dgm:spPr/>
      <dgm:t>
        <a:bodyPr/>
        <a:lstStyle/>
        <a:p>
          <a:endParaRPr lang="en-US"/>
        </a:p>
      </dgm:t>
    </dgm:pt>
    <dgm:pt modelId="{425DD780-612B-2E4C-825D-AC0F484E664A}" type="pres">
      <dgm:prSet presAssocID="{5B401A64-E7E3-4460-BFC6-08DD05D6FCF9}" presName="linear" presStyleCnt="0">
        <dgm:presLayoutVars>
          <dgm:animLvl val="lvl"/>
          <dgm:resizeHandles val="exact"/>
        </dgm:presLayoutVars>
      </dgm:prSet>
      <dgm:spPr/>
    </dgm:pt>
    <dgm:pt modelId="{2A3D5026-6A6B-184C-86DF-76650CD6086A}" type="pres">
      <dgm:prSet presAssocID="{B5C8B5AF-2934-46EC-81E6-4D9B35C268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3C39961-27F5-5E4D-98EE-30F880AE1479}" type="pres">
      <dgm:prSet presAssocID="{16694EA2-4648-4CC9-B326-E70282364074}" presName="spacer" presStyleCnt="0"/>
      <dgm:spPr/>
    </dgm:pt>
    <dgm:pt modelId="{36F8F2B7-0F7B-304C-BA32-5F649485550B}" type="pres">
      <dgm:prSet presAssocID="{409A0987-2583-4866-B877-5E77D94A9D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21D084A-1982-784A-896E-0A30259BE965}" type="pres">
      <dgm:prSet presAssocID="{409A0987-2583-4866-B877-5E77D94A9D13}" presName="childText" presStyleLbl="revTx" presStyleIdx="0" presStyleCnt="2">
        <dgm:presLayoutVars>
          <dgm:bulletEnabled val="1"/>
        </dgm:presLayoutVars>
      </dgm:prSet>
      <dgm:spPr/>
    </dgm:pt>
    <dgm:pt modelId="{45508434-F864-A94D-AF9F-290F2C8B69C0}" type="pres">
      <dgm:prSet presAssocID="{BE402096-4442-43CA-A1BE-29E0246109E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924E496-06B2-EB46-A44C-4AD85EC9EE0F}" type="pres">
      <dgm:prSet presAssocID="{BE402096-4442-43CA-A1BE-29E0246109E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7388C1A-0E2C-4A34-80AA-5CE281B1061A}" srcId="{409A0987-2583-4866-B877-5E77D94A9D13}" destId="{8CBDFDBA-183C-40B8-9F0E-7A32FB69F66D}" srcOrd="1" destOrd="0" parTransId="{5C11869E-4C62-4FB9-8D37-517CB157805A}" sibTransId="{80B2C2E1-C07B-4CD4-9F30-65ADEE0CAC84}"/>
    <dgm:cxn modelId="{06BDAC2D-B48C-A547-8508-8CF0D4FD38E3}" type="presOf" srcId="{AB2DF6F4-595F-4ED4-9CE3-BB85C69BFD0E}" destId="{F21D084A-1982-784A-896E-0A30259BE965}" srcOrd="0" destOrd="0" presId="urn:microsoft.com/office/officeart/2005/8/layout/vList2"/>
    <dgm:cxn modelId="{698F4F42-B434-4977-9750-89DE72A9A12A}" srcId="{5B401A64-E7E3-4460-BFC6-08DD05D6FCF9}" destId="{B5C8B5AF-2934-46EC-81E6-4D9B35C26867}" srcOrd="0" destOrd="0" parTransId="{61568D99-AC54-4E8D-A639-109932140F31}" sibTransId="{16694EA2-4648-4CC9-B326-E70282364074}"/>
    <dgm:cxn modelId="{84CC7947-A01A-DC48-9C2C-3E8FB3480E92}" type="presOf" srcId="{BE402096-4442-43CA-A1BE-29E0246109E1}" destId="{45508434-F864-A94D-AF9F-290F2C8B69C0}" srcOrd="0" destOrd="0" presId="urn:microsoft.com/office/officeart/2005/8/layout/vList2"/>
    <dgm:cxn modelId="{F20A6251-D80E-3346-B517-7A303DF16595}" type="presOf" srcId="{102EAF41-AFF4-4F08-AD94-9AB02AB4ACF0}" destId="{A924E496-06B2-EB46-A44C-4AD85EC9EE0F}" srcOrd="0" destOrd="0" presId="urn:microsoft.com/office/officeart/2005/8/layout/vList2"/>
    <dgm:cxn modelId="{FB868C55-2B67-4C22-842A-AA44BFC9B968}" srcId="{409A0987-2583-4866-B877-5E77D94A9D13}" destId="{AB2DF6F4-595F-4ED4-9CE3-BB85C69BFD0E}" srcOrd="0" destOrd="0" parTransId="{87A7D12C-702E-4BE3-8725-992FB93C142A}" sibTransId="{DA81CB49-E7B5-4631-AEBF-240077E45D95}"/>
    <dgm:cxn modelId="{FD14F965-0DBD-4987-AED6-D46D7314CD82}" srcId="{5B401A64-E7E3-4460-BFC6-08DD05D6FCF9}" destId="{BE402096-4442-43CA-A1BE-29E0246109E1}" srcOrd="2" destOrd="0" parTransId="{F60A64A0-F14F-409C-BD6D-CE840AB30FB9}" sibTransId="{E049866D-15EC-46BF-A405-D41698388718}"/>
    <dgm:cxn modelId="{0D2A826F-4BCB-FE49-8792-F1C03A85DFD6}" type="presOf" srcId="{5B401A64-E7E3-4460-BFC6-08DD05D6FCF9}" destId="{425DD780-612B-2E4C-825D-AC0F484E664A}" srcOrd="0" destOrd="0" presId="urn:microsoft.com/office/officeart/2005/8/layout/vList2"/>
    <dgm:cxn modelId="{D73F5178-D93D-E443-8A25-7D9C9327CB9F}" type="presOf" srcId="{8CBDFDBA-183C-40B8-9F0E-7A32FB69F66D}" destId="{F21D084A-1982-784A-896E-0A30259BE965}" srcOrd="0" destOrd="1" presId="urn:microsoft.com/office/officeart/2005/8/layout/vList2"/>
    <dgm:cxn modelId="{C701EB7C-5890-2441-B432-3FE6A7AAD077}" type="presOf" srcId="{409A0987-2583-4866-B877-5E77D94A9D13}" destId="{36F8F2B7-0F7B-304C-BA32-5F649485550B}" srcOrd="0" destOrd="0" presId="urn:microsoft.com/office/officeart/2005/8/layout/vList2"/>
    <dgm:cxn modelId="{D6FF2B87-32A5-4A41-9410-6C9039C8761B}" srcId="{BE402096-4442-43CA-A1BE-29E0246109E1}" destId="{102EAF41-AFF4-4F08-AD94-9AB02AB4ACF0}" srcOrd="0" destOrd="0" parTransId="{F4B5DB14-2975-4CD5-B8ED-B07961141021}" sibTransId="{3E94BC9C-0CB1-4FC6-89AB-06C77470BD51}"/>
    <dgm:cxn modelId="{4DA777E2-14A7-4207-9C5C-847961D21829}" srcId="{5B401A64-E7E3-4460-BFC6-08DD05D6FCF9}" destId="{409A0987-2583-4866-B877-5E77D94A9D13}" srcOrd="1" destOrd="0" parTransId="{CBAC5361-B99F-430A-BEAC-3B7C3638E449}" sibTransId="{22C7A727-5A13-4097-B151-B3A9A286BDEE}"/>
    <dgm:cxn modelId="{94FB59E7-0B7B-8F47-A685-C9B2B0488F7B}" type="presOf" srcId="{B5C8B5AF-2934-46EC-81E6-4D9B35C26867}" destId="{2A3D5026-6A6B-184C-86DF-76650CD6086A}" srcOrd="0" destOrd="0" presId="urn:microsoft.com/office/officeart/2005/8/layout/vList2"/>
    <dgm:cxn modelId="{6A3B7610-6DAE-7541-A950-B3D63DF149AD}" type="presParOf" srcId="{425DD780-612B-2E4C-825D-AC0F484E664A}" destId="{2A3D5026-6A6B-184C-86DF-76650CD6086A}" srcOrd="0" destOrd="0" presId="urn:microsoft.com/office/officeart/2005/8/layout/vList2"/>
    <dgm:cxn modelId="{62C89CAF-9F4A-4141-9FFE-B1B3EB485696}" type="presParOf" srcId="{425DD780-612B-2E4C-825D-AC0F484E664A}" destId="{33C39961-27F5-5E4D-98EE-30F880AE1479}" srcOrd="1" destOrd="0" presId="urn:microsoft.com/office/officeart/2005/8/layout/vList2"/>
    <dgm:cxn modelId="{E29FBEB7-F1DC-CB41-A515-C4071F6539DA}" type="presParOf" srcId="{425DD780-612B-2E4C-825D-AC0F484E664A}" destId="{36F8F2B7-0F7B-304C-BA32-5F649485550B}" srcOrd="2" destOrd="0" presId="urn:microsoft.com/office/officeart/2005/8/layout/vList2"/>
    <dgm:cxn modelId="{6502895C-F92B-6744-A11B-B02875A46D39}" type="presParOf" srcId="{425DD780-612B-2E4C-825D-AC0F484E664A}" destId="{F21D084A-1982-784A-896E-0A30259BE965}" srcOrd="3" destOrd="0" presId="urn:microsoft.com/office/officeart/2005/8/layout/vList2"/>
    <dgm:cxn modelId="{FA396517-52B4-AE43-B0B8-E20A29181DED}" type="presParOf" srcId="{425DD780-612B-2E4C-825D-AC0F484E664A}" destId="{45508434-F864-A94D-AF9F-290F2C8B69C0}" srcOrd="4" destOrd="0" presId="urn:microsoft.com/office/officeart/2005/8/layout/vList2"/>
    <dgm:cxn modelId="{F9D23549-5D44-BC4D-8BF6-7E1C3CC7F0F3}" type="presParOf" srcId="{425DD780-612B-2E4C-825D-AC0F484E664A}" destId="{A924E496-06B2-EB46-A44C-4AD85EC9EE0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D5026-6A6B-184C-86DF-76650CD6086A}">
      <dsp:nvSpPr>
        <dsp:cNvPr id="0" name=""/>
        <dsp:cNvSpPr/>
      </dsp:nvSpPr>
      <dsp:spPr>
        <a:xfrm>
          <a:off x="0" y="24047"/>
          <a:ext cx="10915869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An </a:t>
          </a:r>
          <a:r>
            <a:rPr lang="en-US" sz="2900" b="1" kern="1200"/>
            <a:t>autoencoder</a:t>
          </a:r>
          <a:r>
            <a:rPr lang="en-US" sz="2900" kern="1200"/>
            <a:t> is a neural network that learns how to </a:t>
          </a:r>
          <a:r>
            <a:rPr lang="en-US" sz="2900" b="1" kern="1200"/>
            <a:t>compress data</a:t>
          </a:r>
          <a:r>
            <a:rPr lang="en-US" sz="2900" kern="1200"/>
            <a:t> and then </a:t>
          </a:r>
          <a:r>
            <a:rPr lang="en-US" sz="2900" b="1" kern="1200"/>
            <a:t>reconstruct it</a:t>
          </a:r>
          <a:r>
            <a:rPr lang="en-US" sz="2900" kern="1200"/>
            <a:t>.</a:t>
          </a:r>
        </a:p>
      </dsp:txBody>
      <dsp:txXfrm>
        <a:off x="33955" y="58002"/>
        <a:ext cx="10847959" cy="627655"/>
      </dsp:txXfrm>
    </dsp:sp>
    <dsp:sp modelId="{36F8F2B7-0F7B-304C-BA32-5F649485550B}">
      <dsp:nvSpPr>
        <dsp:cNvPr id="0" name=""/>
        <dsp:cNvSpPr/>
      </dsp:nvSpPr>
      <dsp:spPr>
        <a:xfrm>
          <a:off x="0" y="803132"/>
          <a:ext cx="10915869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How it works</a:t>
          </a:r>
          <a:endParaRPr lang="en-US" sz="2900" kern="1200"/>
        </a:p>
      </dsp:txBody>
      <dsp:txXfrm>
        <a:off x="33955" y="837087"/>
        <a:ext cx="10847959" cy="627655"/>
      </dsp:txXfrm>
    </dsp:sp>
    <dsp:sp modelId="{F21D084A-1982-784A-896E-0A30259BE965}">
      <dsp:nvSpPr>
        <dsp:cNvPr id="0" name=""/>
        <dsp:cNvSpPr/>
      </dsp:nvSpPr>
      <dsp:spPr>
        <a:xfrm>
          <a:off x="0" y="1498697"/>
          <a:ext cx="10915869" cy="78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57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Encoder</a:t>
          </a:r>
          <a:r>
            <a:rPr lang="en-US" sz="2300" kern="1200"/>
            <a:t> → takes the input and compresses it into a smaller representation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Decoder</a:t>
          </a:r>
          <a:r>
            <a:rPr lang="en-US" sz="2300" kern="1200"/>
            <a:t> → uses that compressed representation to rebuild the original input </a:t>
          </a:r>
        </a:p>
      </dsp:txBody>
      <dsp:txXfrm>
        <a:off x="0" y="1498697"/>
        <a:ext cx="10915869" cy="780389"/>
      </dsp:txXfrm>
    </dsp:sp>
    <dsp:sp modelId="{45508434-F864-A94D-AF9F-290F2C8B69C0}">
      <dsp:nvSpPr>
        <dsp:cNvPr id="0" name=""/>
        <dsp:cNvSpPr/>
      </dsp:nvSpPr>
      <dsp:spPr>
        <a:xfrm>
          <a:off x="0" y="2279087"/>
          <a:ext cx="10915869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Why it matters</a:t>
          </a:r>
          <a:endParaRPr lang="en-US" sz="2900" kern="1200"/>
        </a:p>
      </dsp:txBody>
      <dsp:txXfrm>
        <a:off x="33955" y="2313042"/>
        <a:ext cx="10847959" cy="627655"/>
      </dsp:txXfrm>
    </dsp:sp>
    <dsp:sp modelId="{A924E496-06B2-EB46-A44C-4AD85EC9EE0F}">
      <dsp:nvSpPr>
        <dsp:cNvPr id="0" name=""/>
        <dsp:cNvSpPr/>
      </dsp:nvSpPr>
      <dsp:spPr>
        <a:xfrm>
          <a:off x="0" y="2974652"/>
          <a:ext cx="10915869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57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Learns important features of the data automatically </a:t>
          </a:r>
        </a:p>
      </dsp:txBody>
      <dsp:txXfrm>
        <a:off x="0" y="2974652"/>
        <a:ext cx="10915869" cy="480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6T01:10:23.0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6T01:11:46.0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6T01:12:49.5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1:44:08.2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6T01:17:33.4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6T01:18:32.3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FC84C-18EF-F34B-9A0D-D22B2A85EBCB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FB998-C619-A84D-A5E8-EB6D3B628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7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18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4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40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35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65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55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78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35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AFB998-C619-A84D-A5E8-EB6D3B6283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79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2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71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71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56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59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60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0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5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9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31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5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55803-52BF-13CC-75B8-36FFF0848C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9670" r="-1" b="-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61820B-81F0-1F13-AF44-7D2606415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 algn="ctr"/>
            <a:r>
              <a:rPr lang="en-US" sz="10800"/>
              <a:t>Autoencoder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6AE0F-A146-03B5-3423-5B8AD9E6D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Leen Alresheq 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50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B60D3-9891-A082-CDA2-1F34ADFA5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en-US" sz="7200"/>
              <a:t>What is an Autoencoder?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F0B99B7-6F7D-09A6-C66A-4AB4C03AD9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932458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7646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C3BF-6E35-F69F-6AB3-6B9C53DC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1411"/>
            <a:ext cx="10515600" cy="977973"/>
          </a:xfrm>
        </p:spPr>
        <p:txBody>
          <a:bodyPr>
            <a:normAutofit fontScale="90000"/>
          </a:bodyPr>
          <a:lstStyle/>
          <a:p>
            <a:r>
              <a:rPr lang="en-US" b="1"/>
              <a:t>Problem Being Solved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A481-9853-AC25-00D8-1215AFF73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/>
              <a:t>The goal of this project is to build an autoencoder that learns how to:</a:t>
            </a:r>
          </a:p>
          <a:p>
            <a:pPr lvl="1"/>
            <a:r>
              <a:rPr lang="en-US" sz="3200"/>
              <a:t>Compress an image into a low-dimensional representation (embedding) </a:t>
            </a:r>
          </a:p>
          <a:p>
            <a:pPr lvl="1"/>
            <a:r>
              <a:rPr lang="en-US" sz="3200"/>
              <a:t>Reconstruct the original image from that compressed form as accurately as possible </a:t>
            </a:r>
          </a:p>
          <a:p>
            <a:r>
              <a:rPr lang="en-US" sz="3600"/>
              <a:t>A real-world application of this idea could be reducing the size of images or videos to save storage.</a:t>
            </a:r>
          </a:p>
          <a:p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36448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7BAA-7753-D0E4-BF69-5652DF45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Data Preparation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76F76-F59D-32ED-289C-176310C2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Dataset used: </a:t>
            </a:r>
            <a:r>
              <a:rPr lang="en-US" b="1"/>
              <a:t>MNIST handwritten digits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1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54B211C-C0F6-4AE8-8121-30879CBB4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4605A-E5D0-E3EC-6B51-147394EA1DEF}"/>
              </a:ext>
            </a:extLst>
          </p:cNvPr>
          <p:cNvSpPr txBox="1"/>
          <p:nvPr/>
        </p:nvSpPr>
        <p:spPr>
          <a:xfrm>
            <a:off x="4654294" y="4566390"/>
            <a:ext cx="6894577" cy="1601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This code converts the images into tensors, groups them into batches of 64, and shuffles them so the autoencoder can train efficiently.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4884261"/>
              <a:ext cx="360" cy="2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7403" y="4868832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585F6B-A8B8-5D1E-6E38-F1034D11C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74779" y="630936"/>
            <a:ext cx="10630250" cy="366743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4566390"/>
            <a:ext cx="18288" cy="1601482"/>
          </a:xfrm>
          <a:custGeom>
            <a:avLst/>
            <a:gdLst>
              <a:gd name="connsiteX0" fmla="*/ 0 w 18288"/>
              <a:gd name="connsiteY0" fmla="*/ 0 h 1601482"/>
              <a:gd name="connsiteX1" fmla="*/ 18288 w 18288"/>
              <a:gd name="connsiteY1" fmla="*/ 0 h 1601482"/>
              <a:gd name="connsiteX2" fmla="*/ 18288 w 18288"/>
              <a:gd name="connsiteY2" fmla="*/ 549842 h 1601482"/>
              <a:gd name="connsiteX3" fmla="*/ 18288 w 18288"/>
              <a:gd name="connsiteY3" fmla="*/ 1115699 h 1601482"/>
              <a:gd name="connsiteX4" fmla="*/ 18288 w 18288"/>
              <a:gd name="connsiteY4" fmla="*/ 1601482 h 1601482"/>
              <a:gd name="connsiteX5" fmla="*/ 0 w 18288"/>
              <a:gd name="connsiteY5" fmla="*/ 1601482 h 1601482"/>
              <a:gd name="connsiteX6" fmla="*/ 0 w 18288"/>
              <a:gd name="connsiteY6" fmla="*/ 1067655 h 1601482"/>
              <a:gd name="connsiteX7" fmla="*/ 0 w 18288"/>
              <a:gd name="connsiteY7" fmla="*/ 517813 h 1601482"/>
              <a:gd name="connsiteX8" fmla="*/ 0 w 18288"/>
              <a:gd name="connsiteY8" fmla="*/ 0 h 160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" h="1601482" fill="none" extrusionOk="0">
                <a:moveTo>
                  <a:pt x="0" y="0"/>
                </a:moveTo>
                <a:cubicBezTo>
                  <a:pt x="4865" y="374"/>
                  <a:pt x="13608" y="53"/>
                  <a:pt x="18288" y="0"/>
                </a:cubicBezTo>
                <a:cubicBezTo>
                  <a:pt x="13491" y="239554"/>
                  <a:pt x="33082" y="357305"/>
                  <a:pt x="18288" y="549842"/>
                </a:cubicBezTo>
                <a:cubicBezTo>
                  <a:pt x="3494" y="742379"/>
                  <a:pt x="2109" y="968008"/>
                  <a:pt x="18288" y="1115699"/>
                </a:cubicBezTo>
                <a:cubicBezTo>
                  <a:pt x="34467" y="1263390"/>
                  <a:pt x="40467" y="1447654"/>
                  <a:pt x="18288" y="1601482"/>
                </a:cubicBezTo>
                <a:cubicBezTo>
                  <a:pt x="10638" y="1602054"/>
                  <a:pt x="4111" y="1601075"/>
                  <a:pt x="0" y="1601482"/>
                </a:cubicBezTo>
                <a:cubicBezTo>
                  <a:pt x="11161" y="1416130"/>
                  <a:pt x="-25575" y="1276384"/>
                  <a:pt x="0" y="1067655"/>
                </a:cubicBezTo>
                <a:cubicBezTo>
                  <a:pt x="25575" y="858926"/>
                  <a:pt x="19778" y="740089"/>
                  <a:pt x="0" y="517813"/>
                </a:cubicBezTo>
                <a:cubicBezTo>
                  <a:pt x="-19778" y="295537"/>
                  <a:pt x="-1186" y="190747"/>
                  <a:pt x="0" y="0"/>
                </a:cubicBezTo>
                <a:close/>
              </a:path>
              <a:path w="18288" h="1601482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28591" y="163128"/>
                  <a:pt x="29410" y="353165"/>
                  <a:pt x="18288" y="485783"/>
                </a:cubicBezTo>
                <a:cubicBezTo>
                  <a:pt x="7166" y="618401"/>
                  <a:pt x="-625" y="808120"/>
                  <a:pt x="18288" y="1051640"/>
                </a:cubicBezTo>
                <a:cubicBezTo>
                  <a:pt x="37201" y="1295160"/>
                  <a:pt x="-225" y="1354107"/>
                  <a:pt x="18288" y="1601482"/>
                </a:cubicBezTo>
                <a:cubicBezTo>
                  <a:pt x="12642" y="1601712"/>
                  <a:pt x="3803" y="1601151"/>
                  <a:pt x="0" y="1601482"/>
                </a:cubicBezTo>
                <a:cubicBezTo>
                  <a:pt x="20846" y="1460490"/>
                  <a:pt x="16548" y="1224222"/>
                  <a:pt x="0" y="1035625"/>
                </a:cubicBezTo>
                <a:cubicBezTo>
                  <a:pt x="-16548" y="847028"/>
                  <a:pt x="24571" y="662668"/>
                  <a:pt x="0" y="469768"/>
                </a:cubicBezTo>
                <a:cubicBezTo>
                  <a:pt x="-24571" y="276868"/>
                  <a:pt x="-22089" y="172464"/>
                  <a:pt x="0" y="0"/>
                </a:cubicBezTo>
                <a:close/>
              </a:path>
            </a:pathLst>
          </a:custGeom>
          <a:solidFill>
            <a:srgbClr val="86B9CC"/>
          </a:solidFill>
          <a:ln w="34925">
            <a:solidFill>
              <a:srgbClr val="86B9CC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rgbClr val="86BB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704088"/>
            <a:ext cx="18288" cy="1316736"/>
          </a:xfrm>
          <a:custGeom>
            <a:avLst/>
            <a:gdLst>
              <a:gd name="connsiteX0" fmla="*/ 0 w 18288"/>
              <a:gd name="connsiteY0" fmla="*/ 0 h 1316736"/>
              <a:gd name="connsiteX1" fmla="*/ 18288 w 18288"/>
              <a:gd name="connsiteY1" fmla="*/ 0 h 1316736"/>
              <a:gd name="connsiteX2" fmla="*/ 18288 w 18288"/>
              <a:gd name="connsiteY2" fmla="*/ 632033 h 1316736"/>
              <a:gd name="connsiteX3" fmla="*/ 18288 w 18288"/>
              <a:gd name="connsiteY3" fmla="*/ 1316736 h 1316736"/>
              <a:gd name="connsiteX4" fmla="*/ 0 w 18288"/>
              <a:gd name="connsiteY4" fmla="*/ 1316736 h 1316736"/>
              <a:gd name="connsiteX5" fmla="*/ 0 w 18288"/>
              <a:gd name="connsiteY5" fmla="*/ 671535 h 1316736"/>
              <a:gd name="connsiteX6" fmla="*/ 0 w 18288"/>
              <a:gd name="connsiteY6" fmla="*/ 0 h 1316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88" h="1316736" fill="none" extrusionOk="0">
                <a:moveTo>
                  <a:pt x="0" y="0"/>
                </a:moveTo>
                <a:cubicBezTo>
                  <a:pt x="5414" y="683"/>
                  <a:pt x="12510" y="720"/>
                  <a:pt x="18288" y="0"/>
                </a:cubicBezTo>
                <a:cubicBezTo>
                  <a:pt x="11385" y="276484"/>
                  <a:pt x="47354" y="495364"/>
                  <a:pt x="18288" y="632033"/>
                </a:cubicBezTo>
                <a:cubicBezTo>
                  <a:pt x="-10778" y="768702"/>
                  <a:pt x="26786" y="1005085"/>
                  <a:pt x="18288" y="1316736"/>
                </a:cubicBezTo>
                <a:cubicBezTo>
                  <a:pt x="9577" y="1315893"/>
                  <a:pt x="6900" y="1316365"/>
                  <a:pt x="0" y="1316736"/>
                </a:cubicBezTo>
                <a:cubicBezTo>
                  <a:pt x="-29997" y="1144491"/>
                  <a:pt x="20055" y="926108"/>
                  <a:pt x="0" y="671535"/>
                </a:cubicBezTo>
                <a:cubicBezTo>
                  <a:pt x="-20055" y="416962"/>
                  <a:pt x="15787" y="211813"/>
                  <a:pt x="0" y="0"/>
                </a:cubicBezTo>
                <a:close/>
              </a:path>
              <a:path w="18288" h="1316736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-6741" y="195124"/>
                  <a:pt x="36996" y="409062"/>
                  <a:pt x="18288" y="618866"/>
                </a:cubicBezTo>
                <a:cubicBezTo>
                  <a:pt x="-420" y="828670"/>
                  <a:pt x="28345" y="1144651"/>
                  <a:pt x="18288" y="1316736"/>
                </a:cubicBezTo>
                <a:cubicBezTo>
                  <a:pt x="10476" y="1317615"/>
                  <a:pt x="8805" y="1316987"/>
                  <a:pt x="0" y="1316736"/>
                </a:cubicBezTo>
                <a:cubicBezTo>
                  <a:pt x="30302" y="1053606"/>
                  <a:pt x="-1997" y="890047"/>
                  <a:pt x="0" y="671535"/>
                </a:cubicBezTo>
                <a:cubicBezTo>
                  <a:pt x="1997" y="453023"/>
                  <a:pt x="-25538" y="322042"/>
                  <a:pt x="0" y="0"/>
                </a:cubicBezTo>
                <a:close/>
              </a:path>
            </a:pathLst>
          </a:custGeom>
          <a:solidFill>
            <a:srgbClr val="86BBCE"/>
          </a:solidFill>
          <a:ln w="34925">
            <a:solidFill>
              <a:srgbClr val="86BBCE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ED7AB-CEBE-D482-DC02-993309410B7A}"/>
              </a:ext>
            </a:extLst>
          </p:cNvPr>
          <p:cNvSpPr txBox="1"/>
          <p:nvPr/>
        </p:nvSpPr>
        <p:spPr>
          <a:xfrm>
            <a:off x="2103182" y="698492"/>
            <a:ext cx="7304442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/>
                </a:solidFill>
              </a:rPr>
              <a:t>This code checks the pixel value range of the input images so the decoder uses the correct output function.</a:t>
            </a:r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CBE85CF-6367-BD4C-A18F-7263531F9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12418" y="3077570"/>
            <a:ext cx="10754972" cy="317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1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CF05-92E1-03A5-33E6-6A0AD23A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5594"/>
            <a:ext cx="10515600" cy="435094"/>
          </a:xfrm>
        </p:spPr>
        <p:txBody>
          <a:bodyPr>
            <a:normAutofit fontScale="90000"/>
          </a:bodyPr>
          <a:lstStyle/>
          <a:p>
            <a:r>
              <a:rPr lang="en-US" b="1"/>
              <a:t>Method Used to Solve It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2EAFF-0B18-5EE5-FC19-23167F134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/>
              <a:t>Two different autoencoders were implemented:</a:t>
            </a:r>
          </a:p>
          <a:p>
            <a:pPr lvl="1"/>
            <a:r>
              <a:rPr lang="en-US" sz="3200" b="1"/>
              <a:t>Linear Autoencoder</a:t>
            </a:r>
            <a:r>
              <a:rPr lang="en-US" sz="3200"/>
              <a:t> </a:t>
            </a:r>
          </a:p>
          <a:p>
            <a:pPr lvl="1"/>
            <a:r>
              <a:rPr lang="en-US" sz="3200" b="1"/>
              <a:t>Convolutional Autoencoder</a:t>
            </a:r>
            <a:r>
              <a:rPr lang="en-US" sz="3200"/>
              <a:t> </a:t>
            </a:r>
          </a:p>
          <a:p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286233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95CFE4"/>
          </a:solidFill>
          <a:ln w="38100" cap="rnd">
            <a:solidFill>
              <a:srgbClr val="95CFE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4C26D-AC67-E3F5-C5B7-32A293CCFBBE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/>
              <a:t>This linear autoencoder repeatedly reduces the input size into a small embedding, then expands it to reconstruct the original image.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Content Placeholder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64BB18B-B7FF-310A-1726-5F2B53B9B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587" y="473915"/>
            <a:ext cx="5171397" cy="591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47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rgbClr val="456D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704088"/>
            <a:ext cx="18288" cy="1316736"/>
          </a:xfrm>
          <a:custGeom>
            <a:avLst/>
            <a:gdLst>
              <a:gd name="connsiteX0" fmla="*/ 0 w 18288"/>
              <a:gd name="connsiteY0" fmla="*/ 0 h 1316736"/>
              <a:gd name="connsiteX1" fmla="*/ 18288 w 18288"/>
              <a:gd name="connsiteY1" fmla="*/ 0 h 1316736"/>
              <a:gd name="connsiteX2" fmla="*/ 18288 w 18288"/>
              <a:gd name="connsiteY2" fmla="*/ 632033 h 1316736"/>
              <a:gd name="connsiteX3" fmla="*/ 18288 w 18288"/>
              <a:gd name="connsiteY3" fmla="*/ 1316736 h 1316736"/>
              <a:gd name="connsiteX4" fmla="*/ 0 w 18288"/>
              <a:gd name="connsiteY4" fmla="*/ 1316736 h 1316736"/>
              <a:gd name="connsiteX5" fmla="*/ 0 w 18288"/>
              <a:gd name="connsiteY5" fmla="*/ 671535 h 1316736"/>
              <a:gd name="connsiteX6" fmla="*/ 0 w 18288"/>
              <a:gd name="connsiteY6" fmla="*/ 0 h 1316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88" h="1316736" fill="none" extrusionOk="0">
                <a:moveTo>
                  <a:pt x="0" y="0"/>
                </a:moveTo>
                <a:cubicBezTo>
                  <a:pt x="5414" y="683"/>
                  <a:pt x="12510" y="720"/>
                  <a:pt x="18288" y="0"/>
                </a:cubicBezTo>
                <a:cubicBezTo>
                  <a:pt x="11385" y="276484"/>
                  <a:pt x="47354" y="495364"/>
                  <a:pt x="18288" y="632033"/>
                </a:cubicBezTo>
                <a:cubicBezTo>
                  <a:pt x="-10778" y="768702"/>
                  <a:pt x="26786" y="1005085"/>
                  <a:pt x="18288" y="1316736"/>
                </a:cubicBezTo>
                <a:cubicBezTo>
                  <a:pt x="9577" y="1315893"/>
                  <a:pt x="6900" y="1316365"/>
                  <a:pt x="0" y="1316736"/>
                </a:cubicBezTo>
                <a:cubicBezTo>
                  <a:pt x="-29997" y="1144491"/>
                  <a:pt x="20055" y="926108"/>
                  <a:pt x="0" y="671535"/>
                </a:cubicBezTo>
                <a:cubicBezTo>
                  <a:pt x="-20055" y="416962"/>
                  <a:pt x="15787" y="211813"/>
                  <a:pt x="0" y="0"/>
                </a:cubicBezTo>
                <a:close/>
              </a:path>
              <a:path w="18288" h="1316736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-6741" y="195124"/>
                  <a:pt x="36996" y="409062"/>
                  <a:pt x="18288" y="618866"/>
                </a:cubicBezTo>
                <a:cubicBezTo>
                  <a:pt x="-420" y="828670"/>
                  <a:pt x="28345" y="1144651"/>
                  <a:pt x="18288" y="1316736"/>
                </a:cubicBezTo>
                <a:cubicBezTo>
                  <a:pt x="10476" y="1317615"/>
                  <a:pt x="8805" y="1316987"/>
                  <a:pt x="0" y="1316736"/>
                </a:cubicBezTo>
                <a:cubicBezTo>
                  <a:pt x="30302" y="1053606"/>
                  <a:pt x="-1997" y="890047"/>
                  <a:pt x="0" y="671535"/>
                </a:cubicBezTo>
                <a:cubicBezTo>
                  <a:pt x="1997" y="453023"/>
                  <a:pt x="-25538" y="322042"/>
                  <a:pt x="0" y="0"/>
                </a:cubicBezTo>
                <a:close/>
              </a:path>
            </a:pathLst>
          </a:custGeom>
          <a:solidFill>
            <a:srgbClr val="456D90"/>
          </a:solidFill>
          <a:ln w="34925">
            <a:solidFill>
              <a:srgbClr val="456D9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922A86-A163-0781-5159-FF881D46D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846" y="251520"/>
            <a:ext cx="8917424" cy="5038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CB8127-9041-9209-53C2-2A55D3326217}"/>
              </a:ext>
            </a:extLst>
          </p:cNvPr>
          <p:cNvSpPr txBox="1"/>
          <p:nvPr/>
        </p:nvSpPr>
        <p:spPr>
          <a:xfrm>
            <a:off x="1635846" y="5298567"/>
            <a:ext cx="89203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This convolutional autoencoder compresses images using convolutional layers that reduce spatial size, then reconstructs them using transpose convolutions to restore the original image.</a:t>
            </a:r>
          </a:p>
        </p:txBody>
      </p:sp>
    </p:spTree>
    <p:extLst>
      <p:ext uri="{BB962C8B-B14F-4D97-AF65-F5344CB8AC3E}">
        <p14:creationId xmlns:p14="http://schemas.microsoft.com/office/powerpoint/2010/main" val="335847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5AB3-EE0F-6AE0-1E48-80B33CEA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374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/>
              <a:t>Training Setup</a:t>
            </a:r>
            <a:br>
              <a:rPr lang="en-US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CF7F-3871-EA03-1D63-1D298317D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Loss function:</a:t>
            </a:r>
            <a:r>
              <a:rPr lang="en-US" sz="3600"/>
              <a:t> Mean Squared Error (MSE)</a:t>
            </a:r>
          </a:p>
          <a:p>
            <a:r>
              <a:rPr lang="en-US" sz="3600" b="1"/>
              <a:t>Optimizer:</a:t>
            </a:r>
            <a:r>
              <a:rPr lang="en-US" sz="3600"/>
              <a:t> Adam</a:t>
            </a:r>
          </a:p>
        </p:txBody>
      </p:sp>
    </p:spTree>
    <p:extLst>
      <p:ext uri="{BB962C8B-B14F-4D97-AF65-F5344CB8AC3E}">
        <p14:creationId xmlns:p14="http://schemas.microsoft.com/office/powerpoint/2010/main" val="2986011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010E05E-9237-4321-84BB-69C0F2256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999492"/>
            <a:ext cx="4889565" cy="4424065"/>
          </a:xfrm>
          <a:custGeom>
            <a:avLst/>
            <a:gdLst>
              <a:gd name="connsiteX0" fmla="*/ 2612540 w 5531319"/>
              <a:gd name="connsiteY0" fmla="*/ 836 h 4424065"/>
              <a:gd name="connsiteX1" fmla="*/ 2946310 w 5531319"/>
              <a:gd name="connsiteY1" fmla="*/ 35548 h 4424065"/>
              <a:gd name="connsiteX2" fmla="*/ 3961099 w 5531319"/>
              <a:gd name="connsiteY2" fmla="*/ 303581 h 4424065"/>
              <a:gd name="connsiteX3" fmla="*/ 4854587 w 5531319"/>
              <a:gd name="connsiteY3" fmla="*/ 764502 h 4424065"/>
              <a:gd name="connsiteX4" fmla="*/ 5377812 w 5531319"/>
              <a:gd name="connsiteY4" fmla="*/ 1339732 h 4424065"/>
              <a:gd name="connsiteX5" fmla="*/ 5526197 w 5531319"/>
              <a:gd name="connsiteY5" fmla="*/ 1825829 h 4424065"/>
              <a:gd name="connsiteX6" fmla="*/ 5510557 w 5531319"/>
              <a:gd name="connsiteY6" fmla="*/ 2199398 h 4424065"/>
              <a:gd name="connsiteX7" fmla="*/ 5509795 w 5531319"/>
              <a:gd name="connsiteY7" fmla="*/ 2402839 h 4424065"/>
              <a:gd name="connsiteX8" fmla="*/ 5323519 w 5531319"/>
              <a:gd name="connsiteY8" fmla="*/ 3144890 h 4424065"/>
              <a:gd name="connsiteX9" fmla="*/ 4853061 w 5531319"/>
              <a:gd name="connsiteY9" fmla="*/ 3612932 h 4424065"/>
              <a:gd name="connsiteX10" fmla="*/ 4316358 w 5531319"/>
              <a:gd name="connsiteY10" fmla="*/ 3982940 h 4424065"/>
              <a:gd name="connsiteX11" fmla="*/ 3352556 w 5531319"/>
              <a:gd name="connsiteY11" fmla="*/ 4386771 h 4424065"/>
              <a:gd name="connsiteX12" fmla="*/ 2770206 w 5531319"/>
              <a:gd name="connsiteY12" fmla="*/ 4412201 h 4424065"/>
              <a:gd name="connsiteX13" fmla="*/ 2514888 w 5531319"/>
              <a:gd name="connsiteY13" fmla="*/ 4393637 h 4424065"/>
              <a:gd name="connsiteX14" fmla="*/ 1903166 w 5531319"/>
              <a:gd name="connsiteY14" fmla="*/ 4263562 h 4424065"/>
              <a:gd name="connsiteX15" fmla="*/ 948392 w 5531319"/>
              <a:gd name="connsiteY15" fmla="*/ 3794249 h 4424065"/>
              <a:gd name="connsiteX16" fmla="*/ 223633 w 5531319"/>
              <a:gd name="connsiteY16" fmla="*/ 2975526 h 4424065"/>
              <a:gd name="connsiteX17" fmla="*/ 39519 w 5531319"/>
              <a:gd name="connsiteY17" fmla="*/ 2401695 h 4424065"/>
              <a:gd name="connsiteX18" fmla="*/ 16251 w 5531319"/>
              <a:gd name="connsiteY18" fmla="*/ 2300991 h 4424065"/>
              <a:gd name="connsiteX19" fmla="*/ 11800 w 5531319"/>
              <a:gd name="connsiteY19" fmla="*/ 2053556 h 4424065"/>
              <a:gd name="connsiteX20" fmla="*/ 812849 w 5531319"/>
              <a:gd name="connsiteY20" fmla="*/ 651084 h 4424065"/>
              <a:gd name="connsiteX21" fmla="*/ 2066809 w 5531319"/>
              <a:gd name="connsiteY21" fmla="*/ 52586 h 4424065"/>
              <a:gd name="connsiteX22" fmla="*/ 2332045 w 5531319"/>
              <a:gd name="connsiteY22" fmla="*/ 14441 h 4424065"/>
              <a:gd name="connsiteX23" fmla="*/ 2612540 w 5531319"/>
              <a:gd name="connsiteY23" fmla="*/ 836 h 4424065"/>
              <a:gd name="connsiteX24" fmla="*/ 5468597 w 5531319"/>
              <a:gd name="connsiteY24" fmla="*/ 2088522 h 4424065"/>
              <a:gd name="connsiteX25" fmla="*/ 5471140 w 5531319"/>
              <a:gd name="connsiteY25" fmla="*/ 1826083 h 4424065"/>
              <a:gd name="connsiteX26" fmla="*/ 5327079 w 5531319"/>
              <a:gd name="connsiteY26" fmla="*/ 1361348 h 4424065"/>
              <a:gd name="connsiteX27" fmla="*/ 4833353 w 5531319"/>
              <a:gd name="connsiteY27" fmla="*/ 816507 h 4424065"/>
              <a:gd name="connsiteX28" fmla="*/ 4063456 w 5531319"/>
              <a:gd name="connsiteY28" fmla="*/ 400724 h 4424065"/>
              <a:gd name="connsiteX29" fmla="*/ 3972543 w 5531319"/>
              <a:gd name="connsiteY29" fmla="*/ 365631 h 4424065"/>
              <a:gd name="connsiteX30" fmla="*/ 3885571 w 5531319"/>
              <a:gd name="connsiteY30" fmla="*/ 334733 h 4424065"/>
              <a:gd name="connsiteX31" fmla="*/ 4355012 w 5531319"/>
              <a:gd name="connsiteY31" fmla="*/ 579880 h 4424065"/>
              <a:gd name="connsiteX32" fmla="*/ 5144618 w 5531319"/>
              <a:gd name="connsiteY32" fmla="*/ 1290779 h 4424065"/>
              <a:gd name="connsiteX33" fmla="*/ 5468597 w 5531319"/>
              <a:gd name="connsiteY33" fmla="*/ 2088522 h 4424065"/>
              <a:gd name="connsiteX34" fmla="*/ 2219771 w 5531319"/>
              <a:gd name="connsiteY34" fmla="*/ 85645 h 4424065"/>
              <a:gd name="connsiteX35" fmla="*/ 2181626 w 5531319"/>
              <a:gd name="connsiteY35" fmla="*/ 89333 h 4424065"/>
              <a:gd name="connsiteX36" fmla="*/ 1462971 w 5531319"/>
              <a:gd name="connsiteY36" fmla="*/ 303073 h 4424065"/>
              <a:gd name="connsiteX37" fmla="*/ 308697 w 5531319"/>
              <a:gd name="connsiteY37" fmla="*/ 1338461 h 4424065"/>
              <a:gd name="connsiteX38" fmla="*/ 65839 w 5531319"/>
              <a:gd name="connsiteY38" fmla="*/ 2064364 h 4424065"/>
              <a:gd name="connsiteX39" fmla="*/ 82114 w 5531319"/>
              <a:gd name="connsiteY39" fmla="*/ 2022150 h 4424065"/>
              <a:gd name="connsiteX40" fmla="*/ 423260 w 5531319"/>
              <a:gd name="connsiteY40" fmla="*/ 1282260 h 4424065"/>
              <a:gd name="connsiteX41" fmla="*/ 1231811 w 5531319"/>
              <a:gd name="connsiteY41" fmla="*/ 454001 h 4424065"/>
              <a:gd name="connsiteX42" fmla="*/ 2219771 w 5531319"/>
              <a:gd name="connsiteY42" fmla="*/ 85645 h 4424065"/>
              <a:gd name="connsiteX43" fmla="*/ 2855524 w 5531319"/>
              <a:gd name="connsiteY43" fmla="*/ 4364392 h 4424065"/>
              <a:gd name="connsiteX44" fmla="*/ 4292327 w 5531319"/>
              <a:gd name="connsiteY44" fmla="*/ 3931444 h 4424065"/>
              <a:gd name="connsiteX45" fmla="*/ 2855652 w 5531319"/>
              <a:gd name="connsiteY45" fmla="*/ 4364392 h 4424065"/>
              <a:gd name="connsiteX46" fmla="*/ 3869805 w 5531319"/>
              <a:gd name="connsiteY46" fmla="*/ 330156 h 4424065"/>
              <a:gd name="connsiteX47" fmla="*/ 3865736 w 5531319"/>
              <a:gd name="connsiteY47" fmla="*/ 329520 h 4424065"/>
              <a:gd name="connsiteX48" fmla="*/ 3866499 w 5531319"/>
              <a:gd name="connsiteY48" fmla="*/ 330537 h 4424065"/>
              <a:gd name="connsiteX49" fmla="*/ 4302117 w 5531319"/>
              <a:gd name="connsiteY49" fmla="*/ 3923561 h 4424065"/>
              <a:gd name="connsiteX50" fmla="*/ 4301101 w 5531319"/>
              <a:gd name="connsiteY50" fmla="*/ 3924959 h 4424065"/>
              <a:gd name="connsiteX51" fmla="*/ 4302880 w 5531319"/>
              <a:gd name="connsiteY51" fmla="*/ 3924959 h 4424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5531319" h="4424065">
                <a:moveTo>
                  <a:pt x="2612540" y="836"/>
                </a:moveTo>
                <a:cubicBezTo>
                  <a:pt x="2715913" y="-4250"/>
                  <a:pt x="2831239" y="14695"/>
                  <a:pt x="2946310" y="35548"/>
                </a:cubicBezTo>
                <a:cubicBezTo>
                  <a:pt x="3291651" y="98106"/>
                  <a:pt x="3631143" y="182915"/>
                  <a:pt x="3961099" y="303581"/>
                </a:cubicBezTo>
                <a:cubicBezTo>
                  <a:pt x="4278340" y="419543"/>
                  <a:pt x="4581340" y="563350"/>
                  <a:pt x="4854587" y="764502"/>
                </a:cubicBezTo>
                <a:cubicBezTo>
                  <a:pt x="5067437" y="921152"/>
                  <a:pt x="5250407" y="1105521"/>
                  <a:pt x="5377812" y="1339732"/>
                </a:cubicBezTo>
                <a:cubicBezTo>
                  <a:pt x="5459811" y="1489986"/>
                  <a:pt x="5510303" y="1655396"/>
                  <a:pt x="5526197" y="1825829"/>
                </a:cubicBezTo>
                <a:cubicBezTo>
                  <a:pt x="5538276" y="1951327"/>
                  <a:pt x="5527341" y="2074917"/>
                  <a:pt x="5510557" y="2199398"/>
                </a:cubicBezTo>
                <a:cubicBezTo>
                  <a:pt x="5502966" y="2266991"/>
                  <a:pt x="5502712" y="2335195"/>
                  <a:pt x="5509795" y="2402839"/>
                </a:cubicBezTo>
                <a:cubicBezTo>
                  <a:pt x="5534207" y="2664197"/>
                  <a:pt x="5468471" y="2926051"/>
                  <a:pt x="5323519" y="3144890"/>
                </a:cubicBezTo>
                <a:cubicBezTo>
                  <a:pt x="5201339" y="3332234"/>
                  <a:pt x="5041041" y="3491719"/>
                  <a:pt x="4853061" y="3612932"/>
                </a:cubicBezTo>
                <a:cubicBezTo>
                  <a:pt x="4671109" y="3732072"/>
                  <a:pt x="4498565" y="3864563"/>
                  <a:pt x="4316358" y="3982940"/>
                </a:cubicBezTo>
                <a:cubicBezTo>
                  <a:pt x="4019716" y="4175573"/>
                  <a:pt x="3701076" y="4317347"/>
                  <a:pt x="3352556" y="4386771"/>
                </a:cubicBezTo>
                <a:cubicBezTo>
                  <a:pt x="3160953" y="4425590"/>
                  <a:pt x="2964455" y="4434173"/>
                  <a:pt x="2770206" y="4412201"/>
                </a:cubicBezTo>
                <a:cubicBezTo>
                  <a:pt x="2685524" y="4402537"/>
                  <a:pt x="2599952" y="4402410"/>
                  <a:pt x="2514888" y="4393637"/>
                </a:cubicBezTo>
                <a:cubicBezTo>
                  <a:pt x="2307136" y="4370851"/>
                  <a:pt x="2102208" y="4327277"/>
                  <a:pt x="1903166" y="4263562"/>
                </a:cubicBezTo>
                <a:cubicBezTo>
                  <a:pt x="1560622" y="4156119"/>
                  <a:pt x="1238931" y="4006972"/>
                  <a:pt x="948392" y="3794249"/>
                </a:cubicBezTo>
                <a:cubicBezTo>
                  <a:pt x="647553" y="3573897"/>
                  <a:pt x="396812" y="3308660"/>
                  <a:pt x="223633" y="2975526"/>
                </a:cubicBezTo>
                <a:cubicBezTo>
                  <a:pt x="129453" y="2796370"/>
                  <a:pt x="67149" y="2602198"/>
                  <a:pt x="39519" y="2401695"/>
                </a:cubicBezTo>
                <a:cubicBezTo>
                  <a:pt x="34509" y="2367555"/>
                  <a:pt x="26728" y="2333872"/>
                  <a:pt x="16251" y="2300991"/>
                </a:cubicBezTo>
                <a:cubicBezTo>
                  <a:pt x="-9180" y="2218598"/>
                  <a:pt x="-25" y="2135695"/>
                  <a:pt x="11800" y="2053556"/>
                </a:cubicBezTo>
                <a:cubicBezTo>
                  <a:pt x="93685" y="1480615"/>
                  <a:pt x="377867" y="1021983"/>
                  <a:pt x="812849" y="651084"/>
                </a:cubicBezTo>
                <a:cubicBezTo>
                  <a:pt x="1176754" y="340201"/>
                  <a:pt x="1598259" y="146042"/>
                  <a:pt x="2066809" y="52586"/>
                </a:cubicBezTo>
                <a:cubicBezTo>
                  <a:pt x="2154543" y="35039"/>
                  <a:pt x="2243040" y="23087"/>
                  <a:pt x="2332045" y="14441"/>
                </a:cubicBezTo>
                <a:cubicBezTo>
                  <a:pt x="2421051" y="5794"/>
                  <a:pt x="2508912" y="2107"/>
                  <a:pt x="2612540" y="836"/>
                </a:cubicBezTo>
                <a:close/>
                <a:moveTo>
                  <a:pt x="5468597" y="2088522"/>
                </a:moveTo>
                <a:cubicBezTo>
                  <a:pt x="5479329" y="2001424"/>
                  <a:pt x="5480181" y="1913385"/>
                  <a:pt x="5471140" y="1826083"/>
                </a:cubicBezTo>
                <a:cubicBezTo>
                  <a:pt x="5455336" y="1662962"/>
                  <a:pt x="5406306" y="1504799"/>
                  <a:pt x="5327079" y="1361348"/>
                </a:cubicBezTo>
                <a:cubicBezTo>
                  <a:pt x="5206159" y="1140233"/>
                  <a:pt x="5033361" y="965782"/>
                  <a:pt x="4833353" y="816507"/>
                </a:cubicBezTo>
                <a:cubicBezTo>
                  <a:pt x="4597234" y="640276"/>
                  <a:pt x="4336321" y="509438"/>
                  <a:pt x="4063456" y="400724"/>
                </a:cubicBezTo>
                <a:cubicBezTo>
                  <a:pt x="4033359" y="388607"/>
                  <a:pt x="4003059" y="376909"/>
                  <a:pt x="3972543" y="365631"/>
                </a:cubicBezTo>
                <a:cubicBezTo>
                  <a:pt x="3943679" y="354950"/>
                  <a:pt x="3914562" y="345033"/>
                  <a:pt x="3885571" y="334733"/>
                </a:cubicBezTo>
                <a:cubicBezTo>
                  <a:pt x="4046888" y="406840"/>
                  <a:pt x="4203652" y="488713"/>
                  <a:pt x="4355012" y="579880"/>
                </a:cubicBezTo>
                <a:cubicBezTo>
                  <a:pt x="4662081" y="768063"/>
                  <a:pt x="4933802" y="995790"/>
                  <a:pt x="5144618" y="1290779"/>
                </a:cubicBezTo>
                <a:cubicBezTo>
                  <a:pt x="5314364" y="1528042"/>
                  <a:pt x="5426257" y="1789591"/>
                  <a:pt x="5468597" y="2088522"/>
                </a:cubicBezTo>
                <a:close/>
                <a:moveTo>
                  <a:pt x="2219771" y="85645"/>
                </a:moveTo>
                <a:cubicBezTo>
                  <a:pt x="2206942" y="84005"/>
                  <a:pt x="2193909" y="85264"/>
                  <a:pt x="2181626" y="89333"/>
                </a:cubicBezTo>
                <a:cubicBezTo>
                  <a:pt x="1932919" y="125113"/>
                  <a:pt x="1690799" y="197118"/>
                  <a:pt x="1462971" y="303073"/>
                </a:cubicBezTo>
                <a:cubicBezTo>
                  <a:pt x="971788" y="529528"/>
                  <a:pt x="578129" y="865460"/>
                  <a:pt x="308697" y="1338461"/>
                </a:cubicBezTo>
                <a:cubicBezTo>
                  <a:pt x="180224" y="1561852"/>
                  <a:pt x="97652" y="1808638"/>
                  <a:pt x="65839" y="2064364"/>
                </a:cubicBezTo>
                <a:cubicBezTo>
                  <a:pt x="71942" y="2050505"/>
                  <a:pt x="77283" y="2036391"/>
                  <a:pt x="82114" y="2022150"/>
                </a:cubicBezTo>
                <a:cubicBezTo>
                  <a:pt x="170103" y="1763653"/>
                  <a:pt x="279579" y="1515073"/>
                  <a:pt x="423260" y="1282260"/>
                </a:cubicBezTo>
                <a:cubicBezTo>
                  <a:pt x="630769" y="945565"/>
                  <a:pt x="895370" y="664944"/>
                  <a:pt x="1231811" y="454001"/>
                </a:cubicBezTo>
                <a:cubicBezTo>
                  <a:pt x="1535192" y="263783"/>
                  <a:pt x="1866801" y="149729"/>
                  <a:pt x="2219771" y="85645"/>
                </a:cubicBezTo>
                <a:close/>
                <a:moveTo>
                  <a:pt x="2855524" y="4364392"/>
                </a:moveTo>
                <a:cubicBezTo>
                  <a:pt x="3386633" y="4394018"/>
                  <a:pt x="3853530" y="4210158"/>
                  <a:pt x="4292327" y="3931444"/>
                </a:cubicBezTo>
                <a:cubicBezTo>
                  <a:pt x="3830134" y="4131325"/>
                  <a:pt x="3346707" y="4259111"/>
                  <a:pt x="2855652" y="4364392"/>
                </a:cubicBezTo>
                <a:close/>
                <a:moveTo>
                  <a:pt x="3869805" y="330156"/>
                </a:moveTo>
                <a:lnTo>
                  <a:pt x="3865736" y="329520"/>
                </a:lnTo>
                <a:cubicBezTo>
                  <a:pt x="3865736" y="329520"/>
                  <a:pt x="3865736" y="330410"/>
                  <a:pt x="3866499" y="330537"/>
                </a:cubicBezTo>
                <a:close/>
                <a:moveTo>
                  <a:pt x="4302117" y="3923561"/>
                </a:moveTo>
                <a:lnTo>
                  <a:pt x="4301101" y="3924959"/>
                </a:lnTo>
                <a:lnTo>
                  <a:pt x="4302880" y="3924959"/>
                </a:lnTo>
                <a:close/>
              </a:path>
            </a:pathLst>
          </a:custGeom>
          <a:solidFill>
            <a:srgbClr val="94D0E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4884261"/>
              <a:ext cx="360" cy="21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7403" y="4868832"/>
                <a:ext cx="36000" cy="32709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45C751C-A988-57C6-40F4-EBAC73ADEC27}"/>
              </a:ext>
            </a:extLst>
          </p:cNvPr>
          <p:cNvSpPr txBox="1"/>
          <p:nvPr/>
        </p:nvSpPr>
        <p:spPr>
          <a:xfrm>
            <a:off x="1533997" y="2244369"/>
            <a:ext cx="3083442" cy="30226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ctr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This code initializes the autoencoder, defines MSE loss to measure reconstruction error, and uses the Adam optimizer to update the model during training.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0B2BE62-DC69-67E9-948C-45286A19B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117" y="2299252"/>
            <a:ext cx="6320266" cy="225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8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E6A207B-97BE-4DE3-B7BA-6EB713664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6" y="2529151"/>
            <a:ext cx="3376602" cy="18288"/>
          </a:xfrm>
          <a:custGeom>
            <a:avLst/>
            <a:gdLst>
              <a:gd name="connsiteX0" fmla="*/ 0 w 3376602"/>
              <a:gd name="connsiteY0" fmla="*/ 0 h 18288"/>
              <a:gd name="connsiteX1" fmla="*/ 641554 w 3376602"/>
              <a:gd name="connsiteY1" fmla="*/ 0 h 18288"/>
              <a:gd name="connsiteX2" fmla="*/ 1316875 w 3376602"/>
              <a:gd name="connsiteY2" fmla="*/ 0 h 18288"/>
              <a:gd name="connsiteX3" fmla="*/ 2025961 w 3376602"/>
              <a:gd name="connsiteY3" fmla="*/ 0 h 18288"/>
              <a:gd name="connsiteX4" fmla="*/ 2735048 w 3376602"/>
              <a:gd name="connsiteY4" fmla="*/ 0 h 18288"/>
              <a:gd name="connsiteX5" fmla="*/ 3376602 w 3376602"/>
              <a:gd name="connsiteY5" fmla="*/ 0 h 18288"/>
              <a:gd name="connsiteX6" fmla="*/ 3376602 w 3376602"/>
              <a:gd name="connsiteY6" fmla="*/ 18288 h 18288"/>
              <a:gd name="connsiteX7" fmla="*/ 2633750 w 3376602"/>
              <a:gd name="connsiteY7" fmla="*/ 18288 h 18288"/>
              <a:gd name="connsiteX8" fmla="*/ 1890897 w 3376602"/>
              <a:gd name="connsiteY8" fmla="*/ 18288 h 18288"/>
              <a:gd name="connsiteX9" fmla="*/ 1215577 w 3376602"/>
              <a:gd name="connsiteY9" fmla="*/ 18288 h 18288"/>
              <a:gd name="connsiteX10" fmla="*/ 0 w 3376602"/>
              <a:gd name="connsiteY10" fmla="*/ 18288 h 18288"/>
              <a:gd name="connsiteX11" fmla="*/ 0 w 337660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76602" h="18288" fill="none" extrusionOk="0">
                <a:moveTo>
                  <a:pt x="0" y="0"/>
                </a:moveTo>
                <a:cubicBezTo>
                  <a:pt x="154337" y="-26787"/>
                  <a:pt x="393692" y="25344"/>
                  <a:pt x="641554" y="0"/>
                </a:cubicBezTo>
                <a:cubicBezTo>
                  <a:pt x="889416" y="-25344"/>
                  <a:pt x="1078313" y="12271"/>
                  <a:pt x="1316875" y="0"/>
                </a:cubicBezTo>
                <a:cubicBezTo>
                  <a:pt x="1555437" y="-12271"/>
                  <a:pt x="1698513" y="30110"/>
                  <a:pt x="2025961" y="0"/>
                </a:cubicBezTo>
                <a:cubicBezTo>
                  <a:pt x="2353409" y="-30110"/>
                  <a:pt x="2474986" y="1722"/>
                  <a:pt x="2735048" y="0"/>
                </a:cubicBezTo>
                <a:cubicBezTo>
                  <a:pt x="2995110" y="-1722"/>
                  <a:pt x="3097437" y="28961"/>
                  <a:pt x="3376602" y="0"/>
                </a:cubicBezTo>
                <a:cubicBezTo>
                  <a:pt x="3375893" y="8157"/>
                  <a:pt x="3376189" y="12125"/>
                  <a:pt x="3376602" y="18288"/>
                </a:cubicBezTo>
                <a:cubicBezTo>
                  <a:pt x="3037458" y="40377"/>
                  <a:pt x="2857195" y="34928"/>
                  <a:pt x="2633750" y="18288"/>
                </a:cubicBezTo>
                <a:cubicBezTo>
                  <a:pt x="2410305" y="1648"/>
                  <a:pt x="2066994" y="17360"/>
                  <a:pt x="1890897" y="18288"/>
                </a:cubicBezTo>
                <a:cubicBezTo>
                  <a:pt x="1714800" y="19216"/>
                  <a:pt x="1521080" y="47858"/>
                  <a:pt x="1215577" y="18288"/>
                </a:cubicBezTo>
                <a:cubicBezTo>
                  <a:pt x="910074" y="-11282"/>
                  <a:pt x="278912" y="6176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376602" h="18288" stroke="0" extrusionOk="0">
                <a:moveTo>
                  <a:pt x="0" y="0"/>
                </a:moveTo>
                <a:cubicBezTo>
                  <a:pt x="304565" y="-9016"/>
                  <a:pt x="402571" y="29762"/>
                  <a:pt x="641554" y="0"/>
                </a:cubicBezTo>
                <a:cubicBezTo>
                  <a:pt x="880537" y="-29762"/>
                  <a:pt x="963871" y="-12492"/>
                  <a:pt x="1215577" y="0"/>
                </a:cubicBezTo>
                <a:cubicBezTo>
                  <a:pt x="1467283" y="12492"/>
                  <a:pt x="1723274" y="15353"/>
                  <a:pt x="1958429" y="0"/>
                </a:cubicBezTo>
                <a:cubicBezTo>
                  <a:pt x="2193584" y="-15353"/>
                  <a:pt x="2347125" y="7922"/>
                  <a:pt x="2599984" y="0"/>
                </a:cubicBezTo>
                <a:cubicBezTo>
                  <a:pt x="2852843" y="-7922"/>
                  <a:pt x="3186422" y="-30763"/>
                  <a:pt x="3376602" y="0"/>
                </a:cubicBezTo>
                <a:cubicBezTo>
                  <a:pt x="3376338" y="4493"/>
                  <a:pt x="3376986" y="9472"/>
                  <a:pt x="3376602" y="18288"/>
                </a:cubicBezTo>
                <a:cubicBezTo>
                  <a:pt x="3080522" y="-5475"/>
                  <a:pt x="3038559" y="47323"/>
                  <a:pt x="2701282" y="18288"/>
                </a:cubicBezTo>
                <a:cubicBezTo>
                  <a:pt x="2364005" y="-10747"/>
                  <a:pt x="2245031" y="49099"/>
                  <a:pt x="1958429" y="18288"/>
                </a:cubicBezTo>
                <a:cubicBezTo>
                  <a:pt x="1671827" y="-12523"/>
                  <a:pt x="1619741" y="31109"/>
                  <a:pt x="1384407" y="18288"/>
                </a:cubicBezTo>
                <a:cubicBezTo>
                  <a:pt x="1149073" y="5467"/>
                  <a:pt x="947712" y="-11758"/>
                  <a:pt x="709086" y="18288"/>
                </a:cubicBezTo>
                <a:cubicBezTo>
                  <a:pt x="470460" y="48334"/>
                  <a:pt x="186882" y="50183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81B2C5"/>
          </a:solidFill>
          <a:ln w="38100" cap="rnd">
            <a:solidFill>
              <a:srgbClr val="81B2C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BC29C-130E-2295-4F8D-BFCB99941D43}"/>
              </a:ext>
            </a:extLst>
          </p:cNvPr>
          <p:cNvSpPr txBox="1"/>
          <p:nvPr/>
        </p:nvSpPr>
        <p:spPr>
          <a:xfrm>
            <a:off x="8129016" y="2803470"/>
            <a:ext cx="3432048" cy="3414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/>
              <a:t>This training loop feeds batches of images into the autoencoder, computes reconstruction loss, and updates the model weights to improve image reconstruction over time.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96B9E5F-3831-1BAF-D1B2-0800BC8E6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30936" y="1547737"/>
            <a:ext cx="6903720" cy="376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18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3791F-5836-40D9-F796-29E9871F6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88" y="3429000"/>
            <a:ext cx="3787353" cy="34974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+mn-lt"/>
              </a:rPr>
              <a:t>This code compares original images and reconstructed outputs across different epochs to show how the autoencoder improves its reconstruction quality over time.</a:t>
            </a:r>
            <a:br>
              <a:rPr lang="en-US" sz="2800">
                <a:latin typeface="+mn-lt"/>
              </a:rPr>
            </a:br>
            <a:endParaRPr lang="en-US" sz="2800">
              <a:latin typeface="+mn-lt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onnsiteX0" fmla="*/ 0 w 3255095"/>
              <a:gd name="connsiteY0" fmla="*/ 0 h 27432"/>
              <a:gd name="connsiteX1" fmla="*/ 618468 w 3255095"/>
              <a:gd name="connsiteY1" fmla="*/ 0 h 27432"/>
              <a:gd name="connsiteX2" fmla="*/ 1269487 w 3255095"/>
              <a:gd name="connsiteY2" fmla="*/ 0 h 27432"/>
              <a:gd name="connsiteX3" fmla="*/ 1953057 w 3255095"/>
              <a:gd name="connsiteY3" fmla="*/ 0 h 27432"/>
              <a:gd name="connsiteX4" fmla="*/ 2636627 w 3255095"/>
              <a:gd name="connsiteY4" fmla="*/ 0 h 27432"/>
              <a:gd name="connsiteX5" fmla="*/ 3255095 w 3255095"/>
              <a:gd name="connsiteY5" fmla="*/ 0 h 27432"/>
              <a:gd name="connsiteX6" fmla="*/ 3255095 w 3255095"/>
              <a:gd name="connsiteY6" fmla="*/ 27432 h 27432"/>
              <a:gd name="connsiteX7" fmla="*/ 2538974 w 3255095"/>
              <a:gd name="connsiteY7" fmla="*/ 27432 h 27432"/>
              <a:gd name="connsiteX8" fmla="*/ 1822853 w 3255095"/>
              <a:gd name="connsiteY8" fmla="*/ 27432 h 27432"/>
              <a:gd name="connsiteX9" fmla="*/ 1171834 w 3255095"/>
              <a:gd name="connsiteY9" fmla="*/ 27432 h 27432"/>
              <a:gd name="connsiteX10" fmla="*/ 0 w 3255095"/>
              <a:gd name="connsiteY10" fmla="*/ 27432 h 27432"/>
              <a:gd name="connsiteX11" fmla="*/ 0 w 3255095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40889B"/>
          </a:solidFill>
          <a:ln w="38100" cap="rnd">
            <a:solidFill>
              <a:srgbClr val="40889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3FE490C-FA5A-0C7F-D1A9-27189481E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088" y="917223"/>
            <a:ext cx="7653824" cy="530027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8AF13D-7630-7374-E386-51CE86C1B5E2}"/>
              </a:ext>
            </a:extLst>
          </p:cNvPr>
          <p:cNvSpPr txBox="1">
            <a:spLocks/>
          </p:cNvSpPr>
          <p:nvPr/>
        </p:nvSpPr>
        <p:spPr>
          <a:xfrm>
            <a:off x="838200" y="9820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403021673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Macintosh PowerPoint</Application>
  <PresentationFormat>Widescreen</PresentationFormat>
  <Paragraphs>40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The Hand Bold</vt:lpstr>
      <vt:lpstr>The Serif Hand Black</vt:lpstr>
      <vt:lpstr>SketchyVTI</vt:lpstr>
      <vt:lpstr>Autoencoder</vt:lpstr>
      <vt:lpstr>What is an Autoencoder?</vt:lpstr>
      <vt:lpstr>Problem Being Solved </vt:lpstr>
      <vt:lpstr>Data Preparation</vt:lpstr>
      <vt:lpstr>PowerPoint Presentation</vt:lpstr>
      <vt:lpstr>PowerPoint Presentation</vt:lpstr>
      <vt:lpstr>Method Used to Solve It </vt:lpstr>
      <vt:lpstr>PowerPoint Presentation</vt:lpstr>
      <vt:lpstr>PowerPoint Presentation</vt:lpstr>
      <vt:lpstr>Training Setup </vt:lpstr>
      <vt:lpstr>PowerPoint Presentation</vt:lpstr>
      <vt:lpstr>PowerPoint Presentation</vt:lpstr>
      <vt:lpstr>This code compares original images and reconstructed outputs across different epochs to show how the autoencoder improves its reconstruction quality over time.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Autoencoder</dc:title>
  <dc:creator>Leen Alresheq</dc:creator>
  <cp:lastModifiedBy>Leen Alresheq</cp:lastModifiedBy>
  <cp:revision>1</cp:revision>
  <cp:lastPrinted>2026-05-05T02:14:10Z</cp:lastPrinted>
  <dcterms:created xsi:type="dcterms:W3CDTF">2026-05-05T02:01:22Z</dcterms:created>
  <dcterms:modified xsi:type="dcterms:W3CDTF">2026-05-06T20:08:02Z</dcterms:modified>
</cp:coreProperties>
</file>